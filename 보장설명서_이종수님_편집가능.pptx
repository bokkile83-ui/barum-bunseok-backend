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7315200" cy="4572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600" b="1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M A K E O N 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8229600" cy="100584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보장 진단서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8229600" cy="54864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이종수님 고객님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480560"/>
            <a:ext cx="3108960" cy="1828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4800600"/>
            <a:ext cx="3017520" cy="2743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000" b="0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보유 계약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74920"/>
            <a:ext cx="3017520" cy="4572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7 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4800600"/>
            <a:ext cx="3017520" cy="2743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000" b="0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월 납입보험료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5074920"/>
            <a:ext cx="3017520" cy="4572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391,670 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4800600"/>
            <a:ext cx="3017520" cy="2743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000" b="0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갱신 / 비갱신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5074920"/>
            <a:ext cx="3017520" cy="4572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 /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6035040"/>
            <a:ext cx="9144000" cy="2743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MAKEONE · 보장분석 자동화 리포트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20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MAKEONE · 보장분석 리포트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7315200" cy="5029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이종수님 고객님 보장 진단서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164592"/>
            <a:ext cx="1554480" cy="4572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40080"/>
            <a:ext cx="2468880" cy="2743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r"/>
            <a:r>
              <a:rPr sz="900" b="0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보장 현황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25880"/>
            <a:ext cx="1417320" cy="8412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57200" y="1325880"/>
            <a:ext cx="1417320" cy="841248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사망·후유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74520" y="1325880"/>
            <a:ext cx="4206240" cy="841248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20240" y="1325880"/>
            <a:ext cx="4114800" cy="841248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상해사망 1억4,100만   상해후유3% 7,000만   상해후유80% 9,000만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325880"/>
            <a:ext cx="1417320" cy="8412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263640" y="1325880"/>
            <a:ext cx="1417320" cy="841248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80960" y="1325880"/>
            <a:ext cx="4206240" cy="841248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726680" y="1325880"/>
            <a:ext cx="4114800" cy="841248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유사암 1,200만   암주요치료비 1억   항암방사선약물 6,100만</a:t>
            </a:r>
          </a:p>
          <a:p>
            <a:pPr algn="l"/>
            <a:r>
              <a:rPr sz="9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중입자치료비 5,000만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295144"/>
            <a:ext cx="1417320" cy="8412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57200" y="2295144"/>
            <a:ext cx="1417320" cy="841248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뇌혈관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74520" y="2295144"/>
            <a:ext cx="4206240" cy="841248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920240" y="2295144"/>
            <a:ext cx="4114800" cy="841248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뇌졸증진단비 1,000만   외상성뇌출혈 100만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2295144"/>
            <a:ext cx="1417320" cy="8412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263640" y="2295144"/>
            <a:ext cx="1417320" cy="841248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심장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80960" y="2295144"/>
            <a:ext cx="4206240" cy="841248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726680" y="2295144"/>
            <a:ext cx="4114800" cy="841248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급성심근경색 1,000만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264408"/>
            <a:ext cx="1417320" cy="8412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57200" y="3264408"/>
            <a:ext cx="1417320" cy="841248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수술비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74520" y="3264408"/>
            <a:ext cx="4206240" cy="841248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920240" y="3264408"/>
            <a:ext cx="4114800" cy="841248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상해수술비 100만   중대한상해수술비 2,000만   상해 종수술비 110/0/0/500/500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3640" y="3264408"/>
            <a:ext cx="1417320" cy="8412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263640" y="3264408"/>
            <a:ext cx="1417320" cy="841248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운전자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80960" y="3264408"/>
            <a:ext cx="4206240" cy="841248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726680" y="3264408"/>
            <a:ext cx="4114800" cy="841248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합의금 2억   변호사 5,000만   대인 3,000만</a:t>
            </a:r>
          </a:p>
          <a:p>
            <a:pPr algn="l"/>
            <a:r>
              <a:rPr sz="9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대물 500만   6주미만 1,000만   자부상 30만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233672"/>
            <a:ext cx="1417320" cy="8412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57200" y="4233672"/>
            <a:ext cx="1417320" cy="841248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입원·일당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74520" y="4233672"/>
            <a:ext cx="4206240" cy="841248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1920240" y="4233672"/>
            <a:ext cx="4114800" cy="841248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간병인 20만   간호통합병동 7만   상해중환자실 10만</a:t>
            </a:r>
          </a:p>
          <a:p>
            <a:pPr algn="l"/>
            <a:r>
              <a:rPr sz="9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상해수술일당 3만   질병일당 1만   상해일당 2만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4233672"/>
            <a:ext cx="1417320" cy="8412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263640" y="4233672"/>
            <a:ext cx="1417320" cy="841248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실손·일배책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680960" y="4233672"/>
            <a:ext cx="4206240" cy="841248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7726680" y="4233672"/>
            <a:ext cx="4114800" cy="841248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일상배상책임 1억   입원 5,000만   통원 25만</a:t>
            </a:r>
          </a:p>
          <a:p>
            <a:pPr algn="l"/>
            <a:r>
              <a:rPr sz="9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약값 5만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5202936"/>
            <a:ext cx="1417320" cy="8412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457200" y="5202936"/>
            <a:ext cx="1417320" cy="841248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골절·화상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874520" y="5202936"/>
            <a:ext cx="4206240" cy="841248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1920240" y="5202936"/>
            <a:ext cx="4114800" cy="841248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중증화상진단비 1,000만   골절 70만   5대골절진단비 40만</a:t>
            </a:r>
          </a:p>
          <a:p>
            <a:pPr algn="l"/>
            <a:r>
              <a:rPr sz="9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화상진단비 20만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63640" y="5202936"/>
            <a:ext cx="1417320" cy="8412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6263640" y="5202936"/>
            <a:ext cx="1417320" cy="841248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응급실·독감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680960" y="5202936"/>
            <a:ext cx="4206240" cy="841248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7726680" y="5202936"/>
            <a:ext cx="4114800" cy="841248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응급실 1만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800" b="1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MAKEONE 보장분석 자동화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0" y="6510528"/>
            <a:ext cx="4389120" cy="2743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이종수님 고객님 · 1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20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MAKEONE · 보장분석 리포트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7315200" cy="5029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이종수님 고객님 보장 진단서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164592"/>
            <a:ext cx="1554480" cy="4572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40080"/>
            <a:ext cx="2468880" cy="2743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r"/>
            <a:r>
              <a:rPr sz="900" b="0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AI 진단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300" b="1">
                <a:solidFill>
                  <a:srgbClr val="185FA5"/>
                </a:solidFill>
                <a:latin typeface="맑은 고딕"/>
                <a:ea typeface="맑은 고딕"/>
                <a:cs typeface="맑은 고딕"/>
              </a:rPr>
              <a:t>갱신형 — 보험료 인상 가능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280160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300" b="1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비갱신형 — 만기까지 고정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691640"/>
            <a:ext cx="5394960" cy="566928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00800" y="1728216"/>
            <a:ext cx="3931920" cy="5029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삼성생명</a:t>
            </a:r>
          </a:p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삼성 The퍼스트건강보험（2601）（무배당,무해약환급금형）_간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1691640"/>
            <a:ext cx="1280160" cy="566928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r"/>
            <a:r>
              <a:rPr sz="10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41,913원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350008"/>
            <a:ext cx="5394960" cy="566928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00800" y="2386584"/>
            <a:ext cx="3931920" cy="5029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삼성생명</a:t>
            </a:r>
          </a:p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삼성 The퍼스트건강보험（2601）（무배당,무해약환급금형）_간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2350008"/>
            <a:ext cx="1280160" cy="566928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r"/>
            <a:r>
              <a:rPr sz="10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66,559원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008376"/>
            <a:ext cx="5394960" cy="566928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00800" y="3044952"/>
            <a:ext cx="3931920" cy="5029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라이나생명</a:t>
            </a:r>
          </a:p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무배당새로담는간편 건강보험 （3.5.5）（해약환급금미지급형 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3008376"/>
            <a:ext cx="1280160" cy="566928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r"/>
            <a:r>
              <a:rPr sz="10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46,825원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1691640"/>
            <a:ext cx="5394960" cy="566928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48640" y="1728216"/>
            <a:ext cx="3931920" cy="5029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KB손보</a:t>
            </a:r>
          </a:p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（무》KB 가정보험과 온가족행복하게사는이야기（21.05）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1691640"/>
            <a:ext cx="1280160" cy="566928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r"/>
            <a:r>
              <a:rPr sz="1000" b="1">
                <a:solidFill>
                  <a:srgbClr val="185FA5"/>
                </a:solidFill>
                <a:latin typeface="맑은 고딕"/>
                <a:ea typeface="맑은 고딕"/>
                <a:cs typeface="맑은 고딕"/>
              </a:rPr>
              <a:t>10,000원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350008"/>
            <a:ext cx="5394960" cy="566928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48640" y="2386584"/>
            <a:ext cx="3931920" cy="5029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KB손보</a:t>
            </a:r>
          </a:p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KB 3.N.5 슬기로운간편건강보험Plus（연만기갱신형）（무배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2350008"/>
            <a:ext cx="1280160" cy="566928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r"/>
            <a:r>
              <a:rPr sz="1000" b="1">
                <a:solidFill>
                  <a:srgbClr val="185FA5"/>
                </a:solidFill>
                <a:latin typeface="맑은 고딕"/>
                <a:ea typeface="맑은 고딕"/>
                <a:cs typeface="맑은 고딕"/>
              </a:rPr>
              <a:t>47,662원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008376"/>
            <a:ext cx="5394960" cy="566928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48640" y="3044952"/>
            <a:ext cx="3931920" cy="5029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KB손보</a:t>
            </a:r>
          </a:p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KB 플러스 운전자상해보험（무배당）（25.01）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3008376"/>
            <a:ext cx="1280160" cy="566928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r"/>
            <a:r>
              <a:rPr sz="1000" b="1">
                <a:solidFill>
                  <a:srgbClr val="185FA5"/>
                </a:solidFill>
                <a:latin typeface="맑은 고딕"/>
                <a:ea typeface="맑은 고딕"/>
                <a:cs typeface="맑은 고딕"/>
              </a:rPr>
              <a:t>30,000원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3666744"/>
            <a:ext cx="5394960" cy="566928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400800" y="3703320"/>
            <a:ext cx="3931920" cy="5029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애손보</a:t>
            </a:r>
          </a:p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훼밀리 라이프보험 1206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2720" y="3666744"/>
            <a:ext cx="1280160" cy="566928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r"/>
            <a:r>
              <a:rPr sz="10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148,711원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800" b="1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MAKEONE 보장분석 자동화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6510528"/>
            <a:ext cx="4389120" cy="2743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이종수님 고객님 · 2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20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MAKEONE · 보장분석 리포트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7315200" cy="5029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이종수님 고객님 보장 진단서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164592"/>
            <a:ext cx="1554480" cy="4572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40080"/>
            <a:ext cx="2468880" cy="2743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r"/>
            <a:r>
              <a:rPr sz="900" b="0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핵심 보장 분석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25880"/>
            <a:ext cx="11247120" cy="1371600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1463040"/>
            <a:ext cx="10789920" cy="3657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500" b="1">
                <a:solidFill>
                  <a:srgbClr val="185FA5"/>
                </a:solidFill>
                <a:latin typeface="맑은 고딕"/>
                <a:ea typeface="맑은 고딕"/>
                <a:cs typeface="맑은 고딕"/>
              </a:rPr>
              <a:t>CI보험 아님 · 비CI 계약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74519"/>
            <a:ext cx="10789920" cy="7315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이 고객은 CI(중대질병 선지급형) 계약이 아니다. 암·뇌·심 진단비는 진단 즉시 정액 100% 지급되는 일반형이며, 사망보험금 차감·선지급·잔여 개념이 없다. 진단금 전액이 치료비로 쓰이고 사망보장은 별도로 유지된다.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926080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200" b="1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주요 치료비 정리  TREATMENT BENEFITS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337560"/>
            <a:ext cx="21031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57200" y="3456432"/>
            <a:ext cx="2103120" cy="2743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900" b="1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암주요치료비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767328"/>
            <a:ext cx="2103120" cy="41148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1400" b="1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1억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0" y="3337560"/>
            <a:ext cx="21031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2743200" y="3456432"/>
            <a:ext cx="2103120" cy="2743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900" b="1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비급여주요치료비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767328"/>
            <a:ext cx="2103120" cy="41148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1100" b="1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미가입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0" y="3337560"/>
            <a:ext cx="21031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029200" y="3456432"/>
            <a:ext cx="2103120" cy="2743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900" b="1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순환계주요치료비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3767328"/>
            <a:ext cx="2103120" cy="41148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1100" b="1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미가입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0" y="3337560"/>
            <a:ext cx="21031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315200" y="3456432"/>
            <a:ext cx="2103120" cy="2743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900" b="1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산정특례(뇌혈관)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3767328"/>
            <a:ext cx="2103120" cy="41148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1100" b="1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미가입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01200" y="3337560"/>
            <a:ext cx="21031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01200" y="3456432"/>
            <a:ext cx="2103120" cy="2743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900" b="1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산정특례(심장)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3767328"/>
            <a:ext cx="2103120" cy="41148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1100" b="1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미가입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663440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200" b="1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보장 진단 코멘트  SUMMARY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029200"/>
            <a:ext cx="11247120" cy="1051560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85800" y="5166360"/>
            <a:ext cx="10789920" cy="77724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이종수님 고객님은 보유 7건 · 월 391,670원의 보장을 운용하고 있다.</a:t>
            </a:r>
          </a:p>
          <a:p>
            <a:pPr algn="l"/>
            <a:r>
              <a:rPr sz="10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갱신 3건 · 비갱신 4건. 값은 완성 엑셀 끝열에서 직접 읽었다(등식2).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800" b="1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MAKEONE 보장분석 자동화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6510528"/>
            <a:ext cx="4389120" cy="2743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이종수님 고객님 · 3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20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MAKEONE · 보장분석 리포트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7315200" cy="5029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이종수님 고객님 보장 진단서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164592"/>
            <a:ext cx="1554480" cy="4572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40080"/>
            <a:ext cx="2468880" cy="2743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r"/>
            <a:r>
              <a:rPr sz="900" b="0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부위별 충족률</a:t>
            </a:r>
          </a:p>
        </p:txBody>
      </p:sp>
      <p:pic>
        <p:nvPicPr>
          <p:cNvPr id="8" name="Picture 7" descr="g100_24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" y="1440180"/>
            <a:ext cx="1051560" cy="1051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08660" y="1819656"/>
            <a:ext cx="1051560" cy="292608"/>
          </a:xfrm>
          <a:prstGeom prst="rect">
            <a:avLst/>
          </a:prstGeom>
          <a:noFill/>
        </p:spPr>
        <p:txBody>
          <a:bodyPr wrap="none" anchor="t" lIns="45720" rIns="45720" tIns="22860" bIns="22860">
            <a:spAutoFit/>
          </a:bodyPr>
          <a:lstStyle/>
          <a:p>
            <a:pPr algn="ctr"/>
            <a:r>
              <a:rPr sz="13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528316"/>
            <a:ext cx="1645920" cy="256032"/>
          </a:xfrm>
          <a:prstGeom prst="rect">
            <a:avLst/>
          </a:prstGeom>
          <a:noFill/>
        </p:spPr>
        <p:txBody>
          <a:bodyPr wrap="none" anchor="t" lIns="45720" rIns="45720" tIns="22860" bIns="2286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암</a:t>
            </a:r>
          </a:p>
        </p:txBody>
      </p:sp>
      <p:pic>
        <p:nvPicPr>
          <p:cNvPr id="11" name="Picture 10" descr="g100_24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0380" y="1440180"/>
            <a:ext cx="1051560" cy="10515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040380" y="1819656"/>
            <a:ext cx="1051560" cy="292608"/>
          </a:xfrm>
          <a:prstGeom prst="rect">
            <a:avLst/>
          </a:prstGeom>
          <a:noFill/>
        </p:spPr>
        <p:txBody>
          <a:bodyPr wrap="none" anchor="t" lIns="45720" rIns="45720" tIns="22860" bIns="22860">
            <a:spAutoFit/>
          </a:bodyPr>
          <a:lstStyle/>
          <a:p>
            <a:pPr algn="ctr"/>
            <a:r>
              <a:rPr sz="13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528316"/>
            <a:ext cx="1645920" cy="256032"/>
          </a:xfrm>
          <a:prstGeom prst="rect">
            <a:avLst/>
          </a:prstGeom>
          <a:noFill/>
        </p:spPr>
        <p:txBody>
          <a:bodyPr wrap="none" anchor="t" lIns="45720" rIns="45720" tIns="22860" bIns="2286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운전자</a:t>
            </a:r>
          </a:p>
        </p:txBody>
      </p:sp>
      <p:pic>
        <p:nvPicPr>
          <p:cNvPr id="14" name="Picture 13" descr="g100_24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2099" y="1440180"/>
            <a:ext cx="1051560" cy="10515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372099" y="1819656"/>
            <a:ext cx="1051560" cy="292608"/>
          </a:xfrm>
          <a:prstGeom prst="rect">
            <a:avLst/>
          </a:prstGeom>
          <a:noFill/>
        </p:spPr>
        <p:txBody>
          <a:bodyPr wrap="none" anchor="t" lIns="45720" rIns="45720" tIns="22860" bIns="22860">
            <a:spAutoFit/>
          </a:bodyPr>
          <a:lstStyle/>
          <a:p>
            <a:pPr algn="ctr"/>
            <a:r>
              <a:rPr sz="13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19" y="2528316"/>
            <a:ext cx="1645920" cy="256032"/>
          </a:xfrm>
          <a:prstGeom prst="rect">
            <a:avLst/>
          </a:prstGeom>
          <a:noFill/>
        </p:spPr>
        <p:txBody>
          <a:bodyPr wrap="none" anchor="t" lIns="45720" rIns="45720" tIns="22860" bIns="2286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실손·배상</a:t>
            </a:r>
          </a:p>
        </p:txBody>
      </p:sp>
      <p:pic>
        <p:nvPicPr>
          <p:cNvPr id="17" name="Picture 16" descr="g100_24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3820" y="1440180"/>
            <a:ext cx="1051560" cy="10515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03820" y="1819656"/>
            <a:ext cx="1051560" cy="292608"/>
          </a:xfrm>
          <a:prstGeom prst="rect">
            <a:avLst/>
          </a:prstGeom>
          <a:noFill/>
        </p:spPr>
        <p:txBody>
          <a:bodyPr wrap="none" anchor="t" lIns="45720" rIns="45720" tIns="22860" bIns="22860">
            <a:spAutoFit/>
          </a:bodyPr>
          <a:lstStyle/>
          <a:p>
            <a:pPr algn="ctr"/>
            <a:r>
              <a:rPr sz="13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2528316"/>
            <a:ext cx="1645920" cy="256032"/>
          </a:xfrm>
          <a:prstGeom prst="rect">
            <a:avLst/>
          </a:prstGeom>
          <a:noFill/>
        </p:spPr>
        <p:txBody>
          <a:bodyPr wrap="none" anchor="t" lIns="45720" rIns="45720" tIns="22860" bIns="2286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수술비</a:t>
            </a:r>
          </a:p>
        </p:txBody>
      </p:sp>
      <p:pic>
        <p:nvPicPr>
          <p:cNvPr id="20" name="Picture 19" descr="g22_146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5539" y="1440180"/>
            <a:ext cx="1051560" cy="10515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035539" y="1819656"/>
            <a:ext cx="1051560" cy="292608"/>
          </a:xfrm>
          <a:prstGeom prst="rect">
            <a:avLst/>
          </a:prstGeom>
          <a:noFill/>
        </p:spPr>
        <p:txBody>
          <a:bodyPr wrap="none" anchor="t" lIns="45720" rIns="45720" tIns="22860" bIns="22860">
            <a:spAutoFit/>
          </a:bodyPr>
          <a:lstStyle/>
          <a:p>
            <a:pPr algn="ctr"/>
            <a:r>
              <a:rPr sz="13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22%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38359" y="2528316"/>
            <a:ext cx="1645920" cy="256032"/>
          </a:xfrm>
          <a:prstGeom prst="rect">
            <a:avLst/>
          </a:prstGeom>
          <a:noFill/>
        </p:spPr>
        <p:txBody>
          <a:bodyPr wrap="none" anchor="t" lIns="45720" rIns="45720" tIns="22860" bIns="2286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뇌혈관</a:t>
            </a:r>
          </a:p>
        </p:txBody>
      </p:sp>
      <p:pic>
        <p:nvPicPr>
          <p:cNvPr id="23" name="Picture 22" descr="g100_24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" y="3131820"/>
            <a:ext cx="1051560" cy="105156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08660" y="3511296"/>
            <a:ext cx="1051560" cy="292608"/>
          </a:xfrm>
          <a:prstGeom prst="rect">
            <a:avLst/>
          </a:prstGeom>
          <a:noFill/>
        </p:spPr>
        <p:txBody>
          <a:bodyPr wrap="none" anchor="t" lIns="45720" rIns="45720" tIns="22860" bIns="22860">
            <a:spAutoFit/>
          </a:bodyPr>
          <a:lstStyle/>
          <a:p>
            <a:pPr algn="ctr"/>
            <a:r>
              <a:rPr sz="13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4219956"/>
            <a:ext cx="1645920" cy="256032"/>
          </a:xfrm>
          <a:prstGeom prst="rect">
            <a:avLst/>
          </a:prstGeom>
          <a:noFill/>
        </p:spPr>
        <p:txBody>
          <a:bodyPr wrap="none" anchor="t" lIns="45720" rIns="45720" tIns="22860" bIns="2286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사망·후유</a:t>
            </a:r>
          </a:p>
        </p:txBody>
      </p:sp>
      <p:pic>
        <p:nvPicPr>
          <p:cNvPr id="26" name="Picture 25" descr="g100_24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0380" y="3131820"/>
            <a:ext cx="1051560" cy="105156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040380" y="3511296"/>
            <a:ext cx="1051560" cy="292608"/>
          </a:xfrm>
          <a:prstGeom prst="rect">
            <a:avLst/>
          </a:prstGeom>
          <a:noFill/>
        </p:spPr>
        <p:txBody>
          <a:bodyPr wrap="none" anchor="t" lIns="45720" rIns="45720" tIns="22860" bIns="22860">
            <a:spAutoFit/>
          </a:bodyPr>
          <a:lstStyle/>
          <a:p>
            <a:pPr algn="ctr"/>
            <a:r>
              <a:rPr sz="13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4219956"/>
            <a:ext cx="1645920" cy="256032"/>
          </a:xfrm>
          <a:prstGeom prst="rect">
            <a:avLst/>
          </a:prstGeom>
          <a:noFill/>
        </p:spPr>
        <p:txBody>
          <a:bodyPr wrap="none" anchor="t" lIns="45720" rIns="45720" tIns="22860" bIns="2286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골절·화상</a:t>
            </a:r>
          </a:p>
        </p:txBody>
      </p:sp>
      <p:pic>
        <p:nvPicPr>
          <p:cNvPr id="29" name="Picture 28" descr="g33_928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2099" y="3131820"/>
            <a:ext cx="1051560" cy="105156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372099" y="3511296"/>
            <a:ext cx="1051560" cy="292608"/>
          </a:xfrm>
          <a:prstGeom prst="rect">
            <a:avLst/>
          </a:prstGeom>
          <a:noFill/>
        </p:spPr>
        <p:txBody>
          <a:bodyPr wrap="none" anchor="t" lIns="45720" rIns="45720" tIns="22860" bIns="22860">
            <a:spAutoFit/>
          </a:bodyPr>
          <a:lstStyle/>
          <a:p>
            <a:pPr algn="ctr"/>
            <a:r>
              <a:rPr sz="13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33%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74919" y="4219956"/>
            <a:ext cx="1645920" cy="256032"/>
          </a:xfrm>
          <a:prstGeom prst="rect">
            <a:avLst/>
          </a:prstGeom>
          <a:noFill/>
        </p:spPr>
        <p:txBody>
          <a:bodyPr wrap="none" anchor="t" lIns="45720" rIns="45720" tIns="22860" bIns="2286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심장</a:t>
            </a:r>
          </a:p>
        </p:txBody>
      </p:sp>
      <p:pic>
        <p:nvPicPr>
          <p:cNvPr id="32" name="Picture 31" descr="g100_24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3820" y="3131820"/>
            <a:ext cx="1051560" cy="105156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703820" y="3511296"/>
            <a:ext cx="1051560" cy="292608"/>
          </a:xfrm>
          <a:prstGeom prst="rect">
            <a:avLst/>
          </a:prstGeom>
          <a:noFill/>
        </p:spPr>
        <p:txBody>
          <a:bodyPr wrap="none" anchor="t" lIns="45720" rIns="45720" tIns="22860" bIns="22860">
            <a:spAutoFit/>
          </a:bodyPr>
          <a:lstStyle/>
          <a:p>
            <a:pPr algn="ctr"/>
            <a:r>
              <a:rPr sz="13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6640" y="4219956"/>
            <a:ext cx="1645920" cy="256032"/>
          </a:xfrm>
          <a:prstGeom prst="rect">
            <a:avLst/>
          </a:prstGeom>
          <a:noFill/>
        </p:spPr>
        <p:txBody>
          <a:bodyPr wrap="none" anchor="t" lIns="45720" rIns="45720" tIns="22860" bIns="2286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입원·일당</a:t>
            </a:r>
          </a:p>
        </p:txBody>
      </p:sp>
      <p:pic>
        <p:nvPicPr>
          <p:cNvPr id="35" name="Picture 34" descr="g50_468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35539" y="3131820"/>
            <a:ext cx="1051560" cy="105156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0035539" y="3511296"/>
            <a:ext cx="1051560" cy="292608"/>
          </a:xfrm>
          <a:prstGeom prst="rect">
            <a:avLst/>
          </a:prstGeom>
          <a:noFill/>
        </p:spPr>
        <p:txBody>
          <a:bodyPr wrap="none" anchor="t" lIns="45720" rIns="45720" tIns="22860" bIns="22860">
            <a:spAutoFit/>
          </a:bodyPr>
          <a:lstStyle/>
          <a:p>
            <a:pPr algn="ctr"/>
            <a:r>
              <a:rPr sz="13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50%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38359" y="4219956"/>
            <a:ext cx="1645920" cy="256032"/>
          </a:xfrm>
          <a:prstGeom prst="rect">
            <a:avLst/>
          </a:prstGeom>
          <a:noFill/>
        </p:spPr>
        <p:txBody>
          <a:bodyPr wrap="none" anchor="t" lIns="45720" rIns="45720" tIns="22860" bIns="2286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응급실·독감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507492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100" b="1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충족률 산정 근거   보유 ÷ 40대 권장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5440680"/>
            <a:ext cx="1828800" cy="29260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457200" y="5440680"/>
            <a:ext cx="1828800" cy="292608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영역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86000" y="5440680"/>
            <a:ext cx="1463040" cy="29260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2286000" y="5440680"/>
            <a:ext cx="1463040" cy="292608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보유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749040" y="5440680"/>
            <a:ext cx="1463040" cy="29260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3749040" y="5440680"/>
            <a:ext cx="1463040" cy="292608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권장(40대)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212080" y="5440680"/>
            <a:ext cx="1005840" cy="29260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5212080" y="5440680"/>
            <a:ext cx="1005840" cy="292608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충족률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5733288"/>
            <a:ext cx="18288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457200" y="5733288"/>
            <a:ext cx="1828800" cy="182880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암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286000" y="5733288"/>
            <a:ext cx="146304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2286000" y="5733288"/>
            <a:ext cx="1463040" cy="182880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25,300만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749040" y="5733288"/>
            <a:ext cx="146304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3749040" y="5733288"/>
            <a:ext cx="1463040" cy="182880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10,000만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212080" y="5733288"/>
            <a:ext cx="100584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5212080" y="5733288"/>
            <a:ext cx="1005840" cy="182880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00" b="0">
                <a:solidFill>
                  <a:srgbClr val="1D7A46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5916168"/>
            <a:ext cx="1828800" cy="182880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457200" y="5916168"/>
            <a:ext cx="1828800" cy="182880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운전자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286000" y="5916168"/>
            <a:ext cx="1463040" cy="182880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2286000" y="5916168"/>
            <a:ext cx="1463040" cy="182880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6개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749040" y="5916168"/>
            <a:ext cx="1463040" cy="182880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3749040" y="5916168"/>
            <a:ext cx="1463040" cy="182880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4개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212080" y="5916168"/>
            <a:ext cx="1005840" cy="182880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5212080" y="5916168"/>
            <a:ext cx="1005840" cy="182880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00" b="0">
                <a:solidFill>
                  <a:srgbClr val="1D7A46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6099048"/>
            <a:ext cx="18288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457200" y="6099048"/>
            <a:ext cx="1828800" cy="182880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실손·배상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286000" y="6099048"/>
            <a:ext cx="146304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2286000" y="6099048"/>
            <a:ext cx="1463040" cy="182880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4개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749040" y="6099048"/>
            <a:ext cx="146304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3749040" y="6099048"/>
            <a:ext cx="1463040" cy="182880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3개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212080" y="6099048"/>
            <a:ext cx="100584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5212080" y="6099048"/>
            <a:ext cx="1005840" cy="182880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00" b="0">
                <a:solidFill>
                  <a:srgbClr val="1D7A46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57200" y="6281928"/>
            <a:ext cx="1828800" cy="182880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457200" y="6281928"/>
            <a:ext cx="1828800" cy="182880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수술비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286000" y="6281928"/>
            <a:ext cx="1463040" cy="182880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2286000" y="6281928"/>
            <a:ext cx="1463040" cy="182880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6개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749040" y="6281928"/>
            <a:ext cx="1463040" cy="182880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TextBox 75"/>
          <p:cNvSpPr txBox="1"/>
          <p:nvPr/>
        </p:nvSpPr>
        <p:spPr>
          <a:xfrm>
            <a:off x="3749040" y="6281928"/>
            <a:ext cx="1463040" cy="182880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4개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212080" y="6281928"/>
            <a:ext cx="1005840" cy="182880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5212080" y="6281928"/>
            <a:ext cx="1005840" cy="182880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00" b="0">
                <a:solidFill>
                  <a:srgbClr val="1D7A46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7200" y="6464808"/>
            <a:ext cx="18288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457200" y="6464808"/>
            <a:ext cx="1828800" cy="182880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뇌혈관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286000" y="6464808"/>
            <a:ext cx="146304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TextBox 81"/>
          <p:cNvSpPr txBox="1"/>
          <p:nvPr/>
        </p:nvSpPr>
        <p:spPr>
          <a:xfrm>
            <a:off x="2286000" y="6464808"/>
            <a:ext cx="1463040" cy="182880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1,100만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749040" y="6464808"/>
            <a:ext cx="146304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TextBox 83"/>
          <p:cNvSpPr txBox="1"/>
          <p:nvPr/>
        </p:nvSpPr>
        <p:spPr>
          <a:xfrm>
            <a:off x="3749040" y="6464808"/>
            <a:ext cx="1463040" cy="182880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5,000만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212080" y="6464808"/>
            <a:ext cx="100584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5212080" y="6464808"/>
            <a:ext cx="1005840" cy="182880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00" b="0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22%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309360" y="5440680"/>
            <a:ext cx="1828800" cy="29260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TextBox 87"/>
          <p:cNvSpPr txBox="1"/>
          <p:nvPr/>
        </p:nvSpPr>
        <p:spPr>
          <a:xfrm>
            <a:off x="6309360" y="5440680"/>
            <a:ext cx="1828800" cy="292608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영역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138160" y="5440680"/>
            <a:ext cx="1463040" cy="29260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TextBox 89"/>
          <p:cNvSpPr txBox="1"/>
          <p:nvPr/>
        </p:nvSpPr>
        <p:spPr>
          <a:xfrm>
            <a:off x="8138160" y="5440680"/>
            <a:ext cx="1463040" cy="292608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보유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601200" y="5440680"/>
            <a:ext cx="1463040" cy="29260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TextBox 91"/>
          <p:cNvSpPr txBox="1"/>
          <p:nvPr/>
        </p:nvSpPr>
        <p:spPr>
          <a:xfrm>
            <a:off x="9601200" y="5440680"/>
            <a:ext cx="1463040" cy="292608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권장(40대)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1064240" y="5440680"/>
            <a:ext cx="1005840" cy="29260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TextBox 93"/>
          <p:cNvSpPr txBox="1"/>
          <p:nvPr/>
        </p:nvSpPr>
        <p:spPr>
          <a:xfrm>
            <a:off x="11064240" y="5440680"/>
            <a:ext cx="1005840" cy="292608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충족률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309360" y="5733288"/>
            <a:ext cx="18288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TextBox 95"/>
          <p:cNvSpPr txBox="1"/>
          <p:nvPr/>
        </p:nvSpPr>
        <p:spPr>
          <a:xfrm>
            <a:off x="6309360" y="5733288"/>
            <a:ext cx="1828800" cy="182880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사망·후유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138160" y="5733288"/>
            <a:ext cx="146304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TextBox 97"/>
          <p:cNvSpPr txBox="1"/>
          <p:nvPr/>
        </p:nvSpPr>
        <p:spPr>
          <a:xfrm>
            <a:off x="8138160" y="5733288"/>
            <a:ext cx="1463040" cy="182880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32,100만</a:t>
            </a:r>
          </a:p>
        </p:txBody>
      </p:sp>
      <p:sp>
        <p:nvSpPr>
          <p:cNvPr id="99" name="Rectangle 98"/>
          <p:cNvSpPr/>
          <p:nvPr/>
        </p:nvSpPr>
        <p:spPr>
          <a:xfrm>
            <a:off x="9601200" y="5733288"/>
            <a:ext cx="146304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" name="TextBox 99"/>
          <p:cNvSpPr txBox="1"/>
          <p:nvPr/>
        </p:nvSpPr>
        <p:spPr>
          <a:xfrm>
            <a:off x="9601200" y="5733288"/>
            <a:ext cx="1463040" cy="182880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15,000만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1064240" y="5733288"/>
            <a:ext cx="100584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TextBox 101"/>
          <p:cNvSpPr txBox="1"/>
          <p:nvPr/>
        </p:nvSpPr>
        <p:spPr>
          <a:xfrm>
            <a:off x="11064240" y="5733288"/>
            <a:ext cx="1005840" cy="182880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00" b="0">
                <a:solidFill>
                  <a:srgbClr val="1D7A46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309360" y="5916168"/>
            <a:ext cx="1828800" cy="182880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TextBox 103"/>
          <p:cNvSpPr txBox="1"/>
          <p:nvPr/>
        </p:nvSpPr>
        <p:spPr>
          <a:xfrm>
            <a:off x="6309360" y="5916168"/>
            <a:ext cx="1828800" cy="182880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골절·화상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138160" y="5916168"/>
            <a:ext cx="1463040" cy="182880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" name="TextBox 105"/>
          <p:cNvSpPr txBox="1"/>
          <p:nvPr/>
        </p:nvSpPr>
        <p:spPr>
          <a:xfrm>
            <a:off x="8138160" y="5916168"/>
            <a:ext cx="1463040" cy="182880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6개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9601200" y="5916168"/>
            <a:ext cx="1463040" cy="182880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TextBox 107"/>
          <p:cNvSpPr txBox="1"/>
          <p:nvPr/>
        </p:nvSpPr>
        <p:spPr>
          <a:xfrm>
            <a:off x="9601200" y="5916168"/>
            <a:ext cx="1463040" cy="182880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3개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11064240" y="5916168"/>
            <a:ext cx="1005840" cy="182880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TextBox 109"/>
          <p:cNvSpPr txBox="1"/>
          <p:nvPr/>
        </p:nvSpPr>
        <p:spPr>
          <a:xfrm>
            <a:off x="11064240" y="5916168"/>
            <a:ext cx="1005840" cy="182880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00" b="0">
                <a:solidFill>
                  <a:srgbClr val="1D7A46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6099048"/>
            <a:ext cx="18288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" name="TextBox 111"/>
          <p:cNvSpPr txBox="1"/>
          <p:nvPr/>
        </p:nvSpPr>
        <p:spPr>
          <a:xfrm>
            <a:off x="6309360" y="6099048"/>
            <a:ext cx="1828800" cy="182880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심장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138160" y="6099048"/>
            <a:ext cx="146304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4" name="TextBox 113"/>
          <p:cNvSpPr txBox="1"/>
          <p:nvPr/>
        </p:nvSpPr>
        <p:spPr>
          <a:xfrm>
            <a:off x="8138160" y="6099048"/>
            <a:ext cx="1463040" cy="182880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1,000만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9601200" y="6099048"/>
            <a:ext cx="146304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6" name="TextBox 115"/>
          <p:cNvSpPr txBox="1"/>
          <p:nvPr/>
        </p:nvSpPr>
        <p:spPr>
          <a:xfrm>
            <a:off x="9601200" y="6099048"/>
            <a:ext cx="1463040" cy="182880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3,000만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1064240" y="6099048"/>
            <a:ext cx="100584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8" name="TextBox 117"/>
          <p:cNvSpPr txBox="1"/>
          <p:nvPr/>
        </p:nvSpPr>
        <p:spPr>
          <a:xfrm>
            <a:off x="11064240" y="6099048"/>
            <a:ext cx="1005840" cy="182880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00" b="0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33%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309360" y="6281928"/>
            <a:ext cx="1828800" cy="182880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0" name="TextBox 119"/>
          <p:cNvSpPr txBox="1"/>
          <p:nvPr/>
        </p:nvSpPr>
        <p:spPr>
          <a:xfrm>
            <a:off x="6309360" y="6281928"/>
            <a:ext cx="1828800" cy="182880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입원·일당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138160" y="6281928"/>
            <a:ext cx="1463040" cy="182880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2" name="TextBox 121"/>
          <p:cNvSpPr txBox="1"/>
          <p:nvPr/>
        </p:nvSpPr>
        <p:spPr>
          <a:xfrm>
            <a:off x="8138160" y="6281928"/>
            <a:ext cx="1463040" cy="182880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6개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9601200" y="6281928"/>
            <a:ext cx="1463040" cy="182880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4" name="TextBox 123"/>
          <p:cNvSpPr txBox="1"/>
          <p:nvPr/>
        </p:nvSpPr>
        <p:spPr>
          <a:xfrm>
            <a:off x="9601200" y="6281928"/>
            <a:ext cx="1463040" cy="182880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3개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11064240" y="6281928"/>
            <a:ext cx="1005840" cy="182880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6" name="TextBox 125"/>
          <p:cNvSpPr txBox="1"/>
          <p:nvPr/>
        </p:nvSpPr>
        <p:spPr>
          <a:xfrm>
            <a:off x="11064240" y="6281928"/>
            <a:ext cx="1005840" cy="182880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00" b="0">
                <a:solidFill>
                  <a:srgbClr val="1D7A46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309360" y="6464808"/>
            <a:ext cx="18288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8" name="TextBox 127"/>
          <p:cNvSpPr txBox="1"/>
          <p:nvPr/>
        </p:nvSpPr>
        <p:spPr>
          <a:xfrm>
            <a:off x="6309360" y="6464808"/>
            <a:ext cx="1828800" cy="182880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응급실·독감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8138160" y="6464808"/>
            <a:ext cx="146304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0" name="TextBox 129"/>
          <p:cNvSpPr txBox="1"/>
          <p:nvPr/>
        </p:nvSpPr>
        <p:spPr>
          <a:xfrm>
            <a:off x="8138160" y="6464808"/>
            <a:ext cx="1463040" cy="182880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1개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9601200" y="6464808"/>
            <a:ext cx="146304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2" name="TextBox 131"/>
          <p:cNvSpPr txBox="1"/>
          <p:nvPr/>
        </p:nvSpPr>
        <p:spPr>
          <a:xfrm>
            <a:off x="9601200" y="6464808"/>
            <a:ext cx="1463040" cy="182880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2개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11064240" y="6464808"/>
            <a:ext cx="100584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4" name="TextBox 133"/>
          <p:cNvSpPr txBox="1"/>
          <p:nvPr/>
        </p:nvSpPr>
        <p:spPr>
          <a:xfrm>
            <a:off x="11064240" y="6464808"/>
            <a:ext cx="1005840" cy="182880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00" b="0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50%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6" name="TextBox 135"/>
          <p:cNvSpPr txBox="1"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800" b="1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MAKEONE 보장분석 자동화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7315200" y="6510528"/>
            <a:ext cx="4389120" cy="2743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이종수님 고객님 · 4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20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MAKEONE · 보장분석 리포트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7315200" cy="5029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이종수님 고객님 보장 진단서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164592"/>
            <a:ext cx="1554480" cy="4572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40080"/>
            <a:ext cx="2468880" cy="2743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r"/>
            <a:r>
              <a:rPr sz="900" b="0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담보별 보장범위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5486400" cy="292608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200" b="1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뇌 — 질병코드별 커버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27632"/>
            <a:ext cx="2743200" cy="29260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7200" y="1627632"/>
            <a:ext cx="2743200" cy="292608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질병 (코드)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627632"/>
            <a:ext cx="1280160" cy="29260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200400" y="1627632"/>
            <a:ext cx="1280160" cy="292608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뇌혈관진단비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627632"/>
            <a:ext cx="914400" cy="29260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480560" y="1627632"/>
            <a:ext cx="914400" cy="292608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순환계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94960" y="1627632"/>
            <a:ext cx="914400" cy="29260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394960" y="1627632"/>
            <a:ext cx="914400" cy="292608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산정특례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1920240"/>
            <a:ext cx="274320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57200" y="1920240"/>
            <a:ext cx="274320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뇌출혈  I60~62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0" y="1920240"/>
            <a:ext cx="128016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3200400" y="1920240"/>
            <a:ext cx="128016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60" y="1920240"/>
            <a:ext cx="91440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480560" y="1920240"/>
            <a:ext cx="91440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94960" y="1920240"/>
            <a:ext cx="91440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394960" y="1920240"/>
            <a:ext cx="91440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176272"/>
            <a:ext cx="2743200" cy="256032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457200" y="2176272"/>
            <a:ext cx="274320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뇌졸증·뇌경색  I63·65·66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0" y="2176272"/>
            <a:ext cx="1280160" cy="256032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3200400" y="2176272"/>
            <a:ext cx="128016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80560" y="2176272"/>
            <a:ext cx="914400" cy="256032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480560" y="2176272"/>
            <a:ext cx="91440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394960" y="2176272"/>
            <a:ext cx="914400" cy="256032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5394960" y="2176272"/>
            <a:ext cx="91440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2432304"/>
            <a:ext cx="274320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457200" y="2432304"/>
            <a:ext cx="274320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기타 뇌혈관질환  I64·67~69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0" y="2432304"/>
            <a:ext cx="128016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3200400" y="2432304"/>
            <a:ext cx="128016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80560" y="2432304"/>
            <a:ext cx="91440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480560" y="2432304"/>
            <a:ext cx="91440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394960" y="2432304"/>
            <a:ext cx="91440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5394960" y="2432304"/>
            <a:ext cx="91440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2688336"/>
            <a:ext cx="2743200" cy="256032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457200" y="2688336"/>
            <a:ext cx="274320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뇌동맥류·정맥류  I71·72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0" y="2688336"/>
            <a:ext cx="1280160" cy="256032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3200400" y="2688336"/>
            <a:ext cx="128016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480560" y="2688336"/>
            <a:ext cx="914400" cy="256032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4480560" y="2688336"/>
            <a:ext cx="91440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394960" y="2688336"/>
            <a:ext cx="914400" cy="256032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5394960" y="2688336"/>
            <a:ext cx="91440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2944368"/>
            <a:ext cx="274320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457200" y="2944368"/>
            <a:ext cx="274320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선천 뇌혈관기형  Q28.0~28.3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00400" y="2944368"/>
            <a:ext cx="128016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3200400" y="2944368"/>
            <a:ext cx="128016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480560" y="2944368"/>
            <a:ext cx="91440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4480560" y="2944368"/>
            <a:ext cx="91440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394960" y="2944368"/>
            <a:ext cx="91440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5394960" y="2944368"/>
            <a:ext cx="91440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" y="3200400"/>
            <a:ext cx="2743200" cy="256032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457200" y="3200400"/>
            <a:ext cx="274320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외상성 뇌출혈  S06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200400" y="3200400"/>
            <a:ext cx="1280160" cy="256032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3200400" y="3200400"/>
            <a:ext cx="128016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480560" y="3200400"/>
            <a:ext cx="914400" cy="256032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4480560" y="3200400"/>
            <a:ext cx="91440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394960" y="3200400"/>
            <a:ext cx="914400" cy="256032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5394960" y="3200400"/>
            <a:ext cx="91440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7200" y="3657600"/>
            <a:ext cx="5669280" cy="8229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850" b="0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· 외상성 뇌출혈(S06) = 뇌혈관진단비 미보장 → 산정특례 축only</a:t>
            </a:r>
          </a:p>
          <a:p>
            <a:pPr algn="l"/>
            <a:r>
              <a:rPr sz="850" b="0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· 산정특례 = 진단 기반 별개 담보축 · 지급조건은 회사·약관별 [확인]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00800" y="1280160"/>
            <a:ext cx="5486400" cy="292608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200" b="1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심장 — 질병코드별 커버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00800" y="1627632"/>
            <a:ext cx="2286000" cy="29260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6400800" y="1627632"/>
            <a:ext cx="2286000" cy="292608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질병 (코드)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686800" y="1627632"/>
            <a:ext cx="1097280" cy="29260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8686800" y="1627632"/>
            <a:ext cx="1097280" cy="292608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허혈성진단비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784080" y="1627632"/>
            <a:ext cx="914400" cy="29260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9784080" y="1627632"/>
            <a:ext cx="914400" cy="292608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심장(특정)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0698480" y="1627632"/>
            <a:ext cx="777240" cy="29260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10698480" y="1627632"/>
            <a:ext cx="777240" cy="292608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순환계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1475720" y="1627632"/>
            <a:ext cx="777240" cy="29260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TextBox 75"/>
          <p:cNvSpPr txBox="1"/>
          <p:nvPr/>
        </p:nvSpPr>
        <p:spPr>
          <a:xfrm>
            <a:off x="11475720" y="1627632"/>
            <a:ext cx="777240" cy="292608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산정특례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400800" y="1920240"/>
            <a:ext cx="228600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6400800" y="1920240"/>
            <a:ext cx="228600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급성심근경색  I21~23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686800" y="1920240"/>
            <a:ext cx="10972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8686800" y="1920240"/>
            <a:ext cx="109728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784080" y="1920240"/>
            <a:ext cx="91440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TextBox 81"/>
          <p:cNvSpPr txBox="1"/>
          <p:nvPr/>
        </p:nvSpPr>
        <p:spPr>
          <a:xfrm>
            <a:off x="9784080" y="1920240"/>
            <a:ext cx="91440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698480" y="1920240"/>
            <a:ext cx="77724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TextBox 83"/>
          <p:cNvSpPr txBox="1"/>
          <p:nvPr/>
        </p:nvSpPr>
        <p:spPr>
          <a:xfrm>
            <a:off x="10698480" y="1920240"/>
            <a:ext cx="77724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1475720" y="1920240"/>
            <a:ext cx="77724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11475720" y="1920240"/>
            <a:ext cx="77724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400800" y="2176272"/>
            <a:ext cx="2286000" cy="256032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TextBox 87"/>
          <p:cNvSpPr txBox="1"/>
          <p:nvPr/>
        </p:nvSpPr>
        <p:spPr>
          <a:xfrm>
            <a:off x="6400800" y="2176272"/>
            <a:ext cx="228600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협심증  I20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686800" y="2176272"/>
            <a:ext cx="1097280" cy="256032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TextBox 89"/>
          <p:cNvSpPr txBox="1"/>
          <p:nvPr/>
        </p:nvSpPr>
        <p:spPr>
          <a:xfrm>
            <a:off x="8686800" y="2176272"/>
            <a:ext cx="109728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784080" y="2176272"/>
            <a:ext cx="914400" cy="256032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TextBox 91"/>
          <p:cNvSpPr txBox="1"/>
          <p:nvPr/>
        </p:nvSpPr>
        <p:spPr>
          <a:xfrm>
            <a:off x="9784080" y="2176272"/>
            <a:ext cx="91440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0698480" y="2176272"/>
            <a:ext cx="777240" cy="256032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TextBox 93"/>
          <p:cNvSpPr txBox="1"/>
          <p:nvPr/>
        </p:nvSpPr>
        <p:spPr>
          <a:xfrm>
            <a:off x="10698480" y="2176272"/>
            <a:ext cx="77724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1475720" y="2176272"/>
            <a:ext cx="777240" cy="256032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TextBox 95"/>
          <p:cNvSpPr txBox="1"/>
          <p:nvPr/>
        </p:nvSpPr>
        <p:spPr>
          <a:xfrm>
            <a:off x="11475720" y="2176272"/>
            <a:ext cx="77724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400800" y="2432304"/>
            <a:ext cx="228600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TextBox 97"/>
          <p:cNvSpPr txBox="1"/>
          <p:nvPr/>
        </p:nvSpPr>
        <p:spPr>
          <a:xfrm>
            <a:off x="6400800" y="2432304"/>
            <a:ext cx="228600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기타·만성 허혈  I24·25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686800" y="2432304"/>
            <a:ext cx="10972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" name="TextBox 99"/>
          <p:cNvSpPr txBox="1"/>
          <p:nvPr/>
        </p:nvSpPr>
        <p:spPr>
          <a:xfrm>
            <a:off x="8686800" y="2432304"/>
            <a:ext cx="109728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784080" y="2432304"/>
            <a:ext cx="91440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TextBox 101"/>
          <p:cNvSpPr txBox="1"/>
          <p:nvPr/>
        </p:nvSpPr>
        <p:spPr>
          <a:xfrm>
            <a:off x="9784080" y="2432304"/>
            <a:ext cx="91440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0698480" y="2432304"/>
            <a:ext cx="77724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TextBox 103"/>
          <p:cNvSpPr txBox="1"/>
          <p:nvPr/>
        </p:nvSpPr>
        <p:spPr>
          <a:xfrm>
            <a:off x="10698480" y="2432304"/>
            <a:ext cx="77724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1475720" y="2432304"/>
            <a:ext cx="77724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" name="TextBox 105"/>
          <p:cNvSpPr txBox="1"/>
          <p:nvPr/>
        </p:nvSpPr>
        <p:spPr>
          <a:xfrm>
            <a:off x="11475720" y="2432304"/>
            <a:ext cx="77724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400800" y="2688336"/>
            <a:ext cx="2286000" cy="256032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TextBox 107"/>
          <p:cNvSpPr txBox="1"/>
          <p:nvPr/>
        </p:nvSpPr>
        <p:spPr>
          <a:xfrm>
            <a:off x="6400800" y="2688336"/>
            <a:ext cx="228600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심장판막  I05·I34~37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8686800" y="2688336"/>
            <a:ext cx="1097280" cy="256032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TextBox 109"/>
          <p:cNvSpPr txBox="1"/>
          <p:nvPr/>
        </p:nvSpPr>
        <p:spPr>
          <a:xfrm>
            <a:off x="8686800" y="2688336"/>
            <a:ext cx="109728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9784080" y="2688336"/>
            <a:ext cx="914400" cy="256032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" name="TextBox 111"/>
          <p:cNvSpPr txBox="1"/>
          <p:nvPr/>
        </p:nvSpPr>
        <p:spPr>
          <a:xfrm>
            <a:off x="9784080" y="2688336"/>
            <a:ext cx="91440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0698480" y="2688336"/>
            <a:ext cx="777240" cy="256032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4" name="TextBox 113"/>
          <p:cNvSpPr txBox="1"/>
          <p:nvPr/>
        </p:nvSpPr>
        <p:spPr>
          <a:xfrm>
            <a:off x="10698480" y="2688336"/>
            <a:ext cx="77724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1475720" y="2688336"/>
            <a:ext cx="777240" cy="256032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6" name="TextBox 115"/>
          <p:cNvSpPr txBox="1"/>
          <p:nvPr/>
        </p:nvSpPr>
        <p:spPr>
          <a:xfrm>
            <a:off x="11475720" y="2688336"/>
            <a:ext cx="77724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6400800" y="2944368"/>
            <a:ext cx="228600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8" name="TextBox 117"/>
          <p:cNvSpPr txBox="1"/>
          <p:nvPr/>
        </p:nvSpPr>
        <p:spPr>
          <a:xfrm>
            <a:off x="6400800" y="2944368"/>
            <a:ext cx="228600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심근·심내막 염증  I30~33·I40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8686800" y="2944368"/>
            <a:ext cx="10972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0" name="TextBox 119"/>
          <p:cNvSpPr txBox="1"/>
          <p:nvPr/>
        </p:nvSpPr>
        <p:spPr>
          <a:xfrm>
            <a:off x="8686800" y="2944368"/>
            <a:ext cx="109728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9784080" y="2944368"/>
            <a:ext cx="91440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2" name="TextBox 121"/>
          <p:cNvSpPr txBox="1"/>
          <p:nvPr/>
        </p:nvSpPr>
        <p:spPr>
          <a:xfrm>
            <a:off x="9784080" y="2944368"/>
            <a:ext cx="91440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0698480" y="2944368"/>
            <a:ext cx="77724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4" name="TextBox 123"/>
          <p:cNvSpPr txBox="1"/>
          <p:nvPr/>
        </p:nvSpPr>
        <p:spPr>
          <a:xfrm>
            <a:off x="10698480" y="2944368"/>
            <a:ext cx="77724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11475720" y="2944368"/>
            <a:ext cx="77724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6" name="TextBox 125"/>
          <p:cNvSpPr txBox="1"/>
          <p:nvPr/>
        </p:nvSpPr>
        <p:spPr>
          <a:xfrm>
            <a:off x="11475720" y="2944368"/>
            <a:ext cx="77724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400800" y="3200400"/>
            <a:ext cx="2286000" cy="256032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8" name="TextBox 127"/>
          <p:cNvSpPr txBox="1"/>
          <p:nvPr/>
        </p:nvSpPr>
        <p:spPr>
          <a:xfrm>
            <a:off x="6400800" y="3200400"/>
            <a:ext cx="228600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부정맥  I49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8686800" y="3200400"/>
            <a:ext cx="1097280" cy="256032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0" name="TextBox 129"/>
          <p:cNvSpPr txBox="1"/>
          <p:nvPr/>
        </p:nvSpPr>
        <p:spPr>
          <a:xfrm>
            <a:off x="8686800" y="3200400"/>
            <a:ext cx="109728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9784080" y="3200400"/>
            <a:ext cx="914400" cy="256032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2" name="TextBox 131"/>
          <p:cNvSpPr txBox="1"/>
          <p:nvPr/>
        </p:nvSpPr>
        <p:spPr>
          <a:xfrm>
            <a:off x="9784080" y="3200400"/>
            <a:ext cx="91440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10698480" y="3200400"/>
            <a:ext cx="777240" cy="256032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4" name="TextBox 133"/>
          <p:cNvSpPr txBox="1"/>
          <p:nvPr/>
        </p:nvSpPr>
        <p:spPr>
          <a:xfrm>
            <a:off x="10698480" y="3200400"/>
            <a:ext cx="77724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11475720" y="3200400"/>
            <a:ext cx="777240" cy="256032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6" name="TextBox 135"/>
          <p:cNvSpPr txBox="1"/>
          <p:nvPr/>
        </p:nvSpPr>
        <p:spPr>
          <a:xfrm>
            <a:off x="11475720" y="3200400"/>
            <a:ext cx="77724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6400800" y="3456432"/>
            <a:ext cx="228600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8" name="TextBox 137"/>
          <p:cNvSpPr txBox="1"/>
          <p:nvPr/>
        </p:nvSpPr>
        <p:spPr>
          <a:xfrm>
            <a:off x="6400800" y="3456432"/>
            <a:ext cx="228600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심부전  I50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8686800" y="3456432"/>
            <a:ext cx="10972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0" name="TextBox 139"/>
          <p:cNvSpPr txBox="1"/>
          <p:nvPr/>
        </p:nvSpPr>
        <p:spPr>
          <a:xfrm>
            <a:off x="8686800" y="3456432"/>
            <a:ext cx="109728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9784080" y="3456432"/>
            <a:ext cx="91440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2" name="TextBox 141"/>
          <p:cNvSpPr txBox="1"/>
          <p:nvPr/>
        </p:nvSpPr>
        <p:spPr>
          <a:xfrm>
            <a:off x="9784080" y="3456432"/>
            <a:ext cx="91440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10698480" y="3456432"/>
            <a:ext cx="77724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4" name="TextBox 143"/>
          <p:cNvSpPr txBox="1"/>
          <p:nvPr/>
        </p:nvSpPr>
        <p:spPr>
          <a:xfrm>
            <a:off x="10698480" y="3456432"/>
            <a:ext cx="77724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11475720" y="3456432"/>
            <a:ext cx="77724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6" name="TextBox 145"/>
          <p:cNvSpPr txBox="1"/>
          <p:nvPr/>
        </p:nvSpPr>
        <p:spPr>
          <a:xfrm>
            <a:off x="11475720" y="3456432"/>
            <a:ext cx="77724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6400800" y="3712464"/>
            <a:ext cx="2286000" cy="256032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8" name="TextBox 147"/>
          <p:cNvSpPr txBox="1"/>
          <p:nvPr/>
        </p:nvSpPr>
        <p:spPr>
          <a:xfrm>
            <a:off x="6400800" y="3712464"/>
            <a:ext cx="228600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심근병증  I42~45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8686800" y="3712464"/>
            <a:ext cx="1097280" cy="256032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0" name="TextBox 149"/>
          <p:cNvSpPr txBox="1"/>
          <p:nvPr/>
        </p:nvSpPr>
        <p:spPr>
          <a:xfrm>
            <a:off x="8686800" y="3712464"/>
            <a:ext cx="109728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9784080" y="3712464"/>
            <a:ext cx="914400" cy="256032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2" name="TextBox 151"/>
          <p:cNvSpPr txBox="1"/>
          <p:nvPr/>
        </p:nvSpPr>
        <p:spPr>
          <a:xfrm>
            <a:off x="9784080" y="3712464"/>
            <a:ext cx="91440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10698480" y="3712464"/>
            <a:ext cx="777240" cy="256032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" name="TextBox 153"/>
          <p:cNvSpPr txBox="1"/>
          <p:nvPr/>
        </p:nvSpPr>
        <p:spPr>
          <a:xfrm>
            <a:off x="10698480" y="3712464"/>
            <a:ext cx="77724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11475720" y="3712464"/>
            <a:ext cx="777240" cy="256032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6" name="TextBox 155"/>
          <p:cNvSpPr txBox="1"/>
          <p:nvPr/>
        </p:nvSpPr>
        <p:spPr>
          <a:xfrm>
            <a:off x="11475720" y="3712464"/>
            <a:ext cx="77724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6400800" y="4041648"/>
            <a:ext cx="5303520" cy="9144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850" b="0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· 빈맥(I47·48) ≠ 부정맥(I49) — 전용 행 구분</a:t>
            </a:r>
          </a:p>
          <a:p>
            <a:pPr algn="l"/>
            <a:r>
              <a:rPr sz="850" b="0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· 순환계 = 2대 + 동맥류·정맥류 등 순환기 전반. 세부 대상코드 [확인]</a:t>
            </a:r>
          </a:p>
          <a:p>
            <a:pPr algn="l"/>
            <a:r>
              <a:rPr sz="850" b="0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● 보장   ○ 미보장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9" name="TextBox 158"/>
          <p:cNvSpPr txBox="1"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800" b="1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MAKEONE 보장분석 자동화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7315200" y="6510528"/>
            <a:ext cx="4389120" cy="2743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이종수님 고객님 · 5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20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MAKEONE · 보장분석 리포트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7315200" cy="5029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이종수님 고객님 보장 진단서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164592"/>
            <a:ext cx="1554480" cy="4572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40080"/>
            <a:ext cx="2468880" cy="2743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r"/>
            <a:r>
              <a:rPr sz="900" b="0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주요치료비 변천사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200" b="1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3대 주요치료비 담보의 변천사   ①비례형(구간) → ②정액형 → ③비급여 → 생활비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91640"/>
            <a:ext cx="5532120" cy="1051560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66928" y="1746504"/>
            <a:ext cx="5303520" cy="2743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1  비례형(구간형)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039112"/>
            <a:ext cx="5303520" cy="64008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치료비 지출액이 구간 하한 도달 시 그 구간 정액 지급.</a:t>
            </a:r>
          </a:p>
          <a:p>
            <a:pPr algn="l"/>
            <a:r>
              <a:rPr sz="9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2024.11 단종 — 보유자 해지 금지.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691640"/>
            <a:ext cx="5532120" cy="1051560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19088" y="1746504"/>
            <a:ext cx="5303520" cy="2743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2  정액형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2039112"/>
            <a:ext cx="5303520" cy="64008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치료 사실만으로 약정금 정액 지급.</a:t>
            </a:r>
          </a:p>
          <a:p>
            <a:pPr algn="l"/>
            <a:r>
              <a:rPr sz="9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면책 90일 · 가입금액 100만원부터.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926080"/>
            <a:ext cx="5532120" cy="1051560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66928" y="2980944"/>
            <a:ext cx="5303520" cy="2743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3  비급여(하이클래스)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273552"/>
            <a:ext cx="5303520" cy="64008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급여 전액본인부담금 + 비급여 치료비 정액.</a:t>
            </a:r>
          </a:p>
          <a:p>
            <a:pPr algn="l"/>
            <a:r>
              <a:rPr sz="9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2천만×10년=2억 · 25.08~ 생활비형 추가.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2926080"/>
            <a:ext cx="5532120" cy="1051560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419088" y="2980944"/>
            <a:ext cx="5303520" cy="2743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4  왜 필요한가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3273552"/>
            <a:ext cx="5303520" cy="64008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5세대 실손: 비중증 비급여 자기부담 50%·한도 1,000만.</a:t>
            </a:r>
          </a:p>
          <a:p>
            <a:pPr algn="l"/>
            <a:r>
              <a:rPr sz="9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표적·면역 고가 약값엔 부족 → 주요치료비가 메움.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343400"/>
            <a:ext cx="10972800" cy="292608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100" b="1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수술 건당 총진료비(평균) · 심평원·건보공단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709160"/>
            <a:ext cx="210312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57200" y="4791456"/>
            <a:ext cx="2103120" cy="292608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850" b="0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심장수술(개흉)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084064"/>
            <a:ext cx="2103120" cy="32004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1200" b="1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2,832만원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0" y="4709160"/>
            <a:ext cx="210312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2743200" y="4791456"/>
            <a:ext cx="2103120" cy="292608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850" b="0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관상동맥우회술(CABG)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5084064"/>
            <a:ext cx="2103120" cy="32004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1200" b="1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2,690만원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0" y="4709160"/>
            <a:ext cx="210312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029200" y="4791456"/>
            <a:ext cx="2103120" cy="292608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850" b="0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뇌동맥류 코일색전술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5084064"/>
            <a:ext cx="2103120" cy="32004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1200" b="1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1,100~1,600만원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0" y="4709160"/>
            <a:ext cx="210312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315200" y="4791456"/>
            <a:ext cx="2103120" cy="292608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850" b="0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심장 스텐트(다발혈관)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5084064"/>
            <a:ext cx="2103120" cy="32004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1200" b="1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1,000~1,400만원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01200" y="4709160"/>
            <a:ext cx="210312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9601200" y="4791456"/>
            <a:ext cx="2103120" cy="292608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850" b="0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뇌기저부수술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0" y="5084064"/>
            <a:ext cx="2103120" cy="32004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1200" b="1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1,475만원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62356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950" b="0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재발률 — 뇌경색 1년 10%·5년 20~30% / 급성심근경색 1년 30%·3년 50% / 스텐트 5년 재협착 15%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800" b="1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MAKEONE 보장분석 자동화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6510528"/>
            <a:ext cx="4389120" cy="2743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이종수님 고객님 · 6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20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MAKEONE · 보장분석 리포트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7315200" cy="5029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이종수님 고객님 보장 진단서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164592"/>
            <a:ext cx="1554480" cy="4572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40080"/>
            <a:ext cx="2468880" cy="2743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r"/>
            <a:r>
              <a:rPr sz="900" b="0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상담 워크시트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5486400" cy="292608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300" b="1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암 주요치료비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280160"/>
            <a:ext cx="5486400" cy="292608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300" b="1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뇌·심장 주요치료비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664208"/>
            <a:ext cx="53949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94360" y="1737360"/>
            <a:ext cx="3200400" cy="292608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100" b="1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암 진단비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048256"/>
            <a:ext cx="3200400" cy="54864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850" b="0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걸렸을 때 일시금 (기본)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1664208"/>
            <a:ext cx="2057400" cy="105156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r"/>
            <a:r>
              <a:rPr sz="1150" b="1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미가입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852928"/>
            <a:ext cx="53949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94360" y="2926080"/>
            <a:ext cx="3200400" cy="292608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100" b="1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암 주요치료비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236976"/>
            <a:ext cx="3200400" cy="54864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850" b="0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수술·방사선·약물 정액 (100만~)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2852928"/>
            <a:ext cx="2057400" cy="105156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r"/>
            <a:r>
              <a:rPr sz="1150" b="1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1억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041648"/>
            <a:ext cx="53949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94360" y="4114800"/>
            <a:ext cx="3200400" cy="292608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100" b="1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하이클래스 (비급여)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425696"/>
            <a:ext cx="3200400" cy="54864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850" b="0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표적·면역·중입자 전액본인 커버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4041648"/>
            <a:ext cx="2057400" cy="105156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r"/>
            <a:r>
              <a:rPr sz="1150" b="1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미가입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1664208"/>
            <a:ext cx="53949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537960" y="1737360"/>
            <a:ext cx="3200400" cy="292608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100" b="1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뇌·심 진단비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2048256"/>
            <a:ext cx="3200400" cy="54864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850" b="0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뇌혈관·허혈성 일시금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46920" y="1664208"/>
            <a:ext cx="2057400" cy="105156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r"/>
            <a:r>
              <a:rPr sz="950" b="1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뇌졸증 1,000만 · 급성심근 1,000만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2852928"/>
            <a:ext cx="53949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537960" y="2926080"/>
            <a:ext cx="3200400" cy="292608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100" b="1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2대 주요치료비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3236976"/>
            <a:ext cx="3200400" cy="54864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850" b="0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수술·혈전용해·중환자실 (100만~)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46920" y="2852928"/>
            <a:ext cx="2057400" cy="105156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r"/>
            <a:r>
              <a:rPr sz="1150" b="1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미가입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4041648"/>
            <a:ext cx="53949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537960" y="4114800"/>
            <a:ext cx="3200400" cy="292608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100" b="1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산정특례 (뇌 · 심장)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4425696"/>
            <a:ext cx="3200400" cy="54864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850" b="0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진단만으로 지급 · 개별 담보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46920" y="4041648"/>
            <a:ext cx="2057400" cy="105156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r"/>
            <a:r>
              <a:rPr sz="1150" b="1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미가입 / 미가입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349240"/>
            <a:ext cx="11247120" cy="777240"/>
          </a:xfrm>
          <a:prstGeom prst="rect">
            <a:avLst/>
          </a:prstGeom>
          <a:solidFill>
            <a:srgbClr val="F2F3F5"/>
          </a:solidFill>
          <a:ln w="952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40080" y="5468112"/>
            <a:ext cx="10881360" cy="54864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200" b="1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부족한 담보 → 보완 추천 :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800" b="1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MAKEONE 보장분석 자동화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0" y="6510528"/>
            <a:ext cx="4389120" cy="2743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이종수님 고객님 · 7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20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MAKEONE · 보장분석 리포트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7315200" cy="5029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이종수님 고객님 보장 진단서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164592"/>
            <a:ext cx="1554480" cy="4572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40080"/>
            <a:ext cx="2468880" cy="2743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r"/>
            <a:r>
              <a:rPr sz="900" b="0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심혈관 담보 분류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11247120" cy="4572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950" b="1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★ "특정Ⅰ·Ⅱ"는 회사마다 뜻이 다르다 — 라벨 말고 질병코드로 확인. 빈맥(I47·48)과 부정맥(I49)은 별개.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83080"/>
            <a:ext cx="553212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457200" y="1783080"/>
            <a:ext cx="5532120" cy="3291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7200" y="1783080"/>
            <a:ext cx="5532120" cy="32918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한화손해보험 4가지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167128"/>
            <a:ext cx="5303520" cy="16002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심혈관Ⅰ = 협심증 I20 · 기타급성허혈 I24 · 만성허혈 I25 · 빈맥 I47 · 심방세동 I48 · 기타부정맥 I49 · 심부전 I50</a:t>
            </a:r>
          </a:p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심혈관Ⅱ = 급성심근경색 I21~23 · 인공소생 심장정지 I46.0</a:t>
            </a:r>
          </a:p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심근병증 = I42 (확장성·비후성·제한성 포함)</a:t>
            </a:r>
          </a:p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심혈관특정질환 = Ⅰ에서 기타부정맥(I49)만 제외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783080"/>
            <a:ext cx="553212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309360" y="1783080"/>
            <a:ext cx="5532120" cy="3291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309360" y="1783080"/>
            <a:ext cx="5532120" cy="32918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DB손해보험 4가지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2167128"/>
            <a:ext cx="5303520" cy="16002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특정Ⅰ = 협심증·허혈 I20·24·25 + 주요심장염증 I30~41</a:t>
            </a:r>
          </a:p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특정Ⅱ = 급성심근경색 I21~23 · I46.0</a:t>
            </a:r>
          </a:p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특정Ⅲ = 판막질환 · 빈맥 I47 · 심방세동 I48 · 심부전 I50</a:t>
            </a:r>
          </a:p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순환계 3대 = I46.0 · 부정맥 I47~49 · 심부전 I50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023360"/>
            <a:ext cx="553212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457200" y="4023360"/>
            <a:ext cx="5532120" cy="3291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57200" y="4023360"/>
            <a:ext cx="5532120" cy="32918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KB손해보험 5가지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4407408"/>
            <a:ext cx="5303520" cy="16002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특정Ⅰ = 협심증·허혈 I20·24·25 · 빈맥 I47·48 · 심부전 I50 (염증X·부정맥X)</a:t>
            </a:r>
          </a:p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특정Ⅱ = 급성심근경색 I21~23 · I46.0</a:t>
            </a:r>
          </a:p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심근병증 = I42 / 심장판막질환 = 판막·I33·I38</a:t>
            </a:r>
          </a:p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기타심장부정맥 = I49 (I47·48은 대상 아님)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4023360"/>
            <a:ext cx="553212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6309360" y="4023360"/>
            <a:ext cx="5532120" cy="3291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309360" y="4023360"/>
            <a:ext cx="5532120" cy="32918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현대해상 6가지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4407408"/>
            <a:ext cx="5303520" cy="16002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허혈성 심장질환 = 협심증 I20 · I24 · I25</a:t>
            </a:r>
          </a:p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특정허혈 심장질환 = 급성심근경색 I21~23</a:t>
            </a:r>
          </a:p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특정Ⅰ = 빈맥 I47 · 심방세동 I48 · 심부전 I50</a:t>
            </a:r>
          </a:p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특정Ⅱ = 급성심근경색 I21~23 · I46.0</a:t>
            </a:r>
          </a:p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주요 심장염증 = I30~41 / 특정2대 = 전도장애 I44·45 + I49</a:t>
            </a:r>
          </a:p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※ 현대 심근병증 담보 없음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800" b="1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MAKEONE 보장분석 자동화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6510528"/>
            <a:ext cx="4389120" cy="2743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이종수님 고객님 · 8 /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20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MAKEONE · 보장분석 리포트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7315200" cy="5029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이종수님 고객님 보장 진단서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164592"/>
            <a:ext cx="1554480" cy="4572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40080"/>
            <a:ext cx="2468880" cy="2743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r"/>
            <a:r>
              <a:rPr sz="900" b="0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심혈관 담보 분류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11247120" cy="4572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950" b="1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★ "특정Ⅰ·Ⅱ"는 회사마다 뜻이 다르다 — 라벨 말고 질병코드로 확인. 빈맥(I47·48)과 부정맥(I49)은 별개.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83080"/>
            <a:ext cx="553212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457200" y="1783080"/>
            <a:ext cx="5532120" cy="3291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7200" y="1783080"/>
            <a:ext cx="5532120" cy="32918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NH농협손해보험 5가지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167128"/>
            <a:ext cx="5303520" cy="16002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심혈관특정Ⅰ = 협심증·허혈 · 빈맥 · 기타부정맥 I49 · 심부전</a:t>
            </a:r>
          </a:p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특정Ⅰ(기타부정맥 제외) = Ⅰ에서 I49만 뺀 묶음</a:t>
            </a:r>
          </a:p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심근병증 = I42·I43 / 주요 심장염증질환 = I30~41</a:t>
            </a:r>
          </a:p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기타 심장부정맥 = I49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783080"/>
            <a:ext cx="553212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309360" y="1783080"/>
            <a:ext cx="5532120" cy="3291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309360" y="1783080"/>
            <a:ext cx="5532120" cy="32918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흥국화재 실제 약관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2167128"/>
            <a:ext cx="5303520" cy="16002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특정심혈관질환(기타부정맥제외) = 협심증·허혈·빈맥·심부전 (급성심근 아님)</a:t>
            </a:r>
          </a:p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특정심혈관질환(기타부정맥) = I49</a:t>
            </a:r>
          </a:p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심근병증(허혈성제외) = I42·I43 / 주요심장염증질환 = I30~41</a:t>
            </a:r>
          </a:p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허혈성심질환진단비 = I20·24·25 단독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023360"/>
            <a:ext cx="553212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457200" y="4023360"/>
            <a:ext cx="5532120" cy="3291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57200" y="4023360"/>
            <a:ext cx="5532120" cy="32918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롯데손해보험 5가지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4407408"/>
            <a:ext cx="5303520" cy="16002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특정심장질환Ⅰ = 급성심근경색 I21~23 · I46.0</a:t>
            </a:r>
          </a:p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특정심장질환Ⅱ = 협심증·허혈 + 주요심장염증 I30~41</a:t>
            </a:r>
          </a:p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특정 15대 = 판막 · 심근병증 · 빈맥 · 심부전</a:t>
            </a:r>
          </a:p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기타 심장부정맥 = I49 / 방실차단·전도장애 = I44·I45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4023360"/>
            <a:ext cx="553212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6309360" y="4023360"/>
            <a:ext cx="5532120" cy="3291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309360" y="4023360"/>
            <a:ext cx="5532120" cy="32918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삼성화재 · 메리츠화재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4407408"/>
            <a:ext cx="5303520" cy="16002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허혈성심장질환 6가지 = 급성기 I21 · 후속 I22 · 합병증 I23 · 협심증 I20 · 기타급성 I24 · 만성 I25</a:t>
            </a:r>
          </a:p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[메리츠] 심장질환진단Ⅰ → 허혈성 / Ⅱ → 급성심근경색 (별도 상품 병존)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800" b="1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MAKEONE 보장분석 자동화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6510528"/>
            <a:ext cx="4389120" cy="2743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이종수님 고객님 · 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