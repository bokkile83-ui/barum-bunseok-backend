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850" y="-203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‹#›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‹#›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‹#›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‹#›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‹#›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7299" y="10371233"/>
            <a:ext cx="1199514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609571" y="10367303"/>
            <a:ext cx="1423670" cy="145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8997A8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‹#›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6200" y="1471500"/>
            <a:ext cx="6327775" cy="31750"/>
          </a:xfrm>
          <a:custGeom>
            <a:avLst/>
            <a:gdLst/>
            <a:ahLst/>
            <a:cxnLst/>
            <a:rect l="l" t="t" r="r" b="b"/>
            <a:pathLst>
              <a:path w="6327775" h="31750">
                <a:moveTo>
                  <a:pt x="6327600" y="0"/>
                </a:moveTo>
                <a:lnTo>
                  <a:pt x="6327600" y="31749"/>
                </a:lnTo>
                <a:lnTo>
                  <a:pt x="0" y="31749"/>
                </a:lnTo>
                <a:lnTo>
                  <a:pt x="0" y="0"/>
                </a:lnTo>
                <a:lnTo>
                  <a:pt x="6327600" y="0"/>
                </a:lnTo>
                <a:close/>
              </a:path>
            </a:pathLst>
          </a:custGeom>
          <a:solidFill>
            <a:srgbClr val="C8A1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6200" y="2896590"/>
            <a:ext cx="6327775" cy="0"/>
          </a:xfrm>
          <a:custGeom>
            <a:avLst/>
            <a:gdLst/>
            <a:ahLst/>
            <a:cxnLst/>
            <a:rect l="l" t="t" r="r" b="b"/>
            <a:pathLst>
              <a:path w="6327775">
                <a:moveTo>
                  <a:pt x="0" y="0"/>
                </a:moveTo>
                <a:lnTo>
                  <a:pt x="6327600" y="0"/>
                </a:lnTo>
              </a:path>
            </a:pathLst>
          </a:custGeom>
          <a:ln w="12699">
            <a:solidFill>
              <a:srgbClr val="C8A14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00" y="3118940"/>
            <a:ext cx="6327599" cy="3342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200" y="4290710"/>
            <a:ext cx="6327599" cy="3342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200" y="5534480"/>
            <a:ext cx="6327599" cy="3342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200" y="7592076"/>
            <a:ext cx="6327599" cy="3342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6200" y="8588238"/>
            <a:ext cx="6327599" cy="3342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3499" y="648987"/>
            <a:ext cx="17805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125" dirty="0">
                <a:solidFill>
                  <a:srgbClr val="89640F"/>
                </a:solidFill>
                <a:latin typeface="Tahoma"/>
                <a:cs typeface="Tahoma"/>
              </a:rPr>
              <a:t>MAKEONE</a:t>
            </a:r>
            <a:r>
              <a:rPr sz="900" b="1" spc="204" dirty="0">
                <a:solidFill>
                  <a:srgbClr val="89640F"/>
                </a:solidFill>
                <a:latin typeface="Tahoma"/>
                <a:cs typeface="Tahoma"/>
              </a:rPr>
              <a:t> </a:t>
            </a:r>
            <a:r>
              <a:rPr sz="900" b="1" dirty="0">
                <a:solidFill>
                  <a:srgbClr val="89640F"/>
                </a:solidFill>
                <a:latin typeface="Tahoma"/>
                <a:cs typeface="Tahoma"/>
              </a:rPr>
              <a:t>·</a:t>
            </a:r>
            <a:r>
              <a:rPr sz="900" b="1" spc="204" dirty="0">
                <a:solidFill>
                  <a:srgbClr val="89640F"/>
                </a:solidFill>
                <a:latin typeface="Tahoma"/>
                <a:cs typeface="Tahoma"/>
              </a:rPr>
              <a:t> </a:t>
            </a:r>
            <a:r>
              <a:rPr sz="900" b="1" spc="110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보장분석</a:t>
            </a:r>
            <a:r>
              <a:rPr sz="900" b="1" spc="16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80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자동화</a:t>
            </a:r>
            <a:endParaRPr sz="900">
              <a:latin typeface="현대해상 고딕OTF Bold"/>
              <a:cs typeface="현대해상 고딕OTF 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3499" y="1044878"/>
            <a:ext cx="48336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6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바름(</a:t>
            </a:r>
            <a:r>
              <a:rPr sz="1700" b="1" spc="60" dirty="0">
                <a:solidFill>
                  <a:srgbClr val="0A1D33"/>
                </a:solidFill>
                <a:latin typeface="Tahoma"/>
                <a:cs typeface="Tahoma"/>
              </a:rPr>
              <a:t>BARUM</a:t>
            </a:r>
            <a:r>
              <a:rPr sz="1700" b="1" spc="6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)</a:t>
            </a:r>
            <a:r>
              <a:rPr sz="1700" b="1" spc="1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700" b="1" spc="11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보장분석</a:t>
            </a:r>
            <a:r>
              <a:rPr sz="1700" b="1" spc="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700" b="1" spc="2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—</a:t>
            </a:r>
            <a:r>
              <a:rPr sz="1700" b="1" spc="1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700" b="1" spc="11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통합</a:t>
            </a:r>
            <a:r>
              <a:rPr sz="1700" b="1" spc="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700" b="1" spc="11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정본</a:t>
            </a:r>
            <a:r>
              <a:rPr sz="1700" b="1" spc="1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700" b="1" spc="11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지침</a:t>
            </a:r>
            <a:r>
              <a:rPr sz="1700" b="1" spc="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700" b="1" spc="85" dirty="0">
                <a:solidFill>
                  <a:srgbClr val="0A1D33"/>
                </a:solidFill>
                <a:latin typeface="Tahoma"/>
                <a:cs typeface="Tahoma"/>
              </a:rPr>
              <a:t>v31n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499" y="1608920"/>
            <a:ext cx="6343650" cy="10883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최종</a:t>
            </a:r>
            <a:r>
              <a:rPr sz="900" b="1" spc="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2026.07.05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·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코드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55" dirty="0">
                <a:solidFill>
                  <a:srgbClr val="0A3A6E"/>
                </a:solidFill>
                <a:latin typeface="Tahoma"/>
                <a:cs typeface="Tahoma"/>
              </a:rPr>
              <a:t>v31n-</a:t>
            </a:r>
            <a:r>
              <a:rPr sz="900" b="1" spc="60" dirty="0">
                <a:solidFill>
                  <a:srgbClr val="0A3A6E"/>
                </a:solidFill>
                <a:latin typeface="Tahoma"/>
                <a:cs typeface="Tahoma"/>
              </a:rPr>
              <a:t>heart-</a:t>
            </a:r>
            <a:r>
              <a:rPr sz="900" b="1" spc="55" dirty="0">
                <a:solidFill>
                  <a:srgbClr val="0A3A6E"/>
                </a:solidFill>
                <a:latin typeface="Tahoma"/>
                <a:cs typeface="Tahoma"/>
              </a:rPr>
              <a:t>20260705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이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파일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하나가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정본이다.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이전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지침(</a:t>
            </a:r>
            <a:r>
              <a:rPr sz="900" spc="75" dirty="0">
                <a:solidFill>
                  <a:srgbClr val="1A2333"/>
                </a:solidFill>
                <a:latin typeface="Yu Gothic"/>
                <a:cs typeface="Yu Gothic"/>
              </a:rPr>
              <a:t>v28·v29·v30·v30z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등)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전부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폐기·대체.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기준: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0" dirty="0">
                <a:solidFill>
                  <a:srgbClr val="0A3A6E"/>
                </a:solidFill>
                <a:latin typeface="Tahoma"/>
                <a:cs typeface="Tahoma"/>
              </a:rPr>
              <a:t>v28 </a:t>
            </a:r>
            <a:r>
              <a:rPr sz="900" b="1" spc="80" dirty="0">
                <a:solidFill>
                  <a:srgbClr val="0A3A6E"/>
                </a:solidFill>
                <a:latin typeface="Tahoma"/>
                <a:cs typeface="Tahoma"/>
              </a:rPr>
              <a:t>canon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+</a:t>
            </a:r>
            <a:r>
              <a:rPr sz="900" b="1" spc="7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65" dirty="0">
                <a:solidFill>
                  <a:srgbClr val="0A3A6E"/>
                </a:solidFill>
                <a:latin typeface="Tahoma"/>
                <a:cs typeface="Tahoma"/>
              </a:rPr>
              <a:t>2026.07.05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챗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확정분(</a:t>
            </a:r>
            <a:r>
              <a:rPr sz="900" b="1" spc="6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빈맥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80" dirty="0">
                <a:solidFill>
                  <a:srgbClr val="0A3A6E"/>
                </a:solidFill>
                <a:latin typeface="Tahoma"/>
                <a:cs typeface="Tahoma"/>
              </a:rPr>
              <a:t>master</a:t>
            </a:r>
            <a:r>
              <a:rPr sz="900" b="1" spc="6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40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행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정식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사용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1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—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0" dirty="0">
                <a:solidFill>
                  <a:srgbClr val="0A3A6E"/>
                </a:solidFill>
                <a:latin typeface="Tahoma"/>
                <a:cs typeface="Tahoma"/>
              </a:rPr>
              <a:t>v28 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"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빈맥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무행"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폐기).</a:t>
            </a:r>
            <a:endParaRPr sz="900">
              <a:latin typeface="현대해상 고딕OTF Bold"/>
              <a:cs typeface="현대해상 고딕OTF Bold"/>
            </a:endParaRPr>
          </a:p>
          <a:p>
            <a:pPr marL="12700" marR="5080">
              <a:lnSpc>
                <a:spcPct val="129200"/>
              </a:lnSpc>
            </a:pP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심장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최상위(2026.07.05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확정,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85" dirty="0">
                <a:solidFill>
                  <a:srgbClr val="0A3A6E"/>
                </a:solidFill>
                <a:latin typeface="Tahoma"/>
                <a:cs typeface="Tahoma"/>
              </a:rPr>
              <a:t>BARUM</a:t>
            </a:r>
            <a:r>
              <a:rPr sz="900" b="1" spc="6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10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사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질병코드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분류표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정본):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특정</a:t>
            </a:r>
            <a:r>
              <a:rPr sz="900" b="1" spc="-50" dirty="0">
                <a:solidFill>
                  <a:srgbClr val="0A3A6E"/>
                </a:solidFill>
                <a:latin typeface="Tahoma"/>
                <a:cs typeface="Tahoma"/>
              </a:rPr>
              <a:t>Ⅰ/Ⅱ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라벨=회사마다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뜻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다름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→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라벨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아닌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회사별</a:t>
            </a:r>
            <a:r>
              <a:rPr sz="900" b="1" spc="1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표대로</a:t>
            </a:r>
            <a:r>
              <a:rPr sz="900" b="1" spc="1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매핑.</a:t>
            </a:r>
            <a:r>
              <a:rPr sz="900" b="1" spc="1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협심증·급성심근경색·빈맥(40)·허혈성·심근병증(43)·심장판막(44)</a:t>
            </a:r>
            <a:r>
              <a:rPr sz="900" b="1" spc="1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각</a:t>
            </a:r>
            <a:r>
              <a:rPr sz="900" b="1" spc="1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전용행.</a:t>
            </a:r>
            <a:r>
              <a:rPr sz="900" b="1" spc="1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묶음=구성질환</a:t>
            </a:r>
            <a:r>
              <a:rPr sz="900" b="1" spc="1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각</a:t>
            </a:r>
            <a:r>
              <a:rPr sz="900" b="1" spc="1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행</a:t>
            </a:r>
            <a:r>
              <a:rPr sz="900" b="1" spc="1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등 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액.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상세는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§8.3.1.</a:t>
            </a:r>
            <a:endParaRPr sz="900">
              <a:latin typeface="현대해상 고딕OTF Bold"/>
              <a:cs typeface="현대해상 고딕OTF Bold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80068" y="3763660"/>
            <a:ext cx="336550" cy="101600"/>
          </a:xfrm>
          <a:custGeom>
            <a:avLst/>
            <a:gdLst/>
            <a:ahLst/>
            <a:cxnLst/>
            <a:rect l="l" t="t" r="r" b="b"/>
            <a:pathLst>
              <a:path w="336550" h="101600">
                <a:moveTo>
                  <a:pt x="300097" y="101599"/>
                </a:moveTo>
                <a:lnTo>
                  <a:pt x="35997" y="101599"/>
                </a:lnTo>
                <a:lnTo>
                  <a:pt x="22021" y="98759"/>
                </a:lnTo>
                <a:lnTo>
                  <a:pt x="10574" y="91025"/>
                </a:lnTo>
                <a:lnTo>
                  <a:pt x="2840" y="79578"/>
                </a:lnTo>
                <a:lnTo>
                  <a:pt x="0" y="6560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5"/>
                </a:lnTo>
                <a:lnTo>
                  <a:pt x="22021" y="2840"/>
                </a:lnTo>
                <a:lnTo>
                  <a:pt x="35999" y="0"/>
                </a:lnTo>
                <a:lnTo>
                  <a:pt x="300095" y="0"/>
                </a:lnTo>
                <a:lnTo>
                  <a:pt x="314073" y="2840"/>
                </a:lnTo>
                <a:lnTo>
                  <a:pt x="325520" y="10575"/>
                </a:lnTo>
                <a:lnTo>
                  <a:pt x="333254" y="22021"/>
                </a:lnTo>
                <a:lnTo>
                  <a:pt x="336095" y="35999"/>
                </a:lnTo>
                <a:lnTo>
                  <a:pt x="336095" y="65600"/>
                </a:lnTo>
                <a:lnTo>
                  <a:pt x="333254" y="79578"/>
                </a:lnTo>
                <a:lnTo>
                  <a:pt x="325520" y="91025"/>
                </a:lnTo>
                <a:lnTo>
                  <a:pt x="314073" y="98759"/>
                </a:lnTo>
                <a:lnTo>
                  <a:pt x="300097" y="101599"/>
                </a:lnTo>
                <a:close/>
              </a:path>
            </a:pathLst>
          </a:custGeom>
          <a:solidFill>
            <a:srgbClr val="FBED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3499" y="3175965"/>
            <a:ext cx="6332855" cy="885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0.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통신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4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규칙</a:t>
            </a:r>
            <a:endParaRPr sz="1150">
              <a:latin typeface="현대해상 고딕OTF Bold"/>
              <a:cs typeface="현대해상 고딕OTF Bol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현대해상 고딕OTF Bold"/>
              <a:cs typeface="현대해상 고딕OTF Bold"/>
            </a:endParaRPr>
          </a:p>
          <a:p>
            <a:pPr marL="12700">
              <a:lnSpc>
                <a:spcPct val="100000"/>
              </a:lnSpc>
            </a:pP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결론→근거→실행.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단정체.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위로·감성·서두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옵션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3개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이내.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 marR="5080">
              <a:lnSpc>
                <a:spcPct val="129200"/>
              </a:lnSpc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제출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셀프렌더→육안검수→셀프팩폭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먼저.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통과분만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제출.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미통과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시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"완료"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금지·자진보고.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모르면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빈칸+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[확인]</a:t>
            </a:r>
            <a:r>
              <a:rPr sz="800" b="1" spc="60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,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추측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금지.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안내는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클릭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가능한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직접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링크.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8799" y="4347735"/>
            <a:ext cx="563308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indent="-17526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00660" algn="l"/>
              </a:tabLst>
            </a:pP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핵심</a:t>
            </a:r>
            <a:r>
              <a:rPr sz="1150" b="1" spc="1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4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등식</a:t>
            </a:r>
            <a:endParaRPr sz="1150">
              <a:latin typeface="현대해상 고딕OTF Bold"/>
              <a:cs typeface="현대해상 고딕OTF Bol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FFFF"/>
              </a:buClr>
              <a:buFont typeface=""/>
              <a:buAutoNum type="arabicPeriod"/>
            </a:pPr>
            <a:endParaRPr sz="1600">
              <a:latin typeface="현대해상 고딕OTF Bold"/>
              <a:cs typeface="현대해상 고딕OTF Bold"/>
            </a:endParaRPr>
          </a:p>
          <a:p>
            <a:pPr marL="133350" lvl="1" indent="-67310">
              <a:lnSpc>
                <a:spcPct val="100000"/>
              </a:lnSpc>
              <a:spcBef>
                <a:spcPts val="5"/>
              </a:spcBef>
              <a:buFont typeface="Noto Sans KR"/>
              <a:buChar char="•"/>
              <a:tabLst>
                <a:tab pos="133985" algn="l"/>
              </a:tabLst>
            </a:pP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등식1: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한장보장표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담보값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aseline="6172" dirty="0">
                <a:solidFill>
                  <a:srgbClr val="1A2333"/>
                </a:solidFill>
                <a:latin typeface="Yu Gothic"/>
                <a:cs typeface="Yu Gothic"/>
              </a:rPr>
              <a:t>PPT</a:t>
            </a:r>
            <a:r>
              <a:rPr sz="1350" spc="67" baseline="6172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담보값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(별첨·요약표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이중대조)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33350" lvl="1" indent="-67310">
              <a:lnSpc>
                <a:spcPct val="100000"/>
              </a:lnSpc>
              <a:spcBef>
                <a:spcPts val="595"/>
              </a:spcBef>
              <a:buFont typeface="Noto Sans KR"/>
              <a:buChar char="•"/>
              <a:tabLst>
                <a:tab pos="133985" algn="l"/>
              </a:tabLst>
            </a:pP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등식2: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aseline="6172" dirty="0">
                <a:solidFill>
                  <a:srgbClr val="1A2333"/>
                </a:solidFill>
                <a:latin typeface="Yu Gothic"/>
                <a:cs typeface="Yu Gothic"/>
              </a:rPr>
              <a:t>PPT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는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완성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엑셀만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읽음.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aseline="6172" dirty="0">
                <a:solidFill>
                  <a:srgbClr val="1A2333"/>
                </a:solidFill>
                <a:latin typeface="Yu Gothic"/>
                <a:cs typeface="Yu Gothic"/>
              </a:rPr>
              <a:t>PPT</a:t>
            </a:r>
            <a:r>
              <a:rPr sz="1350" spc="82" baseline="6172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합계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데이터셀(</a:t>
            </a:r>
            <a:r>
              <a:rPr sz="1350" spc="82" baseline="6172" dirty="0">
                <a:solidFill>
                  <a:srgbClr val="1A2333"/>
                </a:solidFill>
                <a:latin typeface="Yu Gothic"/>
                <a:cs typeface="Yu Gothic"/>
              </a:rPr>
              <a:t>C~</a:t>
            </a: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끝열-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1)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직접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합산(=</a:t>
            </a:r>
            <a:r>
              <a:rPr sz="1350" baseline="6172" dirty="0">
                <a:solidFill>
                  <a:srgbClr val="1A2333"/>
                </a:solidFill>
                <a:latin typeface="Yu Gothic"/>
                <a:cs typeface="Yu Gothic"/>
              </a:rPr>
              <a:t>SUM</a:t>
            </a:r>
            <a:r>
              <a:rPr sz="1350" spc="82" baseline="6172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캐시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의존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금지)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33350" lvl="1" indent="-67310">
              <a:lnSpc>
                <a:spcPct val="100000"/>
              </a:lnSpc>
              <a:spcBef>
                <a:spcPts val="600"/>
              </a:spcBef>
              <a:buFont typeface="Noto Sans KR"/>
              <a:buChar char="•"/>
              <a:tabLst>
                <a:tab pos="133985" algn="l"/>
              </a:tabLst>
            </a:pP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등식3: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보장설명지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</a:t>
            </a:r>
            <a:endParaRPr sz="1350" baseline="6172">
              <a:latin typeface="현대해상 고딕OTF Medium"/>
              <a:cs typeface="현대해상 고딕OTF Medium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03462" y="6163114"/>
            <a:ext cx="931544" cy="130175"/>
          </a:xfrm>
          <a:custGeom>
            <a:avLst/>
            <a:gdLst/>
            <a:ahLst/>
            <a:cxnLst/>
            <a:rect l="l" t="t" r="r" b="b"/>
            <a:pathLst>
              <a:path w="931545" h="130175">
                <a:moveTo>
                  <a:pt x="895290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895287" y="0"/>
                </a:lnTo>
                <a:lnTo>
                  <a:pt x="909266" y="2840"/>
                </a:lnTo>
                <a:lnTo>
                  <a:pt x="920712" y="10574"/>
                </a:lnTo>
                <a:lnTo>
                  <a:pt x="928447" y="22021"/>
                </a:lnTo>
                <a:lnTo>
                  <a:pt x="931287" y="35999"/>
                </a:lnTo>
                <a:lnTo>
                  <a:pt x="931287" y="93550"/>
                </a:lnTo>
                <a:lnTo>
                  <a:pt x="928447" y="107528"/>
                </a:lnTo>
                <a:lnTo>
                  <a:pt x="920712" y="118975"/>
                </a:lnTo>
                <a:lnTo>
                  <a:pt x="909266" y="126709"/>
                </a:lnTo>
                <a:lnTo>
                  <a:pt x="895290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68734" y="6517444"/>
            <a:ext cx="736600" cy="130175"/>
          </a:xfrm>
          <a:custGeom>
            <a:avLst/>
            <a:gdLst/>
            <a:ahLst/>
            <a:cxnLst/>
            <a:rect l="l" t="t" r="r" b="b"/>
            <a:pathLst>
              <a:path w="736600" h="130175">
                <a:moveTo>
                  <a:pt x="700316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700313" y="0"/>
                </a:lnTo>
                <a:lnTo>
                  <a:pt x="714291" y="2840"/>
                </a:lnTo>
                <a:lnTo>
                  <a:pt x="725738" y="10574"/>
                </a:lnTo>
                <a:lnTo>
                  <a:pt x="733473" y="22021"/>
                </a:lnTo>
                <a:lnTo>
                  <a:pt x="736313" y="35999"/>
                </a:lnTo>
                <a:lnTo>
                  <a:pt x="736313" y="93550"/>
                </a:lnTo>
                <a:lnTo>
                  <a:pt x="733473" y="107528"/>
                </a:lnTo>
                <a:lnTo>
                  <a:pt x="725738" y="118975"/>
                </a:lnTo>
                <a:lnTo>
                  <a:pt x="714291" y="126709"/>
                </a:lnTo>
                <a:lnTo>
                  <a:pt x="700316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69153" y="7242190"/>
            <a:ext cx="336550" cy="101600"/>
          </a:xfrm>
          <a:custGeom>
            <a:avLst/>
            <a:gdLst/>
            <a:ahLst/>
            <a:cxnLst/>
            <a:rect l="l" t="t" r="r" b="b"/>
            <a:pathLst>
              <a:path w="336550" h="101600">
                <a:moveTo>
                  <a:pt x="300097" y="101599"/>
                </a:moveTo>
                <a:lnTo>
                  <a:pt x="35997" y="101599"/>
                </a:lnTo>
                <a:lnTo>
                  <a:pt x="22021" y="98759"/>
                </a:lnTo>
                <a:lnTo>
                  <a:pt x="10574" y="91025"/>
                </a:lnTo>
                <a:lnTo>
                  <a:pt x="2840" y="79578"/>
                </a:lnTo>
                <a:lnTo>
                  <a:pt x="0" y="6560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5"/>
                </a:lnTo>
                <a:lnTo>
                  <a:pt x="22021" y="2840"/>
                </a:lnTo>
                <a:lnTo>
                  <a:pt x="35999" y="0"/>
                </a:lnTo>
                <a:lnTo>
                  <a:pt x="300095" y="0"/>
                </a:lnTo>
                <a:lnTo>
                  <a:pt x="314073" y="2840"/>
                </a:lnTo>
                <a:lnTo>
                  <a:pt x="325520" y="10575"/>
                </a:lnTo>
                <a:lnTo>
                  <a:pt x="333254" y="22021"/>
                </a:lnTo>
                <a:lnTo>
                  <a:pt x="336095" y="35999"/>
                </a:lnTo>
                <a:lnTo>
                  <a:pt x="336095" y="65600"/>
                </a:lnTo>
                <a:lnTo>
                  <a:pt x="333254" y="79578"/>
                </a:lnTo>
                <a:lnTo>
                  <a:pt x="325520" y="91025"/>
                </a:lnTo>
                <a:lnTo>
                  <a:pt x="314073" y="98759"/>
                </a:lnTo>
                <a:lnTo>
                  <a:pt x="300097" y="101599"/>
                </a:lnTo>
                <a:close/>
              </a:path>
            </a:pathLst>
          </a:custGeom>
          <a:solidFill>
            <a:srgbClr val="FBED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65667" y="8045101"/>
            <a:ext cx="762000" cy="130175"/>
          </a:xfrm>
          <a:custGeom>
            <a:avLst/>
            <a:gdLst/>
            <a:ahLst/>
            <a:cxnLst/>
            <a:rect l="l" t="t" r="r" b="b"/>
            <a:pathLst>
              <a:path w="762000" h="130175">
                <a:moveTo>
                  <a:pt x="725663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725661" y="0"/>
                </a:lnTo>
                <a:lnTo>
                  <a:pt x="739639" y="2840"/>
                </a:lnTo>
                <a:lnTo>
                  <a:pt x="751086" y="10574"/>
                </a:lnTo>
                <a:lnTo>
                  <a:pt x="758820" y="22021"/>
                </a:lnTo>
                <a:lnTo>
                  <a:pt x="761661" y="35999"/>
                </a:lnTo>
                <a:lnTo>
                  <a:pt x="761661" y="93550"/>
                </a:lnTo>
                <a:lnTo>
                  <a:pt x="758820" y="107528"/>
                </a:lnTo>
                <a:lnTo>
                  <a:pt x="751086" y="118975"/>
                </a:lnTo>
                <a:lnTo>
                  <a:pt x="739639" y="126709"/>
                </a:lnTo>
                <a:lnTo>
                  <a:pt x="725663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8867" y="7108516"/>
            <a:ext cx="14795" cy="13925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2168966" y="8045101"/>
            <a:ext cx="1085850" cy="130175"/>
          </a:xfrm>
          <a:custGeom>
            <a:avLst/>
            <a:gdLst/>
            <a:ahLst/>
            <a:cxnLst/>
            <a:rect l="l" t="t" r="r" b="b"/>
            <a:pathLst>
              <a:path w="1085850" h="130175">
                <a:moveTo>
                  <a:pt x="1049513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1049511" y="0"/>
                </a:lnTo>
                <a:lnTo>
                  <a:pt x="1063489" y="2840"/>
                </a:lnTo>
                <a:lnTo>
                  <a:pt x="1074936" y="10574"/>
                </a:lnTo>
                <a:lnTo>
                  <a:pt x="1082670" y="22021"/>
                </a:lnTo>
                <a:lnTo>
                  <a:pt x="1085510" y="35999"/>
                </a:lnTo>
                <a:lnTo>
                  <a:pt x="1085510" y="93550"/>
                </a:lnTo>
                <a:lnTo>
                  <a:pt x="1082670" y="107528"/>
                </a:lnTo>
                <a:lnTo>
                  <a:pt x="1074936" y="118975"/>
                </a:lnTo>
                <a:lnTo>
                  <a:pt x="1063489" y="126709"/>
                </a:lnTo>
                <a:lnTo>
                  <a:pt x="1049513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12166" y="7108516"/>
            <a:ext cx="14795" cy="13925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5287311" y="8045101"/>
            <a:ext cx="346710" cy="130175"/>
          </a:xfrm>
          <a:custGeom>
            <a:avLst/>
            <a:gdLst/>
            <a:ahLst/>
            <a:cxnLst/>
            <a:rect l="l" t="t" r="r" b="b"/>
            <a:pathLst>
              <a:path w="346710" h="130175">
                <a:moveTo>
                  <a:pt x="310367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310365" y="0"/>
                </a:lnTo>
                <a:lnTo>
                  <a:pt x="324343" y="2840"/>
                </a:lnTo>
                <a:lnTo>
                  <a:pt x="335790" y="10574"/>
                </a:lnTo>
                <a:lnTo>
                  <a:pt x="343524" y="22021"/>
                </a:lnTo>
                <a:lnTo>
                  <a:pt x="346365" y="35999"/>
                </a:lnTo>
                <a:lnTo>
                  <a:pt x="346365" y="93550"/>
                </a:lnTo>
                <a:lnTo>
                  <a:pt x="343524" y="107528"/>
                </a:lnTo>
                <a:lnTo>
                  <a:pt x="335790" y="118975"/>
                </a:lnTo>
                <a:lnTo>
                  <a:pt x="324343" y="126709"/>
                </a:lnTo>
                <a:lnTo>
                  <a:pt x="310367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99245" y="8045101"/>
            <a:ext cx="411480" cy="130175"/>
          </a:xfrm>
          <a:custGeom>
            <a:avLst/>
            <a:gdLst/>
            <a:ahLst/>
            <a:cxnLst/>
            <a:rect l="l" t="t" r="r" b="b"/>
            <a:pathLst>
              <a:path w="411479" h="130175">
                <a:moveTo>
                  <a:pt x="375359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375356" y="0"/>
                </a:lnTo>
                <a:lnTo>
                  <a:pt x="389334" y="2840"/>
                </a:lnTo>
                <a:lnTo>
                  <a:pt x="400781" y="10574"/>
                </a:lnTo>
                <a:lnTo>
                  <a:pt x="408516" y="22021"/>
                </a:lnTo>
                <a:lnTo>
                  <a:pt x="411356" y="35999"/>
                </a:lnTo>
                <a:lnTo>
                  <a:pt x="411356" y="93550"/>
                </a:lnTo>
                <a:lnTo>
                  <a:pt x="408516" y="107528"/>
                </a:lnTo>
                <a:lnTo>
                  <a:pt x="400781" y="118975"/>
                </a:lnTo>
                <a:lnTo>
                  <a:pt x="389334" y="126709"/>
                </a:lnTo>
                <a:lnTo>
                  <a:pt x="375359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69069" y="8222267"/>
            <a:ext cx="346710" cy="130175"/>
          </a:xfrm>
          <a:custGeom>
            <a:avLst/>
            <a:gdLst/>
            <a:ahLst/>
            <a:cxnLst/>
            <a:rect l="l" t="t" r="r" b="b"/>
            <a:pathLst>
              <a:path w="346710" h="130175">
                <a:moveTo>
                  <a:pt x="310368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310365" y="0"/>
                </a:lnTo>
                <a:lnTo>
                  <a:pt x="324343" y="2840"/>
                </a:lnTo>
                <a:lnTo>
                  <a:pt x="335790" y="10574"/>
                </a:lnTo>
                <a:lnTo>
                  <a:pt x="343524" y="22021"/>
                </a:lnTo>
                <a:lnTo>
                  <a:pt x="346365" y="35999"/>
                </a:lnTo>
                <a:lnTo>
                  <a:pt x="346365" y="93550"/>
                </a:lnTo>
                <a:lnTo>
                  <a:pt x="343524" y="107528"/>
                </a:lnTo>
                <a:lnTo>
                  <a:pt x="335790" y="118975"/>
                </a:lnTo>
                <a:lnTo>
                  <a:pt x="324343" y="126709"/>
                </a:lnTo>
                <a:lnTo>
                  <a:pt x="310368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93290" y="8222267"/>
            <a:ext cx="476884" cy="130175"/>
          </a:xfrm>
          <a:custGeom>
            <a:avLst/>
            <a:gdLst/>
            <a:ahLst/>
            <a:cxnLst/>
            <a:rect l="l" t="t" r="r" b="b"/>
            <a:pathLst>
              <a:path w="476885" h="130175">
                <a:moveTo>
                  <a:pt x="440350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440348" y="0"/>
                </a:lnTo>
                <a:lnTo>
                  <a:pt x="454326" y="2840"/>
                </a:lnTo>
                <a:lnTo>
                  <a:pt x="465773" y="10574"/>
                </a:lnTo>
                <a:lnTo>
                  <a:pt x="473507" y="22021"/>
                </a:lnTo>
                <a:lnTo>
                  <a:pt x="476348" y="35999"/>
                </a:lnTo>
                <a:lnTo>
                  <a:pt x="476348" y="93550"/>
                </a:lnTo>
                <a:lnTo>
                  <a:pt x="473507" y="107528"/>
                </a:lnTo>
                <a:lnTo>
                  <a:pt x="465773" y="118975"/>
                </a:lnTo>
                <a:lnTo>
                  <a:pt x="454326" y="126709"/>
                </a:lnTo>
                <a:lnTo>
                  <a:pt x="440350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03499" y="5591504"/>
            <a:ext cx="6318885" cy="276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2.</a:t>
            </a:r>
            <a:r>
              <a:rPr sz="1150" b="1" spc="6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입력·동작</a:t>
            </a:r>
            <a:r>
              <a:rPr sz="1150" b="1" spc="6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5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</a:t>
            </a:r>
            <a:r>
              <a:rPr sz="1150" b="1" spc="-5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150" b="1" spc="-5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2026.07.05</a:t>
            </a:r>
            <a:r>
              <a:rPr sz="1150" b="1" spc="6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개정:</a:t>
            </a:r>
            <a:r>
              <a:rPr sz="1150" b="1" spc="6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90" dirty="0">
                <a:solidFill>
                  <a:srgbClr val="FFFFFF"/>
                </a:solidFill>
                <a:latin typeface="Tahoma"/>
                <a:cs typeface="Tahoma"/>
              </a:rPr>
              <a:t>PDF</a:t>
            </a:r>
            <a:r>
              <a:rPr sz="115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병행)</a:t>
            </a:r>
            <a:endParaRPr sz="1150">
              <a:latin typeface="현대해상 고딕OTF Bold"/>
              <a:cs typeface="현대해상 고딕OTF Bol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현대해상 고딕OTF Bold"/>
              <a:cs typeface="현대해상 고딕OTF Bold"/>
            </a:endParaRPr>
          </a:p>
          <a:p>
            <a:pPr marL="12700">
              <a:lnSpc>
                <a:spcPct val="100000"/>
              </a:lnSpc>
            </a:pP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Adobe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45" dirty="0">
                <a:solidFill>
                  <a:srgbClr val="1A2333"/>
                </a:solidFill>
                <a:latin typeface="Yu Gothic"/>
                <a:cs typeface="Yu Gothic"/>
              </a:rPr>
              <a:t>Acrobat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변환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.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txt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85" dirty="0">
                <a:solidFill>
                  <a:srgbClr val="1A2333"/>
                </a:solidFill>
                <a:latin typeface="Yu Gothic"/>
                <a:cs typeface="Yu Gothic"/>
              </a:rPr>
              <a:t>1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개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+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PPT</a:t>
            </a:r>
            <a:r>
              <a:rPr sz="900" spc="4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2(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보장분석지·치료비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)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120" dirty="0">
                <a:solidFill>
                  <a:srgbClr val="1A2333"/>
                </a:solidFill>
                <a:latin typeface="Yu Gothic"/>
                <a:cs typeface="Yu Gothic"/>
              </a:rPr>
              <a:t>+</a:t>
            </a:r>
            <a:r>
              <a:rPr sz="900" spc="4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보장설명지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PDF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자동.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 marR="61594" indent="71120">
              <a:lnSpc>
                <a:spcPct val="129200"/>
              </a:lnSpc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spc="7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70" dirty="0">
                <a:solidFill>
                  <a:srgbClr val="0A3A6E"/>
                </a:solidFill>
                <a:latin typeface="Tahoma"/>
                <a:cs typeface="Tahoma"/>
              </a:rPr>
              <a:t>txt</a:t>
            </a:r>
            <a:r>
              <a:rPr sz="900" b="1" spc="8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+</a:t>
            </a:r>
            <a:r>
              <a:rPr sz="900" b="1" spc="90" dirty="0">
                <a:solidFill>
                  <a:srgbClr val="0A3A6E"/>
                </a:solidFill>
                <a:latin typeface="Tahoma"/>
                <a:cs typeface="Tahoma"/>
              </a:rPr>
              <a:t> PDF</a:t>
            </a:r>
            <a:r>
              <a:rPr sz="900" b="1" spc="8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둘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다</a:t>
            </a:r>
            <a:r>
              <a:rPr sz="900" b="1" spc="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입력</a:t>
            </a:r>
            <a:r>
              <a:rPr sz="900" b="1" spc="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가능(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OR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).</a:t>
            </a:r>
            <a:r>
              <a:rPr sz="900" b="1" spc="5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txt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깨짐(</a:t>
            </a:r>
            <a:r>
              <a:rPr sz="900" b="0" spc="10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_looks_broken</a:t>
            </a:r>
            <a:r>
              <a:rPr sz="850" spc="-140" dirty="0">
                <a:solidFill>
                  <a:srgbClr val="9A5B11"/>
                </a:solidFill>
                <a:latin typeface="Courier New"/>
                <a:cs typeface="Courier New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감지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시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PDF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를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Claude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비전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OCR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로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읽어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대체·보완.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둘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다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있으면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제목·담보키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건전성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비교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후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나은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소스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채택.</a:t>
            </a:r>
            <a:endParaRPr sz="90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spc="90" dirty="0">
                <a:solidFill>
                  <a:srgbClr val="0A3A6E"/>
                </a:solidFill>
                <a:latin typeface="Tahoma"/>
                <a:cs typeface="Tahoma"/>
              </a:rPr>
              <a:t>PDF</a:t>
            </a:r>
            <a:r>
              <a:rPr sz="900" b="1" spc="7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=</a:t>
            </a:r>
            <a:r>
              <a:rPr sz="900" b="1" spc="8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텍스트</a:t>
            </a:r>
            <a:r>
              <a:rPr sz="900" b="1" spc="3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없는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이미지·회전본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spc="-135" dirty="0">
                <a:solidFill>
                  <a:srgbClr val="1A2333"/>
                </a:solidFill>
                <a:latin typeface="Yu Gothic"/>
                <a:cs typeface="Yu Gothic"/>
              </a:rPr>
              <a:t>→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 pdftotext·tesseract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실패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비전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80" dirty="0">
                <a:solidFill>
                  <a:srgbClr val="0A3A6E"/>
                </a:solidFill>
                <a:latin typeface="Tahoma"/>
                <a:cs typeface="Tahoma"/>
              </a:rPr>
              <a:t>OCR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만</a:t>
            </a:r>
            <a:r>
              <a:rPr sz="900" b="1" spc="3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가능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pdf_to_txt</a:t>
            </a:r>
            <a:r>
              <a:rPr sz="850" spc="-150" dirty="0">
                <a:solidFill>
                  <a:srgbClr val="9A5B11"/>
                </a:solidFill>
                <a:latin typeface="Courier New"/>
                <a:cs typeface="Courier New"/>
              </a:rPr>
              <a:t> </a:t>
            </a:r>
            <a:r>
              <a:rPr sz="900" b="0" spc="-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,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ANTHROPIC_API_KEY</a:t>
            </a:r>
            <a:r>
              <a:rPr sz="900" spc="10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필요).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(구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§2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'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PDF</a:t>
            </a:r>
            <a:r>
              <a:rPr sz="900" spc="11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파싱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금지'는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이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규정으로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갱신)</a:t>
            </a:r>
            <a:endParaRPr sz="90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har char="-"/>
              <a:tabLst>
                <a:tab pos="83820" algn="l"/>
              </a:tabLst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줄단위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직독.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1인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1파일,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새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고객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시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이전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값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0.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고객명=파일명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우선.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행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삭제·이동·재정렬·폰트변경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금지(추가만).</a:t>
            </a:r>
            <a:endParaRPr sz="90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har char="-"/>
              <a:tabLst>
                <a:tab pos="83820" algn="l"/>
              </a:tabLst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회사명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3단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복원: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목록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회사열→별첨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제목→상품명.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발행사(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let:/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롯데)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전파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금지.</a:t>
            </a:r>
            <a:endParaRPr sz="90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har char="-"/>
              <a:tabLst>
                <a:tab pos="83820" algn="l"/>
              </a:tabLst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소스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순서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①별첨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보장현황(정본)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②세부가입현황(교차)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③한장보장표(검산).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깨진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별첨=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[확인]</a:t>
            </a:r>
            <a:r>
              <a:rPr sz="800" b="1" spc="5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→수기.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천장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≈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90%.</a:t>
            </a:r>
            <a:endParaRPr sz="900">
              <a:latin typeface="현대해상 고딕OTF Medium"/>
              <a:cs typeface="현대해상 고딕OTF Medium"/>
            </a:endParaRPr>
          </a:p>
          <a:p>
            <a:pPr>
              <a:lnSpc>
                <a:spcPct val="100000"/>
              </a:lnSpc>
            </a:pPr>
            <a:endParaRPr sz="1100">
              <a:latin typeface="현대해상 고딕OTF Medium"/>
              <a:cs typeface="현대해상 고딕OTF Medium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현대해상 고딕OTF Medium"/>
              <a:cs typeface="현대해상 고딕OTF Medium"/>
            </a:endParaRPr>
          </a:p>
          <a:p>
            <a:pPr marL="120650">
              <a:lnSpc>
                <a:spcPct val="100000"/>
              </a:lnSpc>
            </a:pP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3.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앱</a:t>
            </a:r>
            <a:r>
              <a:rPr sz="1150" b="1" spc="-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Tahoma"/>
                <a:cs typeface="Tahoma"/>
              </a:rPr>
              <a:t>UI</a:t>
            </a:r>
            <a:r>
              <a:rPr sz="11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150" b="1" spc="-1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2026.07.05)</a:t>
            </a:r>
            <a:endParaRPr sz="1150">
              <a:latin typeface="현대해상 고딕OTF Bold"/>
              <a:cs typeface="현대해상 고딕OTF Bold"/>
            </a:endParaRPr>
          </a:p>
          <a:p>
            <a:pPr marL="12700" marR="5080">
              <a:lnSpc>
                <a:spcPct val="129200"/>
              </a:lnSpc>
              <a:spcBef>
                <a:spcPts val="1215"/>
              </a:spcBef>
              <a:tabLst>
                <a:tab pos="903605" algn="l"/>
                <a:tab pos="1807210" algn="l"/>
              </a:tabLst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업로드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바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	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TXT</a:t>
            </a:r>
            <a:r>
              <a:rPr sz="850" spc="-10" dirty="0">
                <a:solidFill>
                  <a:srgbClr val="9A5B11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9A5B11"/>
                </a:solidFill>
                <a:latin typeface="HY신명조"/>
                <a:cs typeface="HY신명조"/>
              </a:rPr>
              <a:t>선택</a:t>
            </a:r>
            <a:r>
              <a:rPr sz="850" spc="335" dirty="0">
                <a:solidFill>
                  <a:srgbClr val="9A5B11"/>
                </a:solidFill>
                <a:latin typeface="HY신명조"/>
                <a:cs typeface="HY신명조"/>
              </a:rPr>
              <a:t> </a:t>
            </a:r>
            <a:r>
              <a:rPr sz="900" b="0" spc="-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+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	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PDF</a:t>
            </a:r>
            <a:r>
              <a:rPr sz="850" spc="10" dirty="0">
                <a:solidFill>
                  <a:srgbClr val="9A5B11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9A5B11"/>
                </a:solidFill>
                <a:latin typeface="HY신명조"/>
                <a:cs typeface="HY신명조"/>
              </a:rPr>
              <a:t>선택(선택)</a:t>
            </a:r>
            <a:r>
              <a:rPr sz="850" spc="350" dirty="0">
                <a:solidFill>
                  <a:srgbClr val="9A5B11"/>
                </a:solidFill>
                <a:latin typeface="HY신명조"/>
                <a:cs typeface="HY신명조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두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칸.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둘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중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하나만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있어도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분석.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txt→</a:t>
            </a:r>
            <a:r>
              <a:rPr sz="900" spc="9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file</a:t>
            </a:r>
            <a:r>
              <a:rPr sz="850" spc="-160" dirty="0">
                <a:solidFill>
                  <a:srgbClr val="9A5B11"/>
                </a:solidFill>
                <a:latin typeface="Courier New"/>
                <a:cs typeface="Courier New"/>
              </a:rPr>
              <a:t> 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,</a:t>
            </a:r>
            <a:r>
              <a:rPr sz="900" spc="4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pdf→</a:t>
            </a:r>
            <a:r>
              <a:rPr sz="900" spc="9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file2</a:t>
            </a:r>
            <a:r>
              <a:rPr sz="850" spc="120" dirty="0">
                <a:solidFill>
                  <a:srgbClr val="9A5B11"/>
                </a:solidFill>
                <a:latin typeface="Courier New"/>
                <a:cs typeface="Courier New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전송(</a:t>
            </a:r>
            <a:r>
              <a:rPr sz="900" spc="-10" dirty="0">
                <a:solidFill>
                  <a:srgbClr val="1A2333"/>
                </a:solidFill>
                <a:latin typeface="Yu Gothic"/>
                <a:cs typeface="Yu Gothic"/>
              </a:rPr>
              <a:t>pdf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단독이면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pdf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가</a:t>
            </a:r>
            <a:r>
              <a:rPr sz="900" b="0" spc="3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file</a:t>
            </a:r>
            <a:r>
              <a:rPr sz="850" spc="-165" dirty="0">
                <a:solidFill>
                  <a:srgbClr val="9A5B11"/>
                </a:solidFill>
                <a:latin typeface="Courier New"/>
                <a:cs typeface="Courier New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).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응답</a:t>
            </a:r>
            <a:r>
              <a:rPr sz="900" b="0" spc="3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source</a:t>
            </a:r>
            <a:r>
              <a:rPr sz="850" spc="-165" dirty="0">
                <a:solidFill>
                  <a:srgbClr val="9A5B11"/>
                </a:solidFill>
                <a:latin typeface="Courier New"/>
                <a:cs typeface="Courier New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에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채택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소스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표기.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1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03499" y="8645263"/>
            <a:ext cx="6317615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4.</a:t>
            </a:r>
            <a:r>
              <a:rPr sz="1150" b="1" spc="-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제외</a:t>
            </a:r>
            <a:r>
              <a:rPr sz="1150" b="1" spc="-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보험</a:t>
            </a:r>
            <a:r>
              <a:rPr sz="1150" b="1" spc="-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(이</a:t>
            </a:r>
            <a:r>
              <a:rPr sz="1150" b="1" spc="-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4가지만)</a:t>
            </a:r>
            <a:endParaRPr sz="1150">
              <a:latin typeface="현대해상 고딕OTF Bold"/>
              <a:cs typeface="현대해상 고딕OTF Bold"/>
            </a:endParaRPr>
          </a:p>
          <a:p>
            <a:pPr marL="12700" marR="5080">
              <a:lnSpc>
                <a:spcPct val="129200"/>
              </a:lnSpc>
              <a:spcBef>
                <a:spcPts val="1200"/>
              </a:spcBef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①실효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②미납해지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③농업인</a:t>
            </a:r>
            <a:r>
              <a:rPr sz="900" spc="70" dirty="0">
                <a:solidFill>
                  <a:srgbClr val="1A2333"/>
                </a:solidFill>
                <a:latin typeface="Yu Gothic"/>
                <a:cs typeface="Yu Gothic"/>
              </a:rPr>
              <a:t>NH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안전보험('농업인'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표기분만)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④자동차보험.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NH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농협생명·손보=포함.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치아·운전자상해=포 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함.</a:t>
            </a:r>
            <a:endParaRPr sz="900">
              <a:latin typeface="현대해상 고딕OTF Medium"/>
              <a:cs typeface="현대해상 고딕OTF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00" y="576000"/>
            <a:ext cx="6327599" cy="334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200" y="1570605"/>
            <a:ext cx="6327599" cy="3342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200" y="2565210"/>
            <a:ext cx="6327599" cy="3342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00" y="3382650"/>
            <a:ext cx="6327599" cy="3342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16200" y="3860925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8100" h="190500">
                <a:moveTo>
                  <a:pt x="38099" y="190499"/>
                </a:moveTo>
                <a:lnTo>
                  <a:pt x="0" y="190499"/>
                </a:lnTo>
                <a:lnTo>
                  <a:pt x="0" y="0"/>
                </a:lnTo>
                <a:lnTo>
                  <a:pt x="38099" y="0"/>
                </a:lnTo>
                <a:lnTo>
                  <a:pt x="38099" y="190499"/>
                </a:lnTo>
                <a:close/>
              </a:path>
            </a:pathLst>
          </a:custGeom>
          <a:solidFill>
            <a:srgbClr val="C8A1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6200" y="4621755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8100" h="190500">
                <a:moveTo>
                  <a:pt x="38099" y="190499"/>
                </a:moveTo>
                <a:lnTo>
                  <a:pt x="0" y="190499"/>
                </a:lnTo>
                <a:lnTo>
                  <a:pt x="0" y="0"/>
                </a:lnTo>
                <a:lnTo>
                  <a:pt x="38099" y="0"/>
                </a:lnTo>
                <a:lnTo>
                  <a:pt x="38099" y="190499"/>
                </a:lnTo>
                <a:close/>
              </a:path>
            </a:pathLst>
          </a:custGeom>
          <a:solidFill>
            <a:srgbClr val="C8A1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6200" y="6358410"/>
            <a:ext cx="6327775" cy="31750"/>
          </a:xfrm>
          <a:custGeom>
            <a:avLst/>
            <a:gdLst/>
            <a:ahLst/>
            <a:cxnLst/>
            <a:rect l="l" t="t" r="r" b="b"/>
            <a:pathLst>
              <a:path w="6327775" h="31750">
                <a:moveTo>
                  <a:pt x="6327600" y="0"/>
                </a:moveTo>
                <a:lnTo>
                  <a:pt x="6327600" y="31749"/>
                </a:lnTo>
                <a:lnTo>
                  <a:pt x="0" y="31749"/>
                </a:lnTo>
                <a:lnTo>
                  <a:pt x="0" y="0"/>
                </a:lnTo>
                <a:lnTo>
                  <a:pt x="6327600" y="0"/>
                </a:lnTo>
                <a:close/>
              </a:path>
            </a:pathLst>
          </a:custGeom>
          <a:solidFill>
            <a:srgbClr val="C8A14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200" y="6606161"/>
            <a:ext cx="6327599" cy="3342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6200" y="8663755"/>
            <a:ext cx="6327599" cy="3342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3499" y="633024"/>
            <a:ext cx="6322060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5.</a:t>
            </a:r>
            <a:r>
              <a:rPr sz="1150" b="1" spc="-4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건수·합계</a:t>
            </a:r>
            <a:endParaRPr sz="1150">
              <a:latin typeface="현대해상 고딕OTF Bold"/>
              <a:cs typeface="현대해상 고딕OTF Bold"/>
            </a:endParaRPr>
          </a:p>
          <a:p>
            <a:pPr marL="12700" marR="5080">
              <a:lnSpc>
                <a:spcPct val="129200"/>
              </a:lnSpc>
              <a:spcBef>
                <a:spcPts val="1200"/>
              </a:spcBef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최대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50건.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계약=열(</a:t>
            </a:r>
            <a:r>
              <a:rPr sz="900" spc="45" dirty="0">
                <a:solidFill>
                  <a:srgbClr val="1A2333"/>
                </a:solidFill>
                <a:latin typeface="Yu Gothic"/>
                <a:cs typeface="Yu Gothic"/>
              </a:rPr>
              <a:t>C~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).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담보행=가로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SUM(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동적,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하드코딩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).</a:t>
            </a:r>
            <a:r>
              <a:rPr sz="900" spc="9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미가입행도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합계칸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0(슬래시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아니면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SUM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).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보험료=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가로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SUM</a:t>
            </a:r>
            <a:r>
              <a:rPr sz="900" spc="4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숫자만.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빈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계약열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제거(</a:t>
            </a:r>
            <a:r>
              <a:rPr sz="900" spc="40" dirty="0">
                <a:solidFill>
                  <a:srgbClr val="1A2333"/>
                </a:solidFill>
                <a:latin typeface="Yu Gothic"/>
                <a:cs typeface="Yu Gothic"/>
              </a:rPr>
              <a:t>last_col=3+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계약수).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499" y="1627630"/>
            <a:ext cx="6204585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6.</a:t>
            </a:r>
            <a:r>
              <a:rPr sz="1150" b="1" spc="-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갱신/비갱신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(순서)</a:t>
            </a:r>
            <a:endParaRPr sz="1150">
              <a:latin typeface="현대해상 고딕OTF Bold"/>
              <a:cs typeface="현대해상 고딕OTF Bold"/>
            </a:endParaRPr>
          </a:p>
          <a:p>
            <a:pPr marL="12700" marR="5080">
              <a:lnSpc>
                <a:spcPct val="129200"/>
              </a:lnSpc>
              <a:spcBef>
                <a:spcPts val="1200"/>
              </a:spcBef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①"갱신형"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명시→갱신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②만기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9999→비갱신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③총회차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240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초과→비갱신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④납입기간==보장기간→갱신,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다르면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비갱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신.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일상배상책임=무조건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갱신.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499" y="2622235"/>
            <a:ext cx="94551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7.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수술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1~5종</a:t>
            </a:r>
            <a:endParaRPr sz="1150">
              <a:latin typeface="현대해상 고딕OTF Bold"/>
              <a:cs typeface="현대해상 고딕OTF 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3499" y="2986595"/>
            <a:ext cx="537718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상해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1행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+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질병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1행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2행.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종별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슬래시(20/50/100/500/1000).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다계약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종별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합산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슬래시.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PPT</a:t>
            </a:r>
            <a:r>
              <a:rPr sz="900" spc="8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동일.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1499" y="3439674"/>
            <a:ext cx="352552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8.</a:t>
            </a:r>
            <a:r>
              <a:rPr sz="1150" b="1" spc="1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담보</a:t>
            </a:r>
            <a:r>
              <a:rPr sz="1150" b="1" spc="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매핑</a:t>
            </a:r>
            <a:r>
              <a:rPr sz="1150" b="1" spc="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</a:t>
            </a:r>
            <a:r>
              <a:rPr sz="1150" b="1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열</a:t>
            </a:r>
            <a:r>
              <a:rPr sz="1150" b="1" spc="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담보명</a:t>
            </a:r>
            <a:r>
              <a:rPr sz="1150" b="1" spc="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6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동적,</a:t>
            </a:r>
            <a:r>
              <a:rPr sz="1150" b="1" spc="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행번호</a:t>
            </a:r>
            <a:r>
              <a:rPr sz="1150" b="1" spc="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하드코딩</a:t>
            </a:r>
            <a:r>
              <a:rPr sz="1150" b="1" spc="1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금지)</a:t>
            </a:r>
            <a:endParaRPr sz="1150">
              <a:latin typeface="현대해상 고딕OTF Bold"/>
              <a:cs typeface="현대해상 고딕OTF Bold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10271" y="5869273"/>
            <a:ext cx="518795" cy="130175"/>
          </a:xfrm>
          <a:custGeom>
            <a:avLst/>
            <a:gdLst/>
            <a:ahLst/>
            <a:cxnLst/>
            <a:rect l="l" t="t" r="r" b="b"/>
            <a:pathLst>
              <a:path w="518795" h="130175">
                <a:moveTo>
                  <a:pt x="482208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5"/>
                </a:lnTo>
                <a:lnTo>
                  <a:pt x="22021" y="2840"/>
                </a:lnTo>
                <a:lnTo>
                  <a:pt x="35999" y="0"/>
                </a:lnTo>
                <a:lnTo>
                  <a:pt x="482206" y="0"/>
                </a:lnTo>
                <a:lnTo>
                  <a:pt x="496184" y="2840"/>
                </a:lnTo>
                <a:lnTo>
                  <a:pt x="507631" y="10575"/>
                </a:lnTo>
                <a:lnTo>
                  <a:pt x="515365" y="22021"/>
                </a:lnTo>
                <a:lnTo>
                  <a:pt x="518205" y="35999"/>
                </a:lnTo>
                <a:lnTo>
                  <a:pt x="518205" y="93550"/>
                </a:lnTo>
                <a:lnTo>
                  <a:pt x="515365" y="107528"/>
                </a:lnTo>
                <a:lnTo>
                  <a:pt x="507631" y="118975"/>
                </a:lnTo>
                <a:lnTo>
                  <a:pt x="496184" y="126709"/>
                </a:lnTo>
                <a:lnTo>
                  <a:pt x="482208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75441" y="6062525"/>
            <a:ext cx="336550" cy="101600"/>
          </a:xfrm>
          <a:custGeom>
            <a:avLst/>
            <a:gdLst/>
            <a:ahLst/>
            <a:cxnLst/>
            <a:rect l="l" t="t" r="r" b="b"/>
            <a:pathLst>
              <a:path w="336550" h="101600">
                <a:moveTo>
                  <a:pt x="300097" y="101599"/>
                </a:moveTo>
                <a:lnTo>
                  <a:pt x="35997" y="101599"/>
                </a:lnTo>
                <a:lnTo>
                  <a:pt x="22021" y="98759"/>
                </a:lnTo>
                <a:lnTo>
                  <a:pt x="10574" y="91025"/>
                </a:lnTo>
                <a:lnTo>
                  <a:pt x="2840" y="79578"/>
                </a:lnTo>
                <a:lnTo>
                  <a:pt x="0" y="6560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5"/>
                </a:lnTo>
                <a:lnTo>
                  <a:pt x="22021" y="2840"/>
                </a:lnTo>
                <a:lnTo>
                  <a:pt x="35999" y="0"/>
                </a:lnTo>
                <a:lnTo>
                  <a:pt x="300095" y="0"/>
                </a:lnTo>
                <a:lnTo>
                  <a:pt x="314073" y="2840"/>
                </a:lnTo>
                <a:lnTo>
                  <a:pt x="325520" y="10575"/>
                </a:lnTo>
                <a:lnTo>
                  <a:pt x="333254" y="22021"/>
                </a:lnTo>
                <a:lnTo>
                  <a:pt x="336095" y="35999"/>
                </a:lnTo>
                <a:lnTo>
                  <a:pt x="336095" y="65600"/>
                </a:lnTo>
                <a:lnTo>
                  <a:pt x="333254" y="79578"/>
                </a:lnTo>
                <a:lnTo>
                  <a:pt x="325520" y="91025"/>
                </a:lnTo>
                <a:lnTo>
                  <a:pt x="314073" y="98759"/>
                </a:lnTo>
                <a:lnTo>
                  <a:pt x="300097" y="101599"/>
                </a:lnTo>
                <a:close/>
              </a:path>
            </a:pathLst>
          </a:custGeom>
          <a:solidFill>
            <a:srgbClr val="FBED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0799" y="3858768"/>
            <a:ext cx="6396355" cy="232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635" lvl="1" indent="-2292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82270" algn="l"/>
              </a:tabLst>
            </a:pPr>
            <a:r>
              <a:rPr sz="1000" b="1" spc="4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사망</a:t>
            </a:r>
            <a:endParaRPr sz="1000">
              <a:latin typeface="현대해상 고딕OTF Bold"/>
              <a:cs typeface="현대해상 고딕OTF Bold"/>
            </a:endParaRPr>
          </a:p>
          <a:p>
            <a:pPr marL="25400">
              <a:lnSpc>
                <a:spcPct val="100000"/>
              </a:lnSpc>
              <a:spcBef>
                <a:spcPts val="890"/>
              </a:spcBef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일반사망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생보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만기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9999(종신)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사망만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일반사망(종신)+상해사망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1:1.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암·재해·교통사망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표기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금지.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손보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질병사망</a:t>
            </a:r>
            <a:endParaRPr sz="900">
              <a:latin typeface="현대해상 고딕OTF Medium"/>
              <a:cs typeface="현대해상 고딕OTF Medium"/>
            </a:endParaRPr>
          </a:p>
          <a:p>
            <a:pPr marL="25400">
              <a:lnSpc>
                <a:spcPct val="100000"/>
              </a:lnSpc>
              <a:spcBef>
                <a:spcPts val="315"/>
              </a:spcBef>
            </a:pPr>
            <a:r>
              <a:rPr sz="900" b="0" spc="-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=80세.</a:t>
            </a:r>
            <a:endParaRPr sz="900">
              <a:latin typeface="현대해상 고딕OTF Medium"/>
              <a:cs typeface="현대해상 고딕OTF Medium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현대해상 고딕OTF Medium"/>
              <a:cs typeface="현대해상 고딕OTF Medium"/>
            </a:endParaRPr>
          </a:p>
          <a:p>
            <a:pPr marL="381635" lvl="1" indent="-229235">
              <a:lnSpc>
                <a:spcPct val="100000"/>
              </a:lnSpc>
              <a:buAutoNum type="arabicPeriod" startAt="2"/>
              <a:tabLst>
                <a:tab pos="382270" algn="l"/>
              </a:tabLst>
            </a:pPr>
            <a:r>
              <a:rPr sz="1000" b="1" spc="6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암</a:t>
            </a:r>
            <a:r>
              <a:rPr sz="1000" b="1" spc="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-4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(</a:t>
            </a:r>
            <a:r>
              <a:rPr sz="1000" b="1" spc="-4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000" b="1" spc="-4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2026.07.05</a:t>
            </a:r>
            <a:r>
              <a:rPr sz="1000" b="1" spc="1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6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무시사항</a:t>
            </a:r>
            <a:r>
              <a:rPr sz="1000" b="1" spc="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-2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확정)</a:t>
            </a:r>
            <a:endParaRPr sz="1000">
              <a:latin typeface="현대해상 고딕OTF Bold"/>
              <a:cs typeface="현대해상 고딕OTF Bold"/>
            </a:endParaRPr>
          </a:p>
          <a:p>
            <a:pPr marL="241300" marR="55244" lvl="2" indent="-66675">
              <a:lnSpc>
                <a:spcPct val="124700"/>
              </a:lnSpc>
              <a:spcBef>
                <a:spcPts val="720"/>
              </a:spcBef>
              <a:buFont typeface="Noto Sans KR"/>
              <a:buChar char="•"/>
              <a:tabLst>
                <a:tab pos="241935" algn="l"/>
              </a:tabLst>
            </a:pP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암진단비(유사암제외)→일반암.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유사암→유사암(갑.기.경.제)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환산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≤2020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÷10/≥2021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÷5.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2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표적항암=최댓값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1건.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6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중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입자='항암중입자방사선치료비'만(카티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제외).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하이클래스=비급여주요치료비.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소액암=유방·자궁경부·자궁체부·전립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선·방광.</a:t>
            </a:r>
            <a:endParaRPr sz="900">
              <a:latin typeface="현대해상 고딕OTF Medium"/>
              <a:cs typeface="현대해상 고딕OTF Medium"/>
            </a:endParaRPr>
          </a:p>
          <a:p>
            <a:pPr marL="241300" lvl="2" indent="-67310">
              <a:lnSpc>
                <a:spcPct val="100000"/>
              </a:lnSpc>
              <a:spcBef>
                <a:spcPts val="695"/>
              </a:spcBef>
              <a:buClr>
                <a:srgbClr val="1A2333"/>
              </a:buClr>
              <a:buFont typeface="Noto Sans KR"/>
              <a:buChar char="•"/>
              <a:tabLst>
                <a:tab pos="241935" algn="l"/>
              </a:tabLst>
            </a:pP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통합전이암</a:t>
            </a:r>
            <a:r>
              <a:rPr sz="1350" b="1" spc="19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1350" b="1" spc="19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0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개별담보·대표금액</a:t>
            </a:r>
            <a:r>
              <a:rPr sz="1350" b="1" spc="19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1개.</a:t>
            </a:r>
            <a:r>
              <a:rPr sz="1350" b="1" spc="19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반드시</a:t>
            </a:r>
            <a:r>
              <a:rPr sz="1350" b="0" spc="19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매칭·</a:t>
            </a:r>
            <a:r>
              <a:rPr sz="1350" baseline="6172" dirty="0">
                <a:solidFill>
                  <a:srgbClr val="1A2333"/>
                </a:solidFill>
                <a:latin typeface="Yu Gothic"/>
                <a:cs typeface="Yu Gothic"/>
              </a:rPr>
              <a:t>PPT·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보장설명지</a:t>
            </a:r>
            <a:r>
              <a:rPr sz="1350" b="0" spc="20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반영.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241300" marR="43180" lvl="2" indent="-66675">
              <a:lnSpc>
                <a:spcPct val="124700"/>
              </a:lnSpc>
              <a:spcBef>
                <a:spcPts val="330"/>
              </a:spcBef>
              <a:buClr>
                <a:srgbClr val="1A2333"/>
              </a:buClr>
              <a:buFont typeface="Noto Sans KR"/>
              <a:buChar char="•"/>
              <a:tabLst>
                <a:tab pos="241935" algn="l"/>
              </a:tabLst>
            </a:pPr>
            <a:r>
              <a:rPr sz="1350" b="1" spc="135" baseline="6172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무시</a:t>
            </a:r>
            <a:r>
              <a:rPr sz="1350" b="1" spc="10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4종(엑셀</a:t>
            </a:r>
            <a:r>
              <a:rPr sz="1350" b="1" spc="11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미기재):</a:t>
            </a:r>
            <a:r>
              <a:rPr sz="1350" b="1" spc="11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①전이암진단비(단독, </a:t>
            </a:r>
            <a:r>
              <a:rPr sz="1350" b="0" spc="12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'통합'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없는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것)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②표준금액·권장금액·적정금액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③고액항암치료비(=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표적+양성자+세기조절+카티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합계값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무시,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구성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치료비는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각각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개별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매핑)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④전이암진단비.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900" b="0" spc="3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50" u="sng" spc="229" dirty="0">
                <a:solidFill>
                  <a:srgbClr val="9A5B11"/>
                </a:solidFill>
                <a:uFill>
                  <a:solidFill>
                    <a:srgbClr val="995A1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850" dirty="0">
                <a:solidFill>
                  <a:srgbClr val="9A5B11"/>
                </a:solidFill>
                <a:latin typeface="HY신명조"/>
                <a:cs typeface="HY신명조"/>
              </a:rPr>
              <a:t>무시</a:t>
            </a:r>
            <a:r>
              <a:rPr sz="850" u="sng" spc="335" dirty="0">
                <a:solidFill>
                  <a:srgbClr val="9A5B11"/>
                </a:solidFill>
                <a:uFill>
                  <a:solidFill>
                    <a:srgbClr val="995A1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850" spc="229" dirty="0">
                <a:solidFill>
                  <a:srgbClr val="9A5B11"/>
                </a:solidFill>
                <a:latin typeface="Times New Roman"/>
                <a:cs typeface="Times New Roman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센티넬로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완전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드롭(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[확인]</a:t>
            </a:r>
            <a:r>
              <a:rPr sz="800" b="1" spc="7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에도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미노출).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세부보충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경로도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차단.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2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3499" y="6663184"/>
            <a:ext cx="4872355" cy="177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spc="7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150" b="1" spc="75" dirty="0">
                <a:solidFill>
                  <a:srgbClr val="FFFFFF"/>
                </a:solidFill>
                <a:latin typeface="Tahoma"/>
                <a:cs typeface="Tahoma"/>
              </a:rPr>
              <a:t>8.2b</a:t>
            </a:r>
            <a:r>
              <a:rPr sz="1150" b="1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spc="5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암주요치료비·하이클래스</a:t>
            </a:r>
            <a:r>
              <a:rPr sz="1150" b="1" spc="4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3형태</a:t>
            </a:r>
            <a:r>
              <a:rPr sz="1150" b="1" spc="4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6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(2026.07.05</a:t>
            </a:r>
            <a:r>
              <a:rPr sz="1150" b="1" spc="4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확정)</a:t>
            </a:r>
            <a:endParaRPr sz="1150">
              <a:latin typeface="현대해상 고딕OTF Bold"/>
              <a:cs typeface="현대해상 고딕OTF Bol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현대해상 고딕OTF Bold"/>
              <a:cs typeface="현대해상 고딕OTF Bold"/>
            </a:endParaRPr>
          </a:p>
          <a:p>
            <a:pPr marL="12700">
              <a:lnSpc>
                <a:spcPct val="100000"/>
              </a:lnSpc>
            </a:pP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암주요치료비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3형태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모두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대표행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'암주요치료비'로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통합:</a:t>
            </a:r>
            <a:endParaRPr sz="90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har char="-"/>
              <a:tabLst>
                <a:tab pos="83820" algn="l"/>
              </a:tabLst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암주요치료비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종합병원암주요치료비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상급종합병원암주요치료비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엑셀: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암주요치료비</a:t>
            </a:r>
            <a:endParaRPr sz="900">
              <a:latin typeface="현대해상 고딕OTF Bold"/>
              <a:cs typeface="현대해상 고딕OTF Bold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spc="85" dirty="0">
                <a:solidFill>
                  <a:srgbClr val="0A3A6E"/>
                </a:solidFill>
                <a:latin typeface="Tahoma"/>
                <a:cs typeface="Tahoma"/>
              </a:rPr>
              <a:t>PPT</a:t>
            </a:r>
            <a:r>
              <a:rPr sz="900" b="1" spc="7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표시</a:t>
            </a:r>
            <a:r>
              <a:rPr sz="900" b="1" spc="3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상급종합병원암주요치료비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(폼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라벨)</a:t>
            </a:r>
            <a:endParaRPr sz="90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설명지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엑셀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카피</a:t>
            </a:r>
            <a:r>
              <a:rPr sz="900" b="1" spc="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(coverage_benchmark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가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엑셀값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읽음</a:t>
            </a:r>
            <a:r>
              <a:rPr sz="900" spc="40" dirty="0">
                <a:solidFill>
                  <a:srgbClr val="1A2333"/>
                </a:solidFill>
                <a:latin typeface="Yu Gothic"/>
                <a:cs typeface="Yu Gothic"/>
              </a:rPr>
              <a:t>)</a:t>
            </a:r>
            <a:endParaRPr sz="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하이클래스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비급여주요치료비도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동일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3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형태:</a:t>
            </a:r>
            <a:endParaRPr sz="900">
              <a:latin typeface="현대해상 고딕OTF Bold"/>
              <a:cs typeface="현대해상 고딕OTF Bold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har char="-"/>
              <a:tabLst>
                <a:tab pos="83820" algn="l"/>
              </a:tabLst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하이클래스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비급여주요치료비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엑셀: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하이클래스(암)</a:t>
            </a:r>
            <a:endParaRPr sz="900">
              <a:latin typeface="현대해상 고딕OTF Bold"/>
              <a:cs typeface="현대해상 고딕OTF Bold"/>
            </a:endParaRPr>
          </a:p>
          <a:p>
            <a:pPr marL="92710" indent="-80645">
              <a:lnSpc>
                <a:spcPct val="100000"/>
              </a:lnSpc>
              <a:spcBef>
                <a:spcPts val="315"/>
              </a:spcBef>
              <a:buChar char="-"/>
              <a:tabLst>
                <a:tab pos="93345" algn="l"/>
              </a:tabLst>
            </a:pP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PPT</a:t>
            </a:r>
            <a:r>
              <a:rPr sz="900" spc="3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120" dirty="0">
                <a:solidFill>
                  <a:srgbClr val="1A2333"/>
                </a:solidFill>
                <a:latin typeface="Yu Gothic"/>
                <a:cs typeface="Yu Gothic"/>
              </a:rPr>
              <a:t>=</a:t>
            </a:r>
            <a:r>
              <a:rPr sz="900" spc="3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상급병원하이클래스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설명지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카피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※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엑셀=대표1행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통합,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PPT=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상급종합병원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라벨,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설명지=엑셀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그대로.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3층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동일값(등식1·3).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3499" y="8720780"/>
            <a:ext cx="6334760" cy="124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8.3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뇌·심장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14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—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각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축</a:t>
            </a:r>
            <a:r>
              <a:rPr sz="1150" b="1" spc="9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개별·전파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금지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(2대주요치료비만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예외)</a:t>
            </a:r>
            <a:endParaRPr sz="1150">
              <a:latin typeface="현대해상 고딕OTF Bold"/>
              <a:cs typeface="현대해상 고딕OTF Bold"/>
            </a:endParaRPr>
          </a:p>
          <a:p>
            <a:pPr marL="12700" marR="5080">
              <a:lnSpc>
                <a:spcPct val="129200"/>
              </a:lnSpc>
              <a:spcBef>
                <a:spcPts val="1200"/>
              </a:spcBef>
            </a:pP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허혈성진단비·허혈심장질환진단→'허혈성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진단비'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행.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허혈성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단독가입=뇌혈관처럼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별도(전보험사,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지점장 </a:t>
            </a:r>
            <a:r>
              <a:rPr sz="900" b="1" spc="-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2026.07.05):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허혈성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진단비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행은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단독담보만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채운다.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어떤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묶음(특정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Ⅰ·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순환계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등)의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허혈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구성질환도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허혈성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행에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안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씀 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(메리츠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심장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Ⅰ→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허혈성만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예외적 앵커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유지).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허혈성수술비→허혈성수술비.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심장수술비→심장수술비.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라이나/</a:t>
            </a:r>
            <a:r>
              <a:rPr sz="900" spc="-10" dirty="0">
                <a:solidFill>
                  <a:srgbClr val="1A2333"/>
                </a:solidFill>
                <a:latin typeface="Yu Gothic"/>
                <a:cs typeface="Yu Gothic"/>
              </a:rPr>
              <a:t>AIA/AIG/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우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체국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'뇌혈관진단'=실제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뇌졸증/뇌출혈(세부가입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확인,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'뇌혈관'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표기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오해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주의).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2대주요치료비=뇌혈관·심장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두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칸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동액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동시.</a:t>
            </a:r>
            <a:endParaRPr sz="900">
              <a:latin typeface="현대해상 고딕OTF Medium"/>
              <a:cs typeface="현대해상 고딕OTF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6200" y="576000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8100" h="190500">
                <a:moveTo>
                  <a:pt x="38099" y="190499"/>
                </a:moveTo>
                <a:lnTo>
                  <a:pt x="0" y="190499"/>
                </a:lnTo>
                <a:lnTo>
                  <a:pt x="0" y="0"/>
                </a:lnTo>
                <a:lnTo>
                  <a:pt x="38099" y="0"/>
                </a:lnTo>
                <a:lnTo>
                  <a:pt x="38099" y="190499"/>
                </a:lnTo>
                <a:close/>
              </a:path>
            </a:pathLst>
          </a:custGeom>
          <a:solidFill>
            <a:srgbClr val="C8A1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6200" y="5947794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8100" h="190500">
                <a:moveTo>
                  <a:pt x="38099" y="190499"/>
                </a:moveTo>
                <a:lnTo>
                  <a:pt x="0" y="190499"/>
                </a:lnTo>
                <a:lnTo>
                  <a:pt x="0" y="0"/>
                </a:lnTo>
                <a:lnTo>
                  <a:pt x="38099" y="0"/>
                </a:lnTo>
                <a:lnTo>
                  <a:pt x="38099" y="190499"/>
                </a:lnTo>
                <a:close/>
              </a:path>
            </a:pathLst>
          </a:custGeom>
          <a:solidFill>
            <a:srgbClr val="C8A1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6200" y="7062954"/>
            <a:ext cx="38100" cy="192405"/>
          </a:xfrm>
          <a:custGeom>
            <a:avLst/>
            <a:gdLst/>
            <a:ahLst/>
            <a:cxnLst/>
            <a:rect l="l" t="t" r="r" b="b"/>
            <a:pathLst>
              <a:path w="38100" h="192404">
                <a:moveTo>
                  <a:pt x="38099" y="192173"/>
                </a:moveTo>
                <a:lnTo>
                  <a:pt x="0" y="192173"/>
                </a:lnTo>
                <a:lnTo>
                  <a:pt x="0" y="0"/>
                </a:lnTo>
                <a:lnTo>
                  <a:pt x="38099" y="0"/>
                </a:lnTo>
                <a:lnTo>
                  <a:pt x="38099" y="192173"/>
                </a:lnTo>
                <a:close/>
              </a:path>
            </a:pathLst>
          </a:custGeom>
          <a:solidFill>
            <a:srgbClr val="C8A1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6200" y="7826180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8100" h="190500">
                <a:moveTo>
                  <a:pt x="38099" y="190499"/>
                </a:moveTo>
                <a:lnTo>
                  <a:pt x="0" y="190499"/>
                </a:lnTo>
                <a:lnTo>
                  <a:pt x="0" y="0"/>
                </a:lnTo>
                <a:lnTo>
                  <a:pt x="38099" y="0"/>
                </a:lnTo>
                <a:lnTo>
                  <a:pt x="38099" y="190499"/>
                </a:lnTo>
                <a:close/>
              </a:path>
            </a:pathLst>
          </a:custGeom>
          <a:solidFill>
            <a:srgbClr val="C8A14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00" y="8659010"/>
            <a:ext cx="6327599" cy="3342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430013" y="881780"/>
            <a:ext cx="336550" cy="101600"/>
          </a:xfrm>
          <a:custGeom>
            <a:avLst/>
            <a:gdLst/>
            <a:ahLst/>
            <a:cxnLst/>
            <a:rect l="l" t="t" r="r" b="b"/>
            <a:pathLst>
              <a:path w="336550" h="101600">
                <a:moveTo>
                  <a:pt x="300096" y="101599"/>
                </a:moveTo>
                <a:lnTo>
                  <a:pt x="35998" y="101599"/>
                </a:lnTo>
                <a:lnTo>
                  <a:pt x="22021" y="98759"/>
                </a:lnTo>
                <a:lnTo>
                  <a:pt x="10574" y="91025"/>
                </a:lnTo>
                <a:lnTo>
                  <a:pt x="2840" y="79578"/>
                </a:lnTo>
                <a:lnTo>
                  <a:pt x="0" y="6560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5"/>
                </a:lnTo>
                <a:lnTo>
                  <a:pt x="22021" y="2840"/>
                </a:lnTo>
                <a:lnTo>
                  <a:pt x="35999" y="0"/>
                </a:lnTo>
                <a:lnTo>
                  <a:pt x="300095" y="0"/>
                </a:lnTo>
                <a:lnTo>
                  <a:pt x="314073" y="2840"/>
                </a:lnTo>
                <a:lnTo>
                  <a:pt x="325520" y="10575"/>
                </a:lnTo>
                <a:lnTo>
                  <a:pt x="333254" y="22021"/>
                </a:lnTo>
                <a:lnTo>
                  <a:pt x="336095" y="35999"/>
                </a:lnTo>
                <a:lnTo>
                  <a:pt x="336095" y="65600"/>
                </a:lnTo>
                <a:lnTo>
                  <a:pt x="333254" y="79578"/>
                </a:lnTo>
                <a:lnTo>
                  <a:pt x="325520" y="91025"/>
                </a:lnTo>
                <a:lnTo>
                  <a:pt x="314073" y="98759"/>
                </a:lnTo>
                <a:lnTo>
                  <a:pt x="300096" y="101599"/>
                </a:lnTo>
                <a:close/>
              </a:path>
            </a:pathLst>
          </a:custGeom>
          <a:solidFill>
            <a:srgbClr val="FBED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331" y="1397188"/>
            <a:ext cx="736600" cy="130175"/>
          </a:xfrm>
          <a:custGeom>
            <a:avLst/>
            <a:gdLst/>
            <a:ahLst/>
            <a:cxnLst/>
            <a:rect l="l" t="t" r="r" b="b"/>
            <a:pathLst>
              <a:path w="736600" h="130175">
                <a:moveTo>
                  <a:pt x="700315" y="129549"/>
                </a:moveTo>
                <a:lnTo>
                  <a:pt x="35998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700313" y="0"/>
                </a:lnTo>
                <a:lnTo>
                  <a:pt x="714291" y="2840"/>
                </a:lnTo>
                <a:lnTo>
                  <a:pt x="725738" y="10574"/>
                </a:lnTo>
                <a:lnTo>
                  <a:pt x="733473" y="22021"/>
                </a:lnTo>
                <a:lnTo>
                  <a:pt x="736313" y="35999"/>
                </a:lnTo>
                <a:lnTo>
                  <a:pt x="736313" y="93550"/>
                </a:lnTo>
                <a:lnTo>
                  <a:pt x="733473" y="107528"/>
                </a:lnTo>
                <a:lnTo>
                  <a:pt x="725738" y="118975"/>
                </a:lnTo>
                <a:lnTo>
                  <a:pt x="714291" y="126709"/>
                </a:lnTo>
                <a:lnTo>
                  <a:pt x="700315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7643" y="2653430"/>
            <a:ext cx="336550" cy="101600"/>
          </a:xfrm>
          <a:custGeom>
            <a:avLst/>
            <a:gdLst/>
            <a:ahLst/>
            <a:cxnLst/>
            <a:rect l="l" t="t" r="r" b="b"/>
            <a:pathLst>
              <a:path w="336550" h="101600">
                <a:moveTo>
                  <a:pt x="300097" y="101599"/>
                </a:moveTo>
                <a:lnTo>
                  <a:pt x="35998" y="101599"/>
                </a:lnTo>
                <a:lnTo>
                  <a:pt x="22021" y="98759"/>
                </a:lnTo>
                <a:lnTo>
                  <a:pt x="10574" y="91025"/>
                </a:lnTo>
                <a:lnTo>
                  <a:pt x="2840" y="79578"/>
                </a:lnTo>
                <a:lnTo>
                  <a:pt x="0" y="6560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5"/>
                </a:lnTo>
                <a:lnTo>
                  <a:pt x="22021" y="2840"/>
                </a:lnTo>
                <a:lnTo>
                  <a:pt x="35999" y="0"/>
                </a:lnTo>
                <a:lnTo>
                  <a:pt x="300095" y="0"/>
                </a:lnTo>
                <a:lnTo>
                  <a:pt x="314073" y="2840"/>
                </a:lnTo>
                <a:lnTo>
                  <a:pt x="325520" y="10575"/>
                </a:lnTo>
                <a:lnTo>
                  <a:pt x="333254" y="22021"/>
                </a:lnTo>
                <a:lnTo>
                  <a:pt x="336095" y="35999"/>
                </a:lnTo>
                <a:lnTo>
                  <a:pt x="336095" y="65600"/>
                </a:lnTo>
                <a:lnTo>
                  <a:pt x="333254" y="79578"/>
                </a:lnTo>
                <a:lnTo>
                  <a:pt x="325520" y="91025"/>
                </a:lnTo>
                <a:lnTo>
                  <a:pt x="314073" y="98759"/>
                </a:lnTo>
                <a:lnTo>
                  <a:pt x="300097" y="101599"/>
                </a:lnTo>
                <a:close/>
              </a:path>
            </a:pathLst>
          </a:custGeom>
          <a:solidFill>
            <a:srgbClr val="FBED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06722" y="4961249"/>
            <a:ext cx="336550" cy="101600"/>
          </a:xfrm>
          <a:custGeom>
            <a:avLst/>
            <a:gdLst/>
            <a:ahLst/>
            <a:cxnLst/>
            <a:rect l="l" t="t" r="r" b="b"/>
            <a:pathLst>
              <a:path w="336550" h="101600">
                <a:moveTo>
                  <a:pt x="300097" y="101599"/>
                </a:moveTo>
                <a:lnTo>
                  <a:pt x="35997" y="101599"/>
                </a:lnTo>
                <a:lnTo>
                  <a:pt x="22021" y="98759"/>
                </a:lnTo>
                <a:lnTo>
                  <a:pt x="10574" y="91025"/>
                </a:lnTo>
                <a:lnTo>
                  <a:pt x="2840" y="79578"/>
                </a:lnTo>
                <a:lnTo>
                  <a:pt x="0" y="6560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300095" y="0"/>
                </a:lnTo>
                <a:lnTo>
                  <a:pt x="314073" y="2840"/>
                </a:lnTo>
                <a:lnTo>
                  <a:pt x="325520" y="10574"/>
                </a:lnTo>
                <a:lnTo>
                  <a:pt x="333254" y="22021"/>
                </a:lnTo>
                <a:lnTo>
                  <a:pt x="336095" y="35999"/>
                </a:lnTo>
                <a:lnTo>
                  <a:pt x="336095" y="65600"/>
                </a:lnTo>
                <a:lnTo>
                  <a:pt x="333254" y="79578"/>
                </a:lnTo>
                <a:lnTo>
                  <a:pt x="325520" y="91025"/>
                </a:lnTo>
                <a:lnTo>
                  <a:pt x="314073" y="98759"/>
                </a:lnTo>
                <a:lnTo>
                  <a:pt x="300097" y="101599"/>
                </a:lnTo>
                <a:close/>
              </a:path>
            </a:pathLst>
          </a:custGeom>
          <a:solidFill>
            <a:srgbClr val="FBED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66473" y="5476658"/>
            <a:ext cx="961390" cy="130175"/>
          </a:xfrm>
          <a:custGeom>
            <a:avLst/>
            <a:gdLst/>
            <a:ahLst/>
            <a:cxnLst/>
            <a:rect l="l" t="t" r="r" b="b"/>
            <a:pathLst>
              <a:path w="961389" h="130175">
                <a:moveTo>
                  <a:pt x="924999" y="129549"/>
                </a:moveTo>
                <a:lnTo>
                  <a:pt x="35997" y="129549"/>
                </a:lnTo>
                <a:lnTo>
                  <a:pt x="22021" y="126709"/>
                </a:lnTo>
                <a:lnTo>
                  <a:pt x="10574" y="118975"/>
                </a:lnTo>
                <a:lnTo>
                  <a:pt x="2840" y="107528"/>
                </a:lnTo>
                <a:lnTo>
                  <a:pt x="0" y="9355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924997" y="0"/>
                </a:lnTo>
                <a:lnTo>
                  <a:pt x="938975" y="2840"/>
                </a:lnTo>
                <a:lnTo>
                  <a:pt x="950422" y="10574"/>
                </a:lnTo>
                <a:lnTo>
                  <a:pt x="958157" y="22021"/>
                </a:lnTo>
                <a:lnTo>
                  <a:pt x="960997" y="35999"/>
                </a:lnTo>
                <a:lnTo>
                  <a:pt x="960997" y="93550"/>
                </a:lnTo>
                <a:lnTo>
                  <a:pt x="958157" y="107528"/>
                </a:lnTo>
                <a:lnTo>
                  <a:pt x="950422" y="118975"/>
                </a:lnTo>
                <a:lnTo>
                  <a:pt x="938975" y="126709"/>
                </a:lnTo>
                <a:lnTo>
                  <a:pt x="924999" y="129549"/>
                </a:lnTo>
                <a:close/>
              </a:path>
            </a:pathLst>
          </a:custGeom>
          <a:solidFill>
            <a:srgbClr val="ED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6200" y="6430739"/>
            <a:ext cx="336550" cy="101600"/>
          </a:xfrm>
          <a:custGeom>
            <a:avLst/>
            <a:gdLst/>
            <a:ahLst/>
            <a:cxnLst/>
            <a:rect l="l" t="t" r="r" b="b"/>
            <a:pathLst>
              <a:path w="336550" h="101600">
                <a:moveTo>
                  <a:pt x="300097" y="101599"/>
                </a:moveTo>
                <a:lnTo>
                  <a:pt x="35997" y="101599"/>
                </a:lnTo>
                <a:lnTo>
                  <a:pt x="22021" y="98759"/>
                </a:lnTo>
                <a:lnTo>
                  <a:pt x="10574" y="91025"/>
                </a:lnTo>
                <a:lnTo>
                  <a:pt x="2840" y="79578"/>
                </a:lnTo>
                <a:lnTo>
                  <a:pt x="0" y="6560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5"/>
                </a:lnTo>
                <a:lnTo>
                  <a:pt x="22021" y="2840"/>
                </a:lnTo>
                <a:lnTo>
                  <a:pt x="35999" y="0"/>
                </a:lnTo>
                <a:lnTo>
                  <a:pt x="300095" y="0"/>
                </a:lnTo>
                <a:lnTo>
                  <a:pt x="314073" y="2840"/>
                </a:lnTo>
                <a:lnTo>
                  <a:pt x="325520" y="10575"/>
                </a:lnTo>
                <a:lnTo>
                  <a:pt x="333254" y="22021"/>
                </a:lnTo>
                <a:lnTo>
                  <a:pt x="336095" y="35999"/>
                </a:lnTo>
                <a:lnTo>
                  <a:pt x="336095" y="65600"/>
                </a:lnTo>
                <a:lnTo>
                  <a:pt x="333254" y="79578"/>
                </a:lnTo>
                <a:lnTo>
                  <a:pt x="325520" y="91025"/>
                </a:lnTo>
                <a:lnTo>
                  <a:pt x="314073" y="98759"/>
                </a:lnTo>
                <a:lnTo>
                  <a:pt x="300097" y="101599"/>
                </a:lnTo>
                <a:close/>
              </a:path>
            </a:pathLst>
          </a:custGeom>
          <a:solidFill>
            <a:srgbClr val="FBED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3499" y="573843"/>
            <a:ext cx="6336665" cy="86723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8.3.1</a:t>
            </a:r>
            <a:r>
              <a:rPr sz="1000" b="1" spc="1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심장·뇌</a:t>
            </a:r>
            <a:r>
              <a:rPr sz="1000" b="1" spc="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6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묶음담보</a:t>
            </a:r>
            <a:r>
              <a:rPr sz="1000" b="1" spc="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-4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(</a:t>
            </a:r>
            <a:r>
              <a:rPr sz="1000" b="1" spc="-4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000" b="1" spc="-4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2026.07.05</a:t>
            </a:r>
            <a:r>
              <a:rPr sz="1000" b="1" spc="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6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배증버그</a:t>
            </a:r>
            <a:r>
              <a:rPr sz="1000" b="1" spc="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-2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수정)</a:t>
            </a:r>
            <a:endParaRPr sz="1000" dirty="0">
              <a:latin typeface="현대해상 고딕OTF Bold"/>
              <a:cs typeface="현대해상 고딕OTF Bold"/>
            </a:endParaRPr>
          </a:p>
          <a:p>
            <a:pPr marL="12700" marR="12065">
              <a:lnSpc>
                <a:spcPct val="129200"/>
              </a:lnSpc>
              <a:spcBef>
                <a:spcPts val="575"/>
              </a:spcBef>
            </a:pP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공통: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묶음=구성질환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마스터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행에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등액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각각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기재(끝열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가로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SUM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이라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세로중복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없음).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매핑불가=심장블록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하단</a:t>
            </a:r>
            <a:r>
              <a:rPr sz="900" b="0" spc="3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[확인]</a:t>
            </a:r>
            <a:r>
              <a:rPr sz="800" b="1" spc="36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큐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누락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뇌질환진단비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Ⅰ/Ⅱ·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심장질환진단비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Ⅰ/Ⅱ</a:t>
            </a:r>
            <a:r>
              <a:rPr sz="900" b="1" spc="13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70" dirty="0">
                <a:solidFill>
                  <a:srgbClr val="0A3A6E"/>
                </a:solidFill>
                <a:latin typeface="Tahoma"/>
                <a:cs typeface="Tahoma"/>
              </a:rPr>
              <a:t>(</a:t>
            </a:r>
            <a:r>
              <a:rPr sz="900" b="1" spc="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메리츠</a:t>
            </a:r>
            <a:r>
              <a:rPr sz="900" b="1" spc="8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어린이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등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):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0" spc="-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심장</a:t>
            </a:r>
            <a:r>
              <a:rPr sz="900" spc="-25" dirty="0">
                <a:solidFill>
                  <a:srgbClr val="1A2333"/>
                </a:solidFill>
                <a:latin typeface="Yu Gothic"/>
                <a:cs typeface="Yu Gothic"/>
              </a:rPr>
              <a:t>Ⅱ→</a:t>
            </a:r>
            <a:r>
              <a:rPr sz="900" b="0" spc="-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급성심근경색·</a:t>
            </a:r>
            <a:r>
              <a:rPr sz="900" spc="-25" dirty="0">
                <a:solidFill>
                  <a:srgbClr val="1A2333"/>
                </a:solidFill>
                <a:latin typeface="Yu Gothic"/>
                <a:cs typeface="Yu Gothic"/>
              </a:rPr>
              <a:t>Ⅰ→</a:t>
            </a:r>
            <a:r>
              <a:rPr sz="900" b="0" spc="-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허혈성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진단비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뇌질환</a:t>
            </a:r>
            <a:r>
              <a:rPr sz="900" spc="-10" dirty="0">
                <a:solidFill>
                  <a:srgbClr val="1A2333"/>
                </a:solidFill>
                <a:latin typeface="Yu Gothic"/>
                <a:cs typeface="Yu Gothic"/>
              </a:rPr>
              <a:t>Ⅱ→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뇌졸증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 marR="18415">
              <a:lnSpc>
                <a:spcPct val="129200"/>
              </a:lnSpc>
            </a:pPr>
            <a:r>
              <a:rPr sz="900" spc="-10" dirty="0">
                <a:solidFill>
                  <a:srgbClr val="1A2333"/>
                </a:solidFill>
                <a:latin typeface="Yu Gothic"/>
                <a:cs typeface="Yu Gothic"/>
              </a:rPr>
              <a:t>·Ⅰ→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뇌혈관진단비.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배증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방지: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이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매핑을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세부보충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dedup(</a:t>
            </a:r>
            <a:r>
              <a:rPr sz="900" spc="9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_dedup_std</a:t>
            </a:r>
            <a:r>
              <a:rPr sz="850" spc="-155" dirty="0">
                <a:solidFill>
                  <a:srgbClr val="9A5B11"/>
                </a:solidFill>
                <a:latin typeface="Courier New"/>
                <a:cs typeface="Courier New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)과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45" dirty="0">
                <a:solidFill>
                  <a:srgbClr val="1A2333"/>
                </a:solidFill>
                <a:latin typeface="Yu Gothic"/>
                <a:cs typeface="Yu Gothic"/>
              </a:rPr>
              <a:t>build_excel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양쪽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일치시켜야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함(불일치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시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별첨+세부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이중가산=값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2배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버그.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양예서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검증: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뇌혈관600·뇌졸증2400·허혈성600·급성심근3000).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 marR="79375" indent="71120">
              <a:lnSpc>
                <a:spcPct val="129200"/>
              </a:lnSpc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90" dirty="0">
                <a:solidFill>
                  <a:srgbClr val="0A3A6E"/>
                </a:solidFill>
                <a:latin typeface="Tahoma"/>
                <a:cs typeface="Tahoma"/>
              </a:rPr>
              <a:t>BARUM</a:t>
            </a:r>
            <a:r>
              <a:rPr sz="900" b="1" spc="5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10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사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질병코드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분류표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정본(2026.07.05</a:t>
            </a:r>
            <a:r>
              <a:rPr sz="900" b="1" spc="1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지점장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확정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·</a:t>
            </a:r>
            <a:r>
              <a:rPr sz="900" b="1" spc="1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0" dirty="0">
                <a:solidFill>
                  <a:srgbClr val="0A3A6E"/>
                </a:solidFill>
                <a:latin typeface="Tahoma"/>
                <a:cs typeface="Tahoma"/>
              </a:rPr>
              <a:t>DB·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현대·흥국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재수정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반영,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라벨</a:t>
            </a:r>
            <a:r>
              <a:rPr sz="900" b="1" spc="1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아닌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회사별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표대 </a:t>
            </a:r>
            <a:r>
              <a:rPr sz="900" b="1" spc="-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로):</a:t>
            </a:r>
            <a:endParaRPr sz="900" dirty="0">
              <a:latin typeface="현대해상 고딕OTF Bold"/>
              <a:cs typeface="현대해상 고딕OTF Bold"/>
            </a:endParaRPr>
          </a:p>
          <a:p>
            <a:pPr marL="12700" marR="45720" indent="71120">
              <a:lnSpc>
                <a:spcPct val="129200"/>
              </a:lnSpc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[흥국]</a:t>
            </a:r>
            <a:r>
              <a:rPr sz="900" b="1" spc="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특정심혈관질환(기타심장부정맥제외)=협심증+허혈성+빈맥+심부전(</a:t>
            </a:r>
            <a:r>
              <a:rPr sz="900" spc="70" dirty="0">
                <a:solidFill>
                  <a:srgbClr val="1A2333"/>
                </a:solidFill>
                <a:latin typeface="Yu Gothic"/>
                <a:cs typeface="Yu Gothic"/>
              </a:rPr>
              <a:t>I20·24·25·47·48·50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(기타심장부정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맥)=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I49→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부정맥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심근병증(허혈성제외)=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I42·43</a:t>
            </a:r>
            <a:r>
              <a:rPr sz="900" spc="11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-135" dirty="0">
                <a:solidFill>
                  <a:srgbClr val="1A2333"/>
                </a:solidFill>
                <a:latin typeface="Yu Gothic"/>
                <a:cs typeface="Yu Gothic"/>
              </a:rPr>
              <a:t>/</a:t>
            </a:r>
            <a:r>
              <a:rPr sz="900" spc="11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주요심장염증=</a:t>
            </a:r>
            <a:r>
              <a:rPr sz="900" spc="70" dirty="0">
                <a:solidFill>
                  <a:srgbClr val="1A2333"/>
                </a:solidFill>
                <a:latin typeface="Yu Gothic"/>
                <a:cs typeface="Yu Gothic"/>
              </a:rPr>
              <a:t>I30~41→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염증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허혈성심질환진단비=단독.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[롯데]</a:t>
            </a:r>
            <a:r>
              <a:rPr sz="900" b="1" spc="8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4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특정심장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Ⅰ=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급성심근경색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(I21~23·46.0)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-135" dirty="0">
                <a:solidFill>
                  <a:srgbClr val="1A2333"/>
                </a:solidFill>
                <a:latin typeface="Yu Gothic"/>
                <a:cs typeface="Yu Gothic"/>
              </a:rPr>
              <a:t>/</a:t>
            </a:r>
            <a:r>
              <a:rPr sz="900" spc="7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특정심장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Ⅱ=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협심증+허혈성+염증(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I20·24·25·I30~41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특정15대=심장판막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+심근병증+빈맥+심부전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/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기타부정맥(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I49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)=부정맥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/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방실·전도장애=전용행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無 </a:t>
            </a: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[확인]</a:t>
            </a:r>
            <a:r>
              <a:rPr sz="800" b="1" spc="60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-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0" spc="-1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-</a:t>
            </a:r>
            <a:r>
              <a:rPr sz="900" b="0" spc="1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[한화·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NH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농협]</a:t>
            </a:r>
            <a:r>
              <a:rPr sz="900" b="1" spc="1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특정/심혈관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Ⅰ=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협심증+허혈성+빈맥+부정맥+심부전(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I20·24·25·47·48·49·50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</a:t>
            </a:r>
            <a:r>
              <a:rPr sz="900" b="0" spc="1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Ⅱ=</a:t>
            </a:r>
            <a:r>
              <a:rPr sz="900" b="0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급성심근경색</a:t>
            </a:r>
            <a:r>
              <a:rPr lang="en-US"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.</a:t>
            </a:r>
            <a:r>
              <a:rPr lang="ko-KR" altLang="en-US"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인공소생에 성공한 심장정지</a:t>
            </a:r>
            <a:r>
              <a:rPr lang="en-US" altLang="ko-KR"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(146.0</a:t>
            </a:r>
            <a:r>
              <a:rPr lang="en-US" altLang="ko-KR"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)</a:t>
            </a:r>
            <a:r>
              <a:rPr sz="900" b="0" spc="1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 marR="5080">
              <a:lnSpc>
                <a:spcPts val="1410"/>
              </a:lnSpc>
              <a:spcBef>
                <a:spcPts val="85"/>
              </a:spcBef>
            </a:pP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(I49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제외/기타부정맥제외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)=Ⅰ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에서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부정맥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뺀</a:t>
            </a:r>
            <a:r>
              <a:rPr sz="900" b="0" spc="1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묶음→협심증+허혈성+빈맥+심부전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/</a:t>
            </a:r>
            <a:r>
              <a:rPr sz="900" b="0" spc="1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심근병증=심근병증(43)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/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</a:t>
            </a:r>
            <a:r>
              <a:rPr sz="900" spc="-10" dirty="0">
                <a:solidFill>
                  <a:srgbClr val="1A2333"/>
                </a:solidFill>
                <a:latin typeface="Yu Gothic"/>
                <a:cs typeface="Yu Gothic"/>
              </a:rPr>
              <a:t>NH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)주요심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장염증=염증.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60" dirty="0">
                <a:solidFill>
                  <a:srgbClr val="0A3A6E"/>
                </a:solidFill>
                <a:latin typeface="Tahoma"/>
                <a:cs typeface="Tahoma"/>
              </a:rPr>
              <a:t>[DB</a:t>
            </a:r>
            <a:r>
              <a:rPr sz="900" b="1" spc="6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재수정]</a:t>
            </a:r>
            <a:r>
              <a:rPr sz="900" b="1" spc="9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Ⅰ=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협심증+허혈성+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염증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(I20·24·25·I30~41)</a:t>
            </a:r>
            <a:r>
              <a:rPr sz="900" spc="12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-135" dirty="0">
                <a:solidFill>
                  <a:srgbClr val="1A2333"/>
                </a:solidFill>
                <a:latin typeface="Yu Gothic"/>
                <a:cs typeface="Yu Gothic"/>
              </a:rPr>
              <a:t>/</a:t>
            </a:r>
            <a:r>
              <a:rPr sz="900" spc="12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</a:t>
            </a:r>
            <a:r>
              <a:rPr sz="900" dirty="0" err="1">
                <a:solidFill>
                  <a:srgbClr val="1A2333"/>
                </a:solidFill>
                <a:latin typeface="Yu Gothic"/>
                <a:cs typeface="Yu Gothic"/>
              </a:rPr>
              <a:t>Ⅱ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=</a:t>
            </a:r>
            <a:r>
              <a:rPr lang="ko-KR" altLang="en-US"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급성심근경색</a:t>
            </a:r>
            <a:r>
              <a:rPr lang="en-US" altLang="ko-KR"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(I21~23)</a:t>
            </a:r>
            <a:r>
              <a:rPr lang="en-US"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.</a:t>
            </a:r>
            <a:r>
              <a:rPr lang="ko-KR" altLang="en-US"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인공소생에 성공한 심장정지</a:t>
            </a:r>
            <a:r>
              <a:rPr lang="en-US" altLang="ko-KR"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</a:t>
            </a:r>
            <a:r>
              <a:rPr lang="en-US" altLang="ko-KR" sz="900" b="0" spc="-1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146.0</a:t>
            </a:r>
            <a:r>
              <a:rPr lang="en-US" altLang="ko-KR" sz="900" b="1" spc="-1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)</a:t>
            </a:r>
            <a:r>
              <a:rPr sz="900" b="0" spc="95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Ⅲ=</a:t>
            </a:r>
            <a:r>
              <a:rPr sz="900" b="1" spc="35" dirty="0" err="1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심장판</a:t>
            </a:r>
            <a:r>
              <a:rPr sz="900" b="1" spc="65" dirty="0" err="1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막+빈맥+심부전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(I47·48·50)</a:t>
            </a:r>
            <a:r>
              <a:rPr sz="900" spc="285" dirty="0">
                <a:solidFill>
                  <a:srgbClr val="1A2333"/>
                </a:solidFill>
                <a:latin typeface="Yu Gothic"/>
                <a:cs typeface="Yu Gothic"/>
              </a:rPr>
              <a:t>  </a:t>
            </a:r>
            <a:r>
              <a:rPr sz="900" spc="-135" dirty="0">
                <a:solidFill>
                  <a:srgbClr val="1A2333"/>
                </a:solidFill>
                <a:latin typeface="Yu Gothic"/>
                <a:cs typeface="Yu Gothic"/>
              </a:rPr>
              <a:t>/</a:t>
            </a:r>
            <a:r>
              <a:rPr sz="900" spc="290" dirty="0">
                <a:solidFill>
                  <a:srgbClr val="1A2333"/>
                </a:solidFill>
                <a:latin typeface="Yu Gothic"/>
                <a:cs typeface="Yu Gothic"/>
              </a:rPr>
              <a:t> 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순환계3대=</a:t>
            </a:r>
            <a:r>
              <a:rPr lang="ko-KR" altLang="en-US"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인공소생에 성공한 심장정지</a:t>
            </a:r>
            <a:r>
              <a:rPr lang="en-US" altLang="ko-KR"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(146.0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)+</a:t>
            </a:r>
            <a:r>
              <a:rPr sz="900" b="1" spc="-10" dirty="0" err="1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부정맥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(</a:t>
            </a:r>
            <a:r>
              <a:rPr lang="en-US" sz="900" b="1" spc="-10" dirty="0">
                <a:solidFill>
                  <a:srgbClr val="0A3A6E"/>
                </a:solidFill>
                <a:latin typeface="Tahoma"/>
                <a:cs typeface="Tahoma"/>
              </a:rPr>
              <a:t>I4</a:t>
            </a:r>
            <a:r>
              <a:rPr sz="900" b="1" spc="-10" dirty="0">
                <a:solidFill>
                  <a:srgbClr val="0A3A6E"/>
                </a:solidFill>
                <a:latin typeface="Tahoma"/>
                <a:cs typeface="Tahoma"/>
              </a:rPr>
              <a:t>9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)+심부전</a:t>
            </a:r>
            <a:r>
              <a:rPr sz="900" spc="-10" dirty="0">
                <a:solidFill>
                  <a:srgbClr val="1A2333"/>
                </a:solidFill>
                <a:latin typeface="Yu Gothic"/>
                <a:cs typeface="Yu Gothic"/>
              </a:rPr>
              <a:t>(I50).</a:t>
            </a:r>
            <a:endParaRPr sz="900" dirty="0">
              <a:latin typeface="Yu Gothic"/>
              <a:cs typeface="Yu Gothic"/>
            </a:endParaRPr>
          </a:p>
          <a:p>
            <a:pPr marL="12700" marR="103505" indent="71120">
              <a:lnSpc>
                <a:spcPts val="1390"/>
              </a:lnSpc>
              <a:spcBef>
                <a:spcPts val="10"/>
              </a:spcBef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[KB]</a:t>
            </a:r>
            <a:r>
              <a:rPr sz="900" b="1" spc="10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Ⅰ=</a:t>
            </a:r>
            <a:r>
              <a:rPr sz="900" b="0" spc="50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협심증+허혈성+빈맥+심부전</a:t>
            </a:r>
            <a:r>
              <a:rPr lang="en-US" sz="900" spc="50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+</a:t>
            </a:r>
            <a:r>
              <a:rPr sz="900" b="0" spc="50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염증</a:t>
            </a:r>
            <a:r>
              <a:rPr lang="en-US"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-135" dirty="0">
                <a:solidFill>
                  <a:srgbClr val="1A2333"/>
                </a:solidFill>
                <a:latin typeface="Yu Gothic"/>
                <a:cs typeface="Yu Gothic"/>
              </a:rPr>
              <a:t>/</a:t>
            </a:r>
            <a:r>
              <a:rPr sz="900" spc="12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</a:t>
            </a:r>
            <a:r>
              <a:rPr sz="900" dirty="0" err="1">
                <a:solidFill>
                  <a:srgbClr val="1A2333"/>
                </a:solidFill>
                <a:latin typeface="Yu Gothic"/>
                <a:cs typeface="Yu Gothic"/>
              </a:rPr>
              <a:t>Ⅱ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=</a:t>
            </a:r>
            <a:r>
              <a:rPr lang="ko-KR" altLang="en-US"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급성심근경색</a:t>
            </a:r>
            <a:r>
              <a:rPr lang="en-US" altLang="ko-KR"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(I21~23)</a:t>
            </a:r>
            <a:r>
              <a:rPr lang="en-US"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.</a:t>
            </a:r>
            <a:r>
              <a:rPr lang="ko-KR" altLang="en-US"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인공소생에 성공한 심장정지</a:t>
            </a:r>
            <a:r>
              <a:rPr lang="en-US" altLang="ko-KR"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(146.0</a:t>
            </a:r>
            <a:r>
              <a:rPr lang="en-US" altLang="ko-KR"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)</a:t>
            </a:r>
            <a:r>
              <a:rPr sz="900" b="0" spc="10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심근병증=심근병증(43)</a:t>
            </a:r>
            <a:r>
              <a:rPr sz="900" b="0" spc="10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심장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판막질환=심장판막(44)</a:t>
            </a:r>
            <a:r>
              <a:rPr lang="en-US"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3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6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기타심장부정맥(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I49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)=부정맥(빈맥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I47·48</a:t>
            </a:r>
            <a:r>
              <a:rPr sz="900" spc="409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-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제외).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 marR="45085" indent="71120">
              <a:lnSpc>
                <a:spcPts val="1390"/>
              </a:lnSpc>
              <a:spcBef>
                <a:spcPts val="10"/>
              </a:spcBef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[현대</a:t>
            </a:r>
            <a:r>
              <a:rPr sz="900" b="1" spc="6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재수정</a:t>
            </a:r>
            <a:r>
              <a:rPr sz="900" b="1" spc="3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6가지]</a:t>
            </a:r>
            <a:r>
              <a:rPr sz="900" b="1" spc="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허혈성심장질환=협심증+허혈성(</a:t>
            </a:r>
            <a:r>
              <a:rPr sz="900" spc="70" dirty="0">
                <a:solidFill>
                  <a:srgbClr val="1A2333"/>
                </a:solidFill>
                <a:latin typeface="Yu Gothic"/>
                <a:cs typeface="Yu Gothic"/>
              </a:rPr>
              <a:t>I20·24·25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</a:t>
            </a:r>
            <a:r>
              <a:rPr lang="en-US"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.</a:t>
            </a:r>
            <a:r>
              <a:rPr lang="ko-KR" altLang="en-US"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급성심근경색</a:t>
            </a:r>
            <a:r>
              <a:rPr lang="en-US" altLang="ko-KR"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(I21~23)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특정허혈심장질환=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급성심근경색</a:t>
            </a:r>
            <a:r>
              <a:rPr sz="900" spc="80" dirty="0">
                <a:solidFill>
                  <a:srgbClr val="1A2333"/>
                </a:solidFill>
                <a:latin typeface="Yu Gothic"/>
                <a:cs typeface="Yu Gothic"/>
              </a:rPr>
              <a:t>(I21~23)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-135" dirty="0">
                <a:solidFill>
                  <a:srgbClr val="1A2333"/>
                </a:solidFill>
                <a:latin typeface="Yu Gothic"/>
                <a:cs typeface="Yu Gothic"/>
              </a:rPr>
              <a:t>/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65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</a:t>
            </a:r>
            <a:r>
              <a:rPr sz="900" dirty="0" err="1">
                <a:solidFill>
                  <a:srgbClr val="1A2333"/>
                </a:solidFill>
                <a:latin typeface="Yu Gothic"/>
                <a:cs typeface="Yu Gothic"/>
              </a:rPr>
              <a:t>Ⅰ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=</a:t>
            </a:r>
            <a:r>
              <a:rPr lang="ko-KR" altLang="en-US" sz="900" dirty="0">
                <a:solidFill>
                  <a:srgbClr val="1A2333"/>
                </a:solidFill>
                <a:latin typeface="Yu Gothic"/>
                <a:cs typeface="Yu Gothic"/>
              </a:rPr>
              <a:t>협심증</a:t>
            </a:r>
            <a:r>
              <a:rPr lang="en-US" altLang="ko-KR" sz="900" dirty="0">
                <a:solidFill>
                  <a:srgbClr val="1A2333"/>
                </a:solidFill>
                <a:latin typeface="Yu Gothic"/>
                <a:cs typeface="Yu Gothic"/>
              </a:rPr>
              <a:t>(I20~25)+</a:t>
            </a:r>
            <a:r>
              <a:rPr lang="ko-KR" altLang="en-US" sz="900" dirty="0">
                <a:solidFill>
                  <a:srgbClr val="1A2333"/>
                </a:solidFill>
                <a:latin typeface="Yu Gothic"/>
                <a:cs typeface="Yu Gothic"/>
              </a:rPr>
              <a:t>심방세동 및 </a:t>
            </a:r>
            <a:r>
              <a:rPr lang="ko-KR" altLang="en-US" sz="900" dirty="0" err="1">
                <a:solidFill>
                  <a:srgbClr val="1A2333"/>
                </a:solidFill>
                <a:latin typeface="Yu Gothic"/>
                <a:cs typeface="Yu Gothic"/>
              </a:rPr>
              <a:t>조동</a:t>
            </a:r>
            <a:r>
              <a:rPr lang="en-US" altLang="ko-KR" sz="900" dirty="0">
                <a:solidFill>
                  <a:srgbClr val="1A2333"/>
                </a:solidFill>
                <a:latin typeface="Yu Gothic"/>
                <a:cs typeface="Yu Gothic"/>
              </a:rPr>
              <a:t>+</a:t>
            </a:r>
            <a:r>
              <a:rPr sz="900" b="0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빈맥+심부전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I47·48·50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</a:t>
            </a:r>
            <a:r>
              <a:rPr sz="900" b="0" spc="1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Ⅱ=</a:t>
            </a:r>
            <a:r>
              <a:rPr sz="900" b="1" spc="5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급성심근경색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(I21~23·46.0)</a:t>
            </a:r>
            <a:r>
              <a:rPr sz="900" spc="15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-135" dirty="0">
                <a:solidFill>
                  <a:srgbClr val="1A2333"/>
                </a:solidFill>
                <a:latin typeface="Yu Gothic"/>
                <a:cs typeface="Yu Gothic"/>
              </a:rPr>
              <a:t>/</a:t>
            </a:r>
            <a:r>
              <a:rPr sz="900" spc="14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주요심장염증(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I30~41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)=염증</a:t>
            </a:r>
            <a:r>
              <a:rPr sz="900" b="0" spc="1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특정2대</a:t>
            </a:r>
            <a:r>
              <a:rPr lang="en-US"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900" b="0" spc="60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기타부정</a:t>
            </a:r>
            <a:r>
              <a:rPr sz="900" b="0" spc="55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맥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I49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)=전도장애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I44·45+I49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※현대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심근병증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없음.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225"/>
              </a:spcBef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[삼성·메리츠]</a:t>
            </a:r>
            <a:r>
              <a:rPr sz="900" b="1" spc="1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허혈성심장질환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6가지(급성기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I21·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후속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I22·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합병증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I23·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협심증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I20·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기타급성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I24·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만성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I25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)=급성심근+협심증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+허혈성.</a:t>
            </a:r>
            <a:r>
              <a:rPr sz="900" b="0" spc="1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메리츠는</a:t>
            </a:r>
            <a:r>
              <a:rPr sz="900" b="1" spc="1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기존</a:t>
            </a:r>
            <a:r>
              <a:rPr sz="900" b="1" spc="1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 err="1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심장질환진단비</a:t>
            </a:r>
            <a:r>
              <a:rPr sz="900" b="1" dirty="0" err="1">
                <a:solidFill>
                  <a:srgbClr val="0A3A6E"/>
                </a:solidFill>
                <a:latin typeface="Tahoma"/>
                <a:cs typeface="Tahoma"/>
              </a:rPr>
              <a:t>Ⅰ→</a:t>
            </a:r>
            <a:r>
              <a:rPr sz="900" b="1" dirty="0" err="1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허혈성·</a:t>
            </a:r>
            <a:r>
              <a:rPr sz="900" b="1" dirty="0" err="1">
                <a:solidFill>
                  <a:srgbClr val="0A3A6E"/>
                </a:solidFill>
                <a:latin typeface="Tahoma"/>
                <a:cs typeface="Tahoma"/>
              </a:rPr>
              <a:t>Ⅱ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→</a:t>
            </a:r>
            <a:r>
              <a:rPr lang="ko-KR" altLang="en-US" sz="900" b="1" dirty="0">
                <a:solidFill>
                  <a:srgbClr val="0A3A6E"/>
                </a:solidFill>
                <a:latin typeface="Tahoma"/>
                <a:cs typeface="Tahoma"/>
              </a:rPr>
              <a:t>허혈성과 </a:t>
            </a:r>
            <a:r>
              <a:rPr sz="900" b="1" dirty="0" err="1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급성심근과</a:t>
            </a:r>
            <a:r>
              <a:rPr sz="900" b="1" spc="1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5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병존(별도</a:t>
            </a:r>
            <a:r>
              <a:rPr sz="900" b="1" spc="1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상품).</a:t>
            </a:r>
            <a:endParaRPr sz="900" dirty="0">
              <a:latin typeface="현대해상 고딕OTF Bold"/>
              <a:cs typeface="현대해상 고딕OTF Bold"/>
            </a:endParaRPr>
          </a:p>
          <a:p>
            <a:pPr marL="12700" marR="33020">
              <a:lnSpc>
                <a:spcPct val="129200"/>
              </a:lnSpc>
            </a:pPr>
            <a:r>
              <a:rPr sz="900" b="0" spc="-1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-</a:t>
            </a:r>
            <a:r>
              <a:rPr sz="900" b="0" spc="30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공통:</a:t>
            </a:r>
            <a:r>
              <a:rPr sz="900" b="0" spc="30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협심증·급성심근경색·빈맥(40)·부정맥(42)·심부전(39)·염증(41)·심근병증(43)·심장판막(44)·허혈성(47)</a:t>
            </a:r>
            <a:r>
              <a:rPr sz="900" b="0" spc="30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각</a:t>
            </a:r>
            <a:r>
              <a:rPr sz="900" b="0" spc="30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전용행.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매핑불가→</a:t>
            </a:r>
            <a:r>
              <a:rPr sz="900" b="0" spc="2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[확인]</a:t>
            </a:r>
            <a:r>
              <a:rPr sz="800" b="1" spc="22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큐.</a:t>
            </a:r>
            <a:r>
              <a:rPr sz="900" b="0" spc="1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I49=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부정맥(42)</a:t>
            </a:r>
            <a:r>
              <a:rPr sz="900" b="0" spc="1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빈맥=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I47·48(40)</a:t>
            </a:r>
            <a:r>
              <a:rPr sz="900" spc="22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구분.</a:t>
            </a:r>
            <a:r>
              <a:rPr sz="900" b="0" spc="1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"</a:t>
            </a:r>
            <a:r>
              <a:rPr lang="en-US" altLang="ko-KR"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</a:t>
            </a:r>
            <a:r>
              <a:rPr sz="900" b="0" dirty="0" err="1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기타심장부정맥제외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)/(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I49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제외)"=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Ⅰ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에서</a:t>
            </a:r>
            <a:r>
              <a:rPr sz="900" b="0" spc="1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부정맥만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뺀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묶음(부정맥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아님)→협심증+허혈성+빈맥+심부전.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 marR="24130" indent="71120">
              <a:lnSpc>
                <a:spcPct val="129200"/>
              </a:lnSpc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삼성</a:t>
            </a:r>
            <a:r>
              <a:rPr sz="900" b="1" spc="13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리빙케어</a:t>
            </a:r>
            <a:r>
              <a:rPr sz="900" b="1" spc="1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CI</a:t>
            </a:r>
            <a:r>
              <a:rPr sz="900" b="1" spc="19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선지급</a:t>
            </a:r>
            <a:r>
              <a:rPr sz="900" b="1" spc="14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판별(2026.07.05):</a:t>
            </a:r>
            <a:r>
              <a:rPr sz="900" b="1" spc="1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주계약이</a:t>
            </a:r>
            <a:r>
              <a:rPr sz="900" b="0" spc="1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'주계약'이</a:t>
            </a:r>
            <a:r>
              <a:rPr sz="900" b="0" spc="1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아니라</a:t>
            </a:r>
            <a:r>
              <a:rPr sz="900" b="0" spc="1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상품명(삼성리빙케어(종신2종)1.2)으로</a:t>
            </a:r>
            <a:r>
              <a:rPr sz="900" b="0" spc="1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라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벨될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수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있음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900" b="0" spc="3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50" dirty="0">
                <a:solidFill>
                  <a:srgbClr val="9A5B11"/>
                </a:solidFill>
                <a:latin typeface="HY신명조"/>
                <a:cs typeface="HY신명조"/>
              </a:rPr>
              <a:t>리빙케어</a:t>
            </a:r>
            <a:r>
              <a:rPr sz="850" spc="145" dirty="0">
                <a:solidFill>
                  <a:srgbClr val="9A5B11"/>
                </a:solidFill>
                <a:latin typeface="HY신명조"/>
                <a:cs typeface="HY신명조"/>
              </a:rPr>
              <a:t> </a:t>
            </a:r>
            <a:r>
              <a:rPr sz="850" dirty="0">
                <a:solidFill>
                  <a:srgbClr val="9A5B11"/>
                </a:solidFill>
                <a:latin typeface="HY신명조"/>
                <a:cs typeface="HY신명조"/>
              </a:rPr>
              <a:t>종신</a:t>
            </a:r>
            <a:r>
              <a:rPr sz="850" dirty="0">
                <a:solidFill>
                  <a:srgbClr val="9A5B11"/>
                </a:solidFill>
                <a:latin typeface="Courier New"/>
                <a:cs typeface="Courier New"/>
              </a:rPr>
              <a:t>N</a:t>
            </a:r>
            <a:r>
              <a:rPr sz="850" dirty="0">
                <a:solidFill>
                  <a:srgbClr val="9A5B11"/>
                </a:solidFill>
                <a:latin typeface="HY신명조"/>
                <a:cs typeface="HY신명조"/>
              </a:rPr>
              <a:t>종</a:t>
            </a:r>
            <a:r>
              <a:rPr sz="850" spc="345" dirty="0">
                <a:solidFill>
                  <a:srgbClr val="9A5B11"/>
                </a:solidFill>
                <a:latin typeface="HY신명조"/>
                <a:cs typeface="HY신명조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플랜패턴으로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금액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추출(콤마·마침표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천단위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정규화).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삼성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리빙케어(종신2종)=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80%형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(사망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3,000·선지급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2,400·잔여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600).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선지급=사망의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80%/50%만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존재.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 dirty="0">
              <a:latin typeface="현대해상 고딕OTF Medium"/>
              <a:cs typeface="현대해상 고딕OTF Medium"/>
            </a:endParaRPr>
          </a:p>
          <a:p>
            <a:pPr marL="140335">
              <a:lnSpc>
                <a:spcPct val="100000"/>
              </a:lnSpc>
            </a:pPr>
            <a:r>
              <a:rPr sz="1000" b="1" spc="-2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8.3.2</a:t>
            </a:r>
            <a:r>
              <a:rPr sz="1000" b="1" spc="3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6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성인병진단금</a:t>
            </a:r>
            <a:r>
              <a:rPr sz="1000" b="1" spc="4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4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(</a:t>
            </a:r>
            <a:r>
              <a:rPr sz="1000" b="1" spc="4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000" b="1" spc="45" dirty="0">
                <a:solidFill>
                  <a:srgbClr val="0A1D33"/>
                </a:solidFill>
                <a:latin typeface="Tahoma"/>
                <a:cs typeface="Tahoma"/>
              </a:rPr>
              <a:t>2026.07.05</a:t>
            </a:r>
            <a:r>
              <a:rPr sz="1000" b="1" spc="90" dirty="0">
                <a:solidFill>
                  <a:srgbClr val="0A1D33"/>
                </a:solidFill>
                <a:latin typeface="Tahoma"/>
                <a:cs typeface="Tahoma"/>
              </a:rPr>
              <a:t> </a:t>
            </a:r>
            <a:r>
              <a:rPr sz="1000" b="1" spc="65" dirty="0">
                <a:solidFill>
                  <a:srgbClr val="0A1D33"/>
                </a:solidFill>
                <a:latin typeface="Tahoma"/>
                <a:cs typeface="Tahoma"/>
              </a:rPr>
              <a:t>HOLD</a:t>
            </a:r>
            <a:r>
              <a:rPr sz="1000" b="1" spc="80" dirty="0">
                <a:solidFill>
                  <a:srgbClr val="0A1D33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해제·매핑</a:t>
            </a:r>
            <a:r>
              <a:rPr sz="1000" b="1" spc="4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-2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확정)</a:t>
            </a:r>
            <a:endParaRPr sz="1000" dirty="0">
              <a:latin typeface="현대해상 고딕OTF Bold"/>
              <a:cs typeface="현대해상 고딕OTF Bold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성인병진단금(생보·</a:t>
            </a:r>
            <a:r>
              <a:rPr sz="900" b="1" spc="50" dirty="0">
                <a:solidFill>
                  <a:srgbClr val="0A3A6E"/>
                </a:solidFill>
                <a:latin typeface="Tahoma"/>
                <a:cs typeface="Tahoma"/>
              </a:rPr>
              <a:t>AIA·AIG·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라이나·우체국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등)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급성심근경색(100%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확정)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+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뇌졸증/뇌출혈(세부가입현황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판별)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묶음.</a:t>
            </a:r>
            <a:endParaRPr sz="900" dirty="0">
              <a:latin typeface="현대해상 고딕OTF Bold"/>
              <a:cs typeface="현대해상 고딕OTF Bold"/>
            </a:endParaRPr>
          </a:p>
          <a:p>
            <a:pPr marL="48260">
              <a:lnSpc>
                <a:spcPct val="100000"/>
              </a:lnSpc>
              <a:spcBef>
                <a:spcPts val="315"/>
              </a:spcBef>
            </a:pP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[확인]</a:t>
            </a:r>
            <a:r>
              <a:rPr sz="800" b="1" spc="39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HOLD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폐기.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0" spc="-1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-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뇌축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계약에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뇌출혈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있으면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뇌출혈,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없으면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뇌졸증(세부가입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'뇌혈관'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표기도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뇌졸증계로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해석).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0" spc="-1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-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검증(양원석):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성인병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5,000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급성심근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11,500(6,500+5,000)·뇌졸증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9,000(4,000+5,000).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 dirty="0">
              <a:latin typeface="현대해상 고딕OTF Medium"/>
              <a:cs typeface="현대해상 고딕OTF Medium"/>
            </a:endParaRPr>
          </a:p>
          <a:p>
            <a:pPr marL="140335">
              <a:lnSpc>
                <a:spcPct val="100000"/>
              </a:lnSpc>
              <a:spcBef>
                <a:spcPts val="5"/>
              </a:spcBef>
            </a:pPr>
            <a:r>
              <a:rPr sz="1000" b="1" spc="60" dirty="0">
                <a:solidFill>
                  <a:srgbClr val="0A1D33"/>
                </a:solidFill>
                <a:latin typeface="Tahoma"/>
                <a:cs typeface="Tahoma"/>
              </a:rPr>
              <a:t>8.4</a:t>
            </a:r>
            <a:r>
              <a:rPr sz="1000" b="1" spc="55" dirty="0">
                <a:solidFill>
                  <a:srgbClr val="0A1D33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0A1D33"/>
                </a:solidFill>
                <a:latin typeface="Tahoma"/>
                <a:cs typeface="Tahoma"/>
              </a:rPr>
              <a:t>CI/GI</a:t>
            </a:r>
            <a:endParaRPr sz="1000" dirty="0">
              <a:latin typeface="Tahoma"/>
              <a:cs typeface="Tahoma"/>
            </a:endParaRPr>
          </a:p>
          <a:p>
            <a:pPr marL="12700" marR="120650">
              <a:lnSpc>
                <a:spcPct val="129700"/>
              </a:lnSpc>
              <a:spcBef>
                <a:spcPts val="570"/>
              </a:spcBef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상품명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'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CI/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리빙케어/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GI'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포함: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암→중대한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암,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뇌졸증→중대한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뇌졸증,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급성심근→중대한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급성심근.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is_ci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플래그.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표준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컬럼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합산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금지.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CI</a:t>
            </a:r>
            <a:r>
              <a:rPr sz="900" spc="4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사망=일반사망(전액)+중대한</a:t>
            </a:r>
            <a:r>
              <a:rPr sz="900" spc="45" dirty="0">
                <a:solidFill>
                  <a:srgbClr val="1A2333"/>
                </a:solidFill>
                <a:latin typeface="Yu Gothic"/>
                <a:cs typeface="Yu Gothic"/>
              </a:rPr>
              <a:t>CI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적용(사망</a:t>
            </a:r>
            <a:r>
              <a:rPr sz="900" spc="45" dirty="0">
                <a:solidFill>
                  <a:srgbClr val="1A2333"/>
                </a:solidFill>
                <a:latin typeface="Noto Sans KR"/>
                <a:cs typeface="Noto Sans KR"/>
              </a:rPr>
              <a:t>−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선지급).</a:t>
            </a:r>
            <a:endParaRPr sz="900" dirty="0">
              <a:latin typeface="현대해상 고딕OTF Medium"/>
              <a:cs typeface="현대해상 고딕OTF Medium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현대해상 고딕OTF Medium"/>
              <a:cs typeface="현대해상 고딕OTF Medium"/>
            </a:endParaRPr>
          </a:p>
          <a:p>
            <a:pPr marL="140335">
              <a:lnSpc>
                <a:spcPct val="100000"/>
              </a:lnSpc>
              <a:spcBef>
                <a:spcPts val="5"/>
              </a:spcBef>
            </a:pPr>
            <a:r>
              <a:rPr sz="1000" b="1" spc="-40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8.5~8.8</a:t>
            </a:r>
            <a:r>
              <a:rPr sz="1000" b="1" spc="-3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 </a:t>
            </a:r>
            <a:r>
              <a:rPr sz="1000" b="1" spc="45" dirty="0">
                <a:solidFill>
                  <a:srgbClr val="0A1D33"/>
                </a:solidFill>
                <a:latin typeface="현대해상 고딕OTF Bold"/>
                <a:cs typeface="현대해상 고딕OTF Bold"/>
              </a:rPr>
              <a:t>수술/운전자/골절·일당·화상/실손</a:t>
            </a:r>
            <a:endParaRPr sz="1000" dirty="0">
              <a:latin typeface="현대해상 고딕OTF Bold"/>
              <a:cs typeface="현대해상 고딕OTF Bold"/>
            </a:endParaRPr>
          </a:p>
          <a:p>
            <a:pPr marL="12700" marR="8255">
              <a:lnSpc>
                <a:spcPct val="129200"/>
              </a:lnSpc>
              <a:spcBef>
                <a:spcPts val="575"/>
              </a:spcBef>
            </a:pPr>
            <a:r>
              <a:rPr sz="900" spc="70" dirty="0">
                <a:solidFill>
                  <a:srgbClr val="1A2333"/>
                </a:solidFill>
                <a:latin typeface="Yu Gothic"/>
                <a:cs typeface="Yu Gothic"/>
              </a:rPr>
              <a:t>(v28</a:t>
            </a:r>
            <a:r>
              <a:rPr sz="900" spc="4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정본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동일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—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운전자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합의금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2.5억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캡,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실손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입원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5000·통원20~25·약5~10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파랑,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골절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치아포함/제외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분리·100만↑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제외,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일당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화이트리스트,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XX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대→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n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대수술비,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간호통합병동↔간병인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분리,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화재벌금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제외)</a:t>
            </a:r>
            <a:endParaRPr sz="900" dirty="0">
              <a:latin typeface="현대해상 고딕OTF Medium"/>
              <a:cs typeface="현대해상 고딕OTF Medium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3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3499" y="8716033"/>
            <a:ext cx="6353175" cy="124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spc="7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150" b="1" spc="75" dirty="0">
                <a:solidFill>
                  <a:srgbClr val="FFFFFF"/>
                </a:solidFill>
                <a:latin typeface="Tahoma"/>
                <a:cs typeface="Tahoma"/>
              </a:rPr>
              <a:t>8.8b</a:t>
            </a:r>
            <a:r>
              <a:rPr sz="1150" b="1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실손</a:t>
            </a:r>
            <a:r>
              <a:rPr sz="1150" b="1" spc="5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9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손보/생보</a:t>
            </a:r>
            <a:r>
              <a:rPr sz="1150" b="1" spc="5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후처리</a:t>
            </a:r>
            <a:r>
              <a:rPr sz="1150" b="1" spc="5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6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(2026.07.05</a:t>
            </a:r>
            <a:r>
              <a:rPr sz="1150" b="1" spc="5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확정·코드</a:t>
            </a:r>
            <a:r>
              <a:rPr sz="1150" b="1" spc="5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반영)</a:t>
            </a:r>
            <a:endParaRPr sz="1150">
              <a:latin typeface="현대해상 고딕OTF Bold"/>
              <a:cs typeface="현대해상 고딕OTF Bold"/>
            </a:endParaRPr>
          </a:p>
          <a:p>
            <a:pPr marL="12700" marR="128270">
              <a:lnSpc>
                <a:spcPct val="129200"/>
              </a:lnSpc>
              <a:spcBef>
                <a:spcPts val="1200"/>
              </a:spcBef>
            </a:pP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우선순위: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①보장표</a:t>
            </a:r>
            <a:r>
              <a:rPr sz="900" b="0" spc="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명시값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②입원한도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3000짜리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구형=입원3000유지·통원10·약5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③회사유형(손보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통원25·약5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생보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통원20·약10)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④4세대(2021.07~)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통원20·약0.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 marR="5080" indent="71120">
              <a:lnSpc>
                <a:spcPct val="129200"/>
              </a:lnSpc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입원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보장표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명시값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최우선(1세대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입원한도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1억·5천·3천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제각각,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절대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5천으로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뭉개지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말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것).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명시값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없을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때만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기 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본.</a:t>
            </a:r>
            <a:endParaRPr sz="90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har char="-"/>
              <a:tabLst>
                <a:tab pos="83820" algn="l"/>
              </a:tabLst>
            </a:pPr>
            <a:r>
              <a:rPr sz="900" b="0" spc="10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손보/생보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회사명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판정(생명·라이프=생보,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화재·손해·해상·손보=손보).</a:t>
            </a:r>
            <a:endParaRPr sz="900">
              <a:latin typeface="현대해상 고딕OTF Medium"/>
              <a:cs typeface="현대해상 고딕OTF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00" y="1146330"/>
            <a:ext cx="6327599" cy="334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200" y="2567265"/>
            <a:ext cx="6327599" cy="3342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200" y="4414530"/>
            <a:ext cx="6327599" cy="3342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200" y="6438960"/>
            <a:ext cx="6327599" cy="3342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6200" y="7965061"/>
            <a:ext cx="6327599" cy="3342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6200" y="9313995"/>
            <a:ext cx="6327599" cy="3342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3499" y="537670"/>
            <a:ext cx="5356225" cy="3797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00" b="0" spc="-1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-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검증: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주정은(메리츠손보)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입원10000→5000·통원30→25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양원석(현대손보)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입원5000·통원25·약5.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0" spc="-1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-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실손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값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항상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파랑.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499" y="1203355"/>
            <a:ext cx="230949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7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150" b="1" spc="75" dirty="0">
                <a:solidFill>
                  <a:srgbClr val="FFFFFF"/>
                </a:solidFill>
                <a:latin typeface="Tahoma"/>
                <a:cs typeface="Tahoma"/>
              </a:rPr>
              <a:t>8.8d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실손</a:t>
            </a:r>
            <a:r>
              <a:rPr sz="1150" b="1" spc="3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세대</a:t>
            </a:r>
            <a:r>
              <a:rPr sz="1150" b="1" spc="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경계</a:t>
            </a:r>
            <a:r>
              <a:rPr sz="1150" b="1" spc="3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(정본</a:t>
            </a:r>
            <a:r>
              <a:rPr sz="1150" b="1" spc="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확정)</a:t>
            </a:r>
            <a:endParaRPr sz="1150">
              <a:latin typeface="현대해상 고딕OTF Bold"/>
              <a:cs typeface="현대해상 고딕OTF 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7490" y="1556600"/>
            <a:ext cx="6078220" cy="794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4139" marR="30480" indent="-66675">
              <a:lnSpc>
                <a:spcPct val="120300"/>
              </a:lnSpc>
              <a:spcBef>
                <a:spcPts val="90"/>
              </a:spcBef>
              <a:buFont typeface="Noto Sans KR"/>
              <a:buChar char="•"/>
              <a:tabLst>
                <a:tab pos="104775" algn="l"/>
              </a:tabLst>
            </a:pP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1세대</a:t>
            </a:r>
            <a:r>
              <a:rPr sz="1350" b="0" spc="2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1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~2009.09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22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2세대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2009.10~2017.03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22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3세대</a:t>
            </a:r>
            <a:r>
              <a:rPr sz="1350" b="0" spc="2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2017.04~2021.06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22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4세대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2021.07~2026.04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22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1" spc="82" baseline="6172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350" b="1" spc="8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5세대</a:t>
            </a:r>
            <a:r>
              <a:rPr sz="1350" b="1" spc="2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 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2026.05부터</a:t>
            </a:r>
            <a:endParaRPr sz="900">
              <a:latin typeface="현대해상 고딕OTF Bold"/>
              <a:cs typeface="현대해상 고딕OTF Bold"/>
            </a:endParaRPr>
          </a:p>
          <a:p>
            <a:pPr marL="104139" indent="-66675">
              <a:lnSpc>
                <a:spcPct val="100000"/>
              </a:lnSpc>
              <a:spcBef>
                <a:spcPts val="695"/>
              </a:spcBef>
              <a:buFont typeface="Noto Sans KR"/>
              <a:buChar char="•"/>
              <a:tabLst>
                <a:tab pos="104775" algn="l"/>
              </a:tabLst>
            </a:pP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입원한도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3000짜리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1세대(구형)</a:t>
            </a:r>
            <a:r>
              <a:rPr sz="1350" b="0" spc="12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별도</a:t>
            </a:r>
            <a:r>
              <a:rPr sz="1350" b="0" spc="12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판정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04139" indent="-66675">
              <a:lnSpc>
                <a:spcPct val="100000"/>
              </a:lnSpc>
              <a:spcBef>
                <a:spcPts val="600"/>
              </a:spcBef>
              <a:buFont typeface="Noto Sans KR"/>
              <a:buChar char="•"/>
              <a:tabLst>
                <a:tab pos="104775" algn="l"/>
              </a:tabLst>
            </a:pP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검증: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2026.04.30→4세대</a:t>
            </a: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22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1350" b="0" spc="89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1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2026.05.01→5세대</a:t>
            </a:r>
            <a:endParaRPr sz="1350" baseline="6172">
              <a:latin typeface="현대해상 고딕OTF Medium"/>
              <a:cs typeface="현대해상 고딕OTF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499" y="2624290"/>
            <a:ext cx="4186554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7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150" b="1" spc="70" dirty="0">
                <a:solidFill>
                  <a:srgbClr val="FFFFFF"/>
                </a:solidFill>
                <a:latin typeface="Tahoma"/>
                <a:cs typeface="Tahoma"/>
              </a:rPr>
              <a:t>8.8c</a:t>
            </a:r>
            <a:r>
              <a:rPr sz="1150" b="1" spc="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실손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세대별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통원·약값</a:t>
            </a:r>
            <a:r>
              <a:rPr sz="1150" b="1" spc="8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+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Tahoma"/>
                <a:cs typeface="Tahoma"/>
              </a:rPr>
              <a:t>MRI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트리오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6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(2026.07.05</a:t>
            </a:r>
            <a:r>
              <a:rPr sz="1150" b="1" spc="8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확정)</a:t>
            </a:r>
            <a:endParaRPr sz="1150">
              <a:latin typeface="현대해상 고딕OTF Bold"/>
              <a:cs typeface="현대해상 고딕OTF 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490" y="2977535"/>
            <a:ext cx="6252845" cy="1220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04139" indent="-66675">
              <a:lnSpc>
                <a:spcPct val="100000"/>
              </a:lnSpc>
              <a:spcBef>
                <a:spcPts val="310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spc="89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3세대부터</a:t>
            </a:r>
            <a:r>
              <a:rPr sz="1350" b="1" spc="60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82" baseline="6172" dirty="0">
                <a:solidFill>
                  <a:srgbClr val="0A3A6E"/>
                </a:solidFill>
                <a:latin typeface="Tahoma"/>
                <a:cs typeface="Tahoma"/>
              </a:rPr>
              <a:t>MRI·</a:t>
            </a:r>
            <a:r>
              <a:rPr sz="1350" b="1" spc="8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도수·비급여주사</a:t>
            </a:r>
            <a:r>
              <a:rPr sz="1350" b="1" spc="6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등장</a:t>
            </a:r>
            <a:r>
              <a:rPr sz="1350" b="1" spc="9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spc="-202" baseline="6172" dirty="0">
                <a:solidFill>
                  <a:srgbClr val="1A2333"/>
                </a:solidFill>
                <a:latin typeface="Yu Gothic"/>
                <a:cs typeface="Yu Gothic"/>
              </a:rPr>
              <a:t>→</a:t>
            </a:r>
            <a:r>
              <a:rPr sz="1350" spc="97" baseline="6172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1350" spc="89" baseline="6172" dirty="0">
                <a:solidFill>
                  <a:srgbClr val="1A2333"/>
                </a:solidFill>
                <a:latin typeface="Yu Gothic"/>
                <a:cs typeface="Yu Gothic"/>
              </a:rPr>
              <a:t>'MRI/</a:t>
            </a:r>
            <a:r>
              <a:rPr sz="1350" b="0" spc="89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도수치료/비급여주사'</a:t>
            </a:r>
            <a:r>
              <a:rPr sz="1350" b="0" spc="6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1행에</a:t>
            </a:r>
            <a:r>
              <a:rPr sz="1350" b="0" spc="6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슬래시</a:t>
            </a:r>
            <a:r>
              <a:rPr sz="1350" b="0" spc="6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가로</a:t>
            </a:r>
            <a:r>
              <a:rPr sz="1350" b="0" spc="6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나열(1/5종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방식).</a:t>
            </a:r>
            <a:r>
              <a:rPr sz="1350" b="0" spc="6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실손계열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04139">
              <a:lnSpc>
                <a:spcPct val="100000"/>
              </a:lnSpc>
              <a:spcBef>
                <a:spcPts val="220"/>
              </a:spcBef>
            </a:pP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=대표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최댓값·항상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파랑.</a:t>
            </a:r>
            <a:endParaRPr sz="900">
              <a:latin typeface="현대해상 고딕OTF Medium"/>
              <a:cs typeface="현대해상 고딕OTF Medium"/>
            </a:endParaRPr>
          </a:p>
          <a:p>
            <a:pPr marL="104139" indent="-66675">
              <a:lnSpc>
                <a:spcPct val="100000"/>
              </a:lnSpc>
              <a:spcBef>
                <a:spcPts val="695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spc="-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4·5세대(2021.07~)</a:t>
            </a:r>
            <a:r>
              <a:rPr sz="1350" b="1" spc="9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1350" b="1" spc="10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1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통원+약</a:t>
            </a:r>
            <a:r>
              <a:rPr sz="1350" b="1" spc="9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합쳐서</a:t>
            </a:r>
            <a:r>
              <a:rPr sz="1350" b="1" spc="10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-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20</a:t>
            </a:r>
            <a:r>
              <a:rPr sz="1350" b="1" spc="89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(약값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별도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없음,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통원에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통합).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명시값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있으면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유지(최대20)·약값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0.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04139" indent="-66675">
              <a:lnSpc>
                <a:spcPct val="100000"/>
              </a:lnSpc>
              <a:spcBef>
                <a:spcPts val="600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1~3세대: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0" spc="89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통원·약값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명시값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우선.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없으면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손보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통원25·약5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22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생보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1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통원20·약10.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04139" indent="-66675">
              <a:lnSpc>
                <a:spcPct val="100000"/>
              </a:lnSpc>
              <a:spcBef>
                <a:spcPts val="595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입원</a:t>
            </a:r>
            <a:r>
              <a:rPr sz="1350" b="1" spc="3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1350" b="1" spc="3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명시값</a:t>
            </a:r>
            <a:r>
              <a:rPr sz="1350" b="1" spc="3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8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최우선</a:t>
            </a: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(1세대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1억·5천·3천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다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유지).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04139" indent="-66675">
              <a:lnSpc>
                <a:spcPct val="100000"/>
              </a:lnSpc>
              <a:spcBef>
                <a:spcPts val="600"/>
              </a:spcBef>
              <a:buFont typeface="Noto Sans KR"/>
              <a:buChar char="•"/>
              <a:tabLst>
                <a:tab pos="104775" algn="l"/>
              </a:tabLst>
            </a:pP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검증:</a:t>
            </a:r>
            <a:r>
              <a:rPr sz="1350" b="0" spc="6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3세대</a:t>
            </a:r>
            <a:r>
              <a:rPr sz="1350" b="0" spc="6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통원25·약5</a:t>
            </a:r>
            <a:r>
              <a:rPr sz="1350" b="0" spc="6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22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1350" b="0" spc="6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4세대</a:t>
            </a:r>
            <a:r>
              <a:rPr sz="1350" b="0" spc="6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1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통원+약=20.</a:t>
            </a:r>
            <a:endParaRPr sz="1350" baseline="6172">
              <a:latin typeface="현대해상 고딕OTF Medium"/>
              <a:cs typeface="현대해상 고딕OTF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499" y="4471554"/>
            <a:ext cx="29432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7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150" b="1" spc="75" dirty="0">
                <a:solidFill>
                  <a:srgbClr val="FFFFFF"/>
                </a:solidFill>
                <a:latin typeface="Tahoma"/>
                <a:cs typeface="Tahoma"/>
              </a:rPr>
              <a:t>8.5b</a:t>
            </a:r>
            <a:r>
              <a:rPr sz="1150" b="1" spc="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수술비·일당</a:t>
            </a:r>
            <a:r>
              <a:rPr sz="1150" b="1" spc="9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세부</a:t>
            </a:r>
            <a:r>
              <a:rPr sz="1150" b="1" spc="8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6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(2026.07.05</a:t>
            </a:r>
            <a:r>
              <a:rPr sz="1150" b="1" spc="9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확정)</a:t>
            </a:r>
            <a:endParaRPr sz="1150">
              <a:latin typeface="현대해상 고딕OTF Bold"/>
              <a:cs typeface="현대해상 고딕OTF Bold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2200" y="5059250"/>
            <a:ext cx="336550" cy="101600"/>
          </a:xfrm>
          <a:custGeom>
            <a:avLst/>
            <a:gdLst/>
            <a:ahLst/>
            <a:cxnLst/>
            <a:rect l="l" t="t" r="r" b="b"/>
            <a:pathLst>
              <a:path w="336550" h="101600">
                <a:moveTo>
                  <a:pt x="300097" y="101599"/>
                </a:moveTo>
                <a:lnTo>
                  <a:pt x="35997" y="101599"/>
                </a:lnTo>
                <a:lnTo>
                  <a:pt x="22021" y="98759"/>
                </a:lnTo>
                <a:lnTo>
                  <a:pt x="10574" y="91025"/>
                </a:lnTo>
                <a:lnTo>
                  <a:pt x="2840" y="79578"/>
                </a:lnTo>
                <a:lnTo>
                  <a:pt x="0" y="6560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300095" y="0"/>
                </a:lnTo>
                <a:lnTo>
                  <a:pt x="314073" y="2840"/>
                </a:lnTo>
                <a:lnTo>
                  <a:pt x="325520" y="10574"/>
                </a:lnTo>
                <a:lnTo>
                  <a:pt x="333254" y="22021"/>
                </a:lnTo>
                <a:lnTo>
                  <a:pt x="336095" y="35999"/>
                </a:lnTo>
                <a:lnTo>
                  <a:pt x="336095" y="65600"/>
                </a:lnTo>
                <a:lnTo>
                  <a:pt x="333254" y="79578"/>
                </a:lnTo>
                <a:lnTo>
                  <a:pt x="325520" y="91025"/>
                </a:lnTo>
                <a:lnTo>
                  <a:pt x="314073" y="98759"/>
                </a:lnTo>
                <a:lnTo>
                  <a:pt x="300097" y="101599"/>
                </a:lnTo>
                <a:close/>
              </a:path>
            </a:pathLst>
          </a:custGeom>
          <a:solidFill>
            <a:srgbClr val="FBED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48397" y="6089075"/>
            <a:ext cx="336550" cy="101600"/>
          </a:xfrm>
          <a:custGeom>
            <a:avLst/>
            <a:gdLst/>
            <a:ahLst/>
            <a:cxnLst/>
            <a:rect l="l" t="t" r="r" b="b"/>
            <a:pathLst>
              <a:path w="336550" h="101600">
                <a:moveTo>
                  <a:pt x="300097" y="101599"/>
                </a:moveTo>
                <a:lnTo>
                  <a:pt x="35997" y="101599"/>
                </a:lnTo>
                <a:lnTo>
                  <a:pt x="22021" y="98759"/>
                </a:lnTo>
                <a:lnTo>
                  <a:pt x="10574" y="91025"/>
                </a:lnTo>
                <a:lnTo>
                  <a:pt x="2840" y="79578"/>
                </a:lnTo>
                <a:lnTo>
                  <a:pt x="0" y="65600"/>
                </a:lnTo>
                <a:lnTo>
                  <a:pt x="0" y="35999"/>
                </a:lnTo>
                <a:lnTo>
                  <a:pt x="2840" y="22021"/>
                </a:lnTo>
                <a:lnTo>
                  <a:pt x="10574" y="10574"/>
                </a:lnTo>
                <a:lnTo>
                  <a:pt x="22021" y="2840"/>
                </a:lnTo>
                <a:lnTo>
                  <a:pt x="35999" y="0"/>
                </a:lnTo>
                <a:lnTo>
                  <a:pt x="300095" y="0"/>
                </a:lnTo>
                <a:lnTo>
                  <a:pt x="314073" y="2840"/>
                </a:lnTo>
                <a:lnTo>
                  <a:pt x="325520" y="10574"/>
                </a:lnTo>
                <a:lnTo>
                  <a:pt x="333254" y="22021"/>
                </a:lnTo>
                <a:lnTo>
                  <a:pt x="336095" y="35999"/>
                </a:lnTo>
                <a:lnTo>
                  <a:pt x="336095" y="65600"/>
                </a:lnTo>
                <a:lnTo>
                  <a:pt x="333254" y="79578"/>
                </a:lnTo>
                <a:lnTo>
                  <a:pt x="325520" y="91025"/>
                </a:lnTo>
                <a:lnTo>
                  <a:pt x="314073" y="98759"/>
                </a:lnTo>
                <a:lnTo>
                  <a:pt x="300097" y="101599"/>
                </a:lnTo>
                <a:close/>
              </a:path>
            </a:pathLst>
          </a:custGeom>
          <a:solidFill>
            <a:srgbClr val="FBED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27490" y="4824800"/>
            <a:ext cx="6253480" cy="13855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04139" indent="-66675">
              <a:lnSpc>
                <a:spcPct val="100000"/>
              </a:lnSpc>
              <a:spcBef>
                <a:spcPts val="310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spc="120" baseline="6172" dirty="0">
                <a:solidFill>
                  <a:srgbClr val="0A3A6E"/>
                </a:solidFill>
                <a:latin typeface="Tahoma"/>
                <a:cs typeface="Tahoma"/>
              </a:rPr>
              <a:t>XXXX</a:t>
            </a:r>
            <a:r>
              <a:rPr sz="1350" b="1" spc="120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질병수술비·</a:t>
            </a:r>
            <a:r>
              <a:rPr sz="1350" b="1" spc="120" baseline="6172" dirty="0">
                <a:solidFill>
                  <a:srgbClr val="0A3A6E"/>
                </a:solidFill>
                <a:latin typeface="Tahoma"/>
                <a:cs typeface="Tahoma"/>
              </a:rPr>
              <a:t>XXXX</a:t>
            </a:r>
            <a:r>
              <a:rPr sz="1350" b="1" spc="120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상해수술비(질병/상해수술비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앞에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어떤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글자든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붙은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변형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전부)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4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질병/상해수술비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아님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6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→</a:t>
            </a:r>
            <a:endParaRPr sz="1350" baseline="6172">
              <a:latin typeface="현대해상 고딕OTF Bold"/>
              <a:cs typeface="현대해상 고딕OTF Bold"/>
            </a:endParaRPr>
          </a:p>
          <a:p>
            <a:pPr marL="140335">
              <a:lnSpc>
                <a:spcPct val="100000"/>
              </a:lnSpc>
              <a:spcBef>
                <a:spcPts val="220"/>
              </a:spcBef>
            </a:pP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[확인]</a:t>
            </a:r>
            <a:r>
              <a:rPr sz="800" b="1" spc="409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(순수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질병수술비·질병입원수술비·상해수술비만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합산).</a:t>
            </a:r>
            <a:endParaRPr sz="900">
              <a:latin typeface="현대해상 고딕OTF Medium"/>
              <a:cs typeface="현대해상 고딕OTF Medium"/>
            </a:endParaRPr>
          </a:p>
          <a:p>
            <a:pPr marL="104139" indent="-66675">
              <a:lnSpc>
                <a:spcPct val="100000"/>
              </a:lnSpc>
              <a:spcBef>
                <a:spcPts val="695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입원수술비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27" baseline="6172" dirty="0">
                <a:solidFill>
                  <a:srgbClr val="0A3A6E"/>
                </a:solidFill>
                <a:latin typeface="Tahoma"/>
                <a:cs typeface="Tahoma"/>
              </a:rPr>
              <a:t>vs</a:t>
            </a:r>
            <a:r>
              <a:rPr sz="1350" b="1" spc="112" baseline="6172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통원수술비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둘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중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하나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대표금액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(중복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합산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금지).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04139" indent="-66675">
              <a:lnSpc>
                <a:spcPct val="100000"/>
              </a:lnSpc>
              <a:spcBef>
                <a:spcPts val="600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재해</a:t>
            </a:r>
            <a:r>
              <a:rPr sz="1350" b="1" spc="30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1350" b="1" spc="30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상해</a:t>
            </a:r>
            <a:r>
              <a:rPr sz="1350" b="1" spc="30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동일</a:t>
            </a:r>
            <a:r>
              <a:rPr sz="1350" b="1" spc="3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취급</a:t>
            </a:r>
            <a:r>
              <a:rPr sz="1350" b="1" spc="30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(재해입원일당·재해일당</a:t>
            </a:r>
            <a:r>
              <a:rPr sz="1350" b="0" spc="3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4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→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상해일당).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04139" indent="-66675">
              <a:lnSpc>
                <a:spcPct val="100000"/>
              </a:lnSpc>
              <a:spcBef>
                <a:spcPts val="595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spc="10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질병입원일당(밴드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-12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1-</a:t>
            </a:r>
            <a:r>
              <a:rPr sz="1350" b="1" spc="-60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180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등)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1350" b="1" spc="5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다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합침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0" spc="9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(질병일당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행).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상해도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동일.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04139" marR="30480" indent="-66675">
              <a:lnSpc>
                <a:spcPct val="120300"/>
              </a:lnSpc>
              <a:spcBef>
                <a:spcPts val="380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spc="11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병원규모별(상급종합병원/종합병원/일반)</a:t>
            </a:r>
            <a:r>
              <a:rPr sz="1350" b="1" spc="3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입원일당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=</a:t>
            </a:r>
            <a:r>
              <a:rPr sz="1350" b="1" spc="3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각각</a:t>
            </a:r>
            <a:r>
              <a:rPr sz="1350" b="1" spc="4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개별</a:t>
            </a:r>
            <a:r>
              <a:rPr sz="1350" b="1" spc="3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(마스터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전용행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있을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89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때.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현재</a:t>
            </a:r>
            <a:r>
              <a:rPr sz="1350" b="0" spc="4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질병종합병원일당</a:t>
            </a:r>
            <a:r>
              <a:rPr sz="1350" b="0" spc="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-37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1행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만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있어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상급종합=통합,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전용행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신설은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지점장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결정</a:t>
            </a:r>
            <a:r>
              <a:rPr sz="900" b="0" spc="29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[확인]</a:t>
            </a:r>
            <a:r>
              <a:rPr sz="800" b="1" spc="5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-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35278" y="7438010"/>
            <a:ext cx="168047" cy="1015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6200" y="7615175"/>
            <a:ext cx="168047" cy="1015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03499" y="6495984"/>
            <a:ext cx="6313170" cy="124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9.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마스터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엑셀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(99행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14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—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빈맥40·심근병증43·심장판막44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행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실재)</a:t>
            </a:r>
            <a:endParaRPr sz="1150">
              <a:latin typeface="현대해상 고딕OTF Bold"/>
              <a:cs typeface="현대해상 고딕OTF Bol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현대해상 고딕OTF Bold"/>
              <a:cs typeface="현대해상 고딕OTF Bold"/>
            </a:endParaRPr>
          </a:p>
          <a:p>
            <a:pPr marL="12700">
              <a:lnSpc>
                <a:spcPct val="100000"/>
              </a:lnSpc>
            </a:pP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15구분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담보행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순서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고정(추가만).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헤더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5행.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75" dirty="0">
                <a:solidFill>
                  <a:srgbClr val="1A2333"/>
                </a:solidFill>
                <a:latin typeface="Yu Gothic"/>
                <a:cs typeface="Yu Gothic"/>
              </a:rPr>
              <a:t>A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열=구분/</a:t>
            </a:r>
            <a:r>
              <a:rPr sz="900" spc="75" dirty="0">
                <a:solidFill>
                  <a:srgbClr val="1A2333"/>
                </a:solidFill>
                <a:latin typeface="Yu Gothic"/>
                <a:cs typeface="Yu Gothic"/>
              </a:rPr>
              <a:t>B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열=담보명/</a:t>
            </a:r>
            <a:r>
              <a:rPr sz="900" spc="75" dirty="0">
                <a:solidFill>
                  <a:srgbClr val="1A2333"/>
                </a:solidFill>
                <a:latin typeface="Yu Gothic"/>
                <a:cs typeface="Yu Gothic"/>
              </a:rPr>
              <a:t>C~=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계약별/끝열=합계.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뇌</a:t>
            </a:r>
            <a:r>
              <a:rPr sz="900" b="1" spc="2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블록: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뇌혈관진단비·뇌졸증·중대한뇌졸증·뇌출혈진단비·외상성뇌출혈·산정특례뇌혈관·2대주요·혈전용해.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 marR="5080">
              <a:lnSpc>
                <a:spcPct val="129200"/>
              </a:lnSpc>
            </a:pP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심장</a:t>
            </a:r>
            <a:r>
              <a:rPr sz="900" b="1" spc="1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 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블록:</a:t>
            </a:r>
            <a:r>
              <a:rPr sz="900" b="1" spc="16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협심증38·심부전39·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빈맥40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·염증41·부정맥42·심근병증43·심장판막44·산정특례심장45·2대주요46·허혈성</a:t>
            </a:r>
            <a:r>
              <a:rPr sz="900" b="0" spc="1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진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단비47·급성심근48·중대한급성심근49.</a:t>
            </a:r>
            <a:r>
              <a:rPr sz="900" b="0" spc="1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빈맥</a:t>
            </a:r>
            <a:r>
              <a:rPr sz="900" b="1" spc="1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행(40)</a:t>
            </a:r>
            <a:r>
              <a:rPr sz="900" b="1" spc="1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정식</a:t>
            </a:r>
            <a:r>
              <a:rPr sz="900" b="1" spc="1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사용.</a:t>
            </a:r>
            <a:r>
              <a:rPr sz="900" b="1" spc="1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심근병증43·심장판막44</a:t>
            </a:r>
            <a:r>
              <a:rPr sz="900" b="1" spc="1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행</a:t>
            </a:r>
            <a:r>
              <a:rPr sz="900" b="1" spc="1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실재하나</a:t>
            </a:r>
            <a:r>
              <a:rPr sz="900" b="1" spc="1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매핑</a:t>
            </a:r>
            <a:r>
              <a:rPr sz="900" b="1" spc="1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미지정→</a:t>
            </a:r>
            <a:r>
              <a:rPr sz="900" b="1" spc="1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800" b="1" spc="-2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 </a:t>
            </a: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인]</a:t>
            </a:r>
            <a:r>
              <a:rPr sz="800" b="1" spc="3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.</a:t>
            </a:r>
            <a:endParaRPr sz="900">
              <a:latin typeface="현대해상 고딕OTF Bold"/>
              <a:cs typeface="현대해상 고딕OTF Bold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4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03499" y="8022084"/>
            <a:ext cx="6353810" cy="106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10.</a:t>
            </a:r>
            <a:r>
              <a:rPr sz="1150" b="1" spc="-1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엑셀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색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15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/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11.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80" dirty="0">
                <a:solidFill>
                  <a:srgbClr val="FFFFFF"/>
                </a:solidFill>
                <a:latin typeface="Tahoma"/>
                <a:cs typeface="Tahoma"/>
              </a:rPr>
              <a:t>PPT</a:t>
            </a:r>
            <a:r>
              <a:rPr sz="115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spc="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폼</a:t>
            </a:r>
            <a:endParaRPr sz="1150">
              <a:latin typeface="현대해상 고딕OTF Bold"/>
              <a:cs typeface="현대해상 고딕OTF Bold"/>
            </a:endParaRPr>
          </a:p>
          <a:p>
            <a:pPr marL="12700" marR="5080">
              <a:lnSpc>
                <a:spcPct val="129200"/>
              </a:lnSpc>
              <a:spcBef>
                <a:spcPts val="1200"/>
              </a:spcBef>
            </a:pPr>
            <a:r>
              <a:rPr sz="900" spc="70" dirty="0">
                <a:solidFill>
                  <a:srgbClr val="1A2333"/>
                </a:solidFill>
                <a:latin typeface="Yu Gothic"/>
                <a:cs typeface="Yu Gothic"/>
              </a:rPr>
              <a:t>(v28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동일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)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헤더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갱신파랑/비갱신빨강/완납진녹·흰글자.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값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갱신파랑/비갱신검정/미가입빨강.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실손·간병인·일배책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항상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파랑.</a:t>
            </a:r>
            <a:r>
              <a:rPr sz="900" b="0" spc="1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PPT</a:t>
            </a:r>
            <a:r>
              <a:rPr sz="900" spc="16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run-injection·tf.clear()</a:t>
            </a:r>
            <a:r>
              <a:rPr sz="900" spc="1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금지·헤더18</a:t>
            </a:r>
            <a:r>
              <a:rPr sz="900" spc="50" dirty="0">
                <a:solidFill>
                  <a:srgbClr val="1A2333"/>
                </a:solidFill>
                <a:latin typeface="Yu Gothic"/>
                <a:cs typeface="Yu Gothic"/>
              </a:rPr>
              <a:t>pt·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날짜통합.</a:t>
            </a:r>
            <a:r>
              <a:rPr sz="900" b="0" spc="1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담보값=갱신합(파랑)+비갱신합(검정)</a:t>
            </a:r>
            <a:r>
              <a:rPr sz="900" b="0" spc="1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'+'</a:t>
            </a:r>
            <a:r>
              <a:rPr sz="900" b="0" spc="1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구분.</a:t>
            </a:r>
            <a:r>
              <a:rPr sz="900" b="0" spc="1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실손·간병인·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일배책·통합전이암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단색.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심장칸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표시=설명서와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동일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8종+허혈성+급성심근(2026.07.05):</a:t>
            </a:r>
            <a:r>
              <a:rPr sz="900" b="1" spc="8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1줄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협심증/심부전/염증/빈 맥</a:t>
            </a:r>
            <a:r>
              <a:rPr sz="900" b="1" spc="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·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2줄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부정맥/심근병증/심장판막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·</a:t>
            </a:r>
            <a:r>
              <a:rPr sz="900" b="1" spc="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허혈성(</a:t>
            </a:r>
            <a:r>
              <a:rPr sz="900" b="1" spc="45" dirty="0">
                <a:solidFill>
                  <a:srgbClr val="0A3A6E"/>
                </a:solidFill>
                <a:latin typeface="Tahoma"/>
                <a:cs typeface="Tahoma"/>
              </a:rPr>
              <a:t>TextBox54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)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·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급성심근(별도칸).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값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있는</a:t>
            </a:r>
            <a:r>
              <a:rPr sz="900" b="1" spc="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것만.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외상성뇌출혈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미기재.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1499" y="9371020"/>
            <a:ext cx="183515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12.</a:t>
            </a:r>
            <a:r>
              <a:rPr sz="1150" b="1" spc="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5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150" b="1" spc="7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고정</a:t>
            </a:r>
            <a:r>
              <a:rPr sz="1150" b="1" spc="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사실</a:t>
            </a:r>
            <a:r>
              <a:rPr sz="1150" b="1" spc="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</a:t>
            </a:r>
            <a:r>
              <a:rPr sz="1150" b="1" dirty="0">
                <a:solidFill>
                  <a:srgbClr val="FFFFFF"/>
                </a:solidFill>
                <a:latin typeface="Tahoma"/>
                <a:cs typeface="Tahoma"/>
              </a:rPr>
              <a:t>v28</a:t>
            </a:r>
            <a:r>
              <a:rPr sz="1150" b="1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유지)</a:t>
            </a:r>
            <a:endParaRPr sz="1150">
              <a:latin typeface="현대해상 고딕OTF Bold"/>
              <a:cs typeface="현대해상 고딕OTF Bol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7490" y="9724265"/>
            <a:ext cx="6242685" cy="35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30480" indent="-66675">
              <a:lnSpc>
                <a:spcPct val="120300"/>
              </a:lnSpc>
              <a:spcBef>
                <a:spcPts val="95"/>
              </a:spcBef>
              <a:buClr>
                <a:srgbClr val="1A2333"/>
              </a:buClr>
              <a:buFont typeface="Noto Sans KR"/>
              <a:buChar char="•"/>
              <a:tabLst>
                <a:tab pos="104775" algn="l"/>
              </a:tabLst>
            </a:pP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빈맥(</a:t>
            </a:r>
            <a:r>
              <a:rPr sz="1350" b="1" baseline="6172" dirty="0">
                <a:solidFill>
                  <a:srgbClr val="0A3A6E"/>
                </a:solidFill>
                <a:latin typeface="Tahoma"/>
                <a:cs typeface="Tahoma"/>
              </a:rPr>
              <a:t>I47·48</a:t>
            </a: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)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= </a:t>
            </a:r>
            <a:r>
              <a:rPr sz="1350" b="1" spc="120" baseline="6172" dirty="0">
                <a:solidFill>
                  <a:srgbClr val="0A3A6E"/>
                </a:solidFill>
                <a:latin typeface="Tahoma"/>
                <a:cs typeface="Tahoma"/>
              </a:rPr>
              <a:t>master</a:t>
            </a:r>
            <a:r>
              <a:rPr sz="1350" b="1" spc="142" baseline="6172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1350" b="1" spc="112" baseline="6172" dirty="0">
                <a:solidFill>
                  <a:srgbClr val="0A3A6E"/>
                </a:solidFill>
                <a:latin typeface="Tahoma"/>
                <a:cs typeface="Tahoma"/>
              </a:rPr>
              <a:t>40</a:t>
            </a:r>
            <a:r>
              <a:rPr sz="1350" b="1" spc="11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행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정식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9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사용(</a:t>
            </a:r>
            <a:r>
              <a:rPr sz="1350" b="1" spc="97" baseline="6172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350" b="1" spc="9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지점장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-37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2026.07.05,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04" baseline="6172" dirty="0">
                <a:solidFill>
                  <a:srgbClr val="0A3A6E"/>
                </a:solidFill>
                <a:latin typeface="Tahoma"/>
                <a:cs typeface="Tahoma"/>
              </a:rPr>
              <a:t>v28</a:t>
            </a:r>
            <a:r>
              <a:rPr sz="1350" b="1" spc="150" baseline="6172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1350" b="1" spc="104" baseline="6172" dirty="0">
                <a:solidFill>
                  <a:srgbClr val="0A3A6E"/>
                </a:solidFill>
                <a:latin typeface="Tahoma"/>
                <a:cs typeface="Tahoma"/>
              </a:rPr>
              <a:t>"</a:t>
            </a:r>
            <a:r>
              <a:rPr sz="1350" b="1" spc="104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무행"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폐기).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12" baseline="6172" dirty="0">
                <a:solidFill>
                  <a:srgbClr val="0A3A6E"/>
                </a:solidFill>
                <a:latin typeface="Tahoma"/>
                <a:cs typeface="Tahoma"/>
              </a:rPr>
              <a:t>KB·</a:t>
            </a:r>
            <a:r>
              <a:rPr sz="1350" b="1" spc="11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현대</a:t>
            </a:r>
            <a:r>
              <a:rPr sz="1350" b="1" spc="82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특정</a:t>
            </a:r>
            <a:r>
              <a:rPr sz="1350" b="1" baseline="6172" dirty="0">
                <a:solidFill>
                  <a:srgbClr val="0A3A6E"/>
                </a:solidFill>
                <a:latin typeface="Tahoma"/>
                <a:cs typeface="Tahoma"/>
              </a:rPr>
              <a:t>Ⅰ</a:t>
            </a:r>
            <a:r>
              <a:rPr sz="1350" b="1" spc="142" baseline="6172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및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단독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13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빈맥</a:t>
            </a:r>
            <a:r>
              <a:rPr sz="1350" b="1" spc="75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1350" b="1" spc="60" baseline="6172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담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보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→</a:t>
            </a:r>
            <a:r>
              <a:rPr sz="900" b="1" spc="1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빈맥</a:t>
            </a:r>
            <a:r>
              <a:rPr sz="900" b="1" spc="1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행(40).</a:t>
            </a:r>
            <a:r>
              <a:rPr sz="900" b="1" spc="1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빈맥≠부정맥(</a:t>
            </a:r>
            <a:r>
              <a:rPr sz="900" spc="75" dirty="0">
                <a:solidFill>
                  <a:srgbClr val="1A2333"/>
                </a:solidFill>
                <a:latin typeface="Yu Gothic"/>
                <a:cs typeface="Yu Gothic"/>
              </a:rPr>
              <a:t>I49,</a:t>
            </a:r>
            <a:r>
              <a:rPr sz="900" spc="3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40" dirty="0">
                <a:solidFill>
                  <a:srgbClr val="1A2333"/>
                </a:solidFill>
                <a:latin typeface="Yu Gothic"/>
                <a:cs typeface="Yu Gothic"/>
              </a:rPr>
              <a:t>42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행).</a:t>
            </a:r>
            <a:endParaRPr sz="900">
              <a:latin typeface="현대해상 고딕OTF Medium"/>
              <a:cs typeface="현대해상 고딕OTF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00" y="1572660"/>
            <a:ext cx="6327599" cy="334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200" y="3098760"/>
            <a:ext cx="6327599" cy="3342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16200" y="4240880"/>
            <a:ext cx="6327775" cy="0"/>
          </a:xfrm>
          <a:custGeom>
            <a:avLst/>
            <a:gdLst/>
            <a:ahLst/>
            <a:cxnLst/>
            <a:rect l="l" t="t" r="r" b="b"/>
            <a:pathLst>
              <a:path w="6327775">
                <a:moveTo>
                  <a:pt x="0" y="0"/>
                </a:moveTo>
                <a:lnTo>
                  <a:pt x="6327600" y="0"/>
                </a:lnTo>
              </a:path>
            </a:pathLst>
          </a:custGeom>
          <a:ln w="12699">
            <a:solidFill>
              <a:srgbClr val="C8A14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3652" y="832445"/>
            <a:ext cx="168047" cy="101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2200" y="1009610"/>
            <a:ext cx="168047" cy="1015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27490" y="513832"/>
            <a:ext cx="6242685" cy="842644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04139" indent="-66675">
              <a:lnSpc>
                <a:spcPct val="100000"/>
              </a:lnSpc>
              <a:spcBef>
                <a:spcPts val="690"/>
              </a:spcBef>
              <a:buFont typeface="Noto Sans KR"/>
              <a:buChar char="•"/>
              <a:tabLst>
                <a:tab pos="104775" algn="l"/>
              </a:tabLst>
            </a:pP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외상성뇌출혈(</a:t>
            </a:r>
            <a:r>
              <a:rPr sz="1350" spc="82" baseline="6172" dirty="0">
                <a:solidFill>
                  <a:srgbClr val="1A2333"/>
                </a:solidFill>
                <a:latin typeface="Yu Gothic"/>
                <a:cs typeface="Yu Gothic"/>
              </a:rPr>
              <a:t>S06</a:t>
            </a:r>
            <a:r>
              <a:rPr sz="1350" b="0" spc="8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외상성뇌출혈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전용행만·</a:t>
            </a:r>
            <a:r>
              <a:rPr sz="1350" baseline="6172" dirty="0">
                <a:solidFill>
                  <a:srgbClr val="1A2333"/>
                </a:solidFill>
                <a:latin typeface="Yu Gothic"/>
                <a:cs typeface="Yu Gothic"/>
              </a:rPr>
              <a:t>PPT</a:t>
            </a:r>
            <a:r>
              <a:rPr sz="1350" spc="150" baseline="6172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미기재·뇌혈관진단비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미보장(산정특례</a:t>
            </a:r>
            <a:r>
              <a:rPr sz="1350" spc="75" baseline="6172" dirty="0">
                <a:solidFill>
                  <a:srgbClr val="1A2333"/>
                </a:solidFill>
                <a:latin typeface="Yu Gothic"/>
                <a:cs typeface="Yu Gothic"/>
              </a:rPr>
              <a:t>only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).</a:t>
            </a:r>
            <a:endParaRPr sz="1350" baseline="6172">
              <a:latin typeface="현대해상 고딕OTF Medium"/>
              <a:cs typeface="현대해상 고딕OTF Medium"/>
            </a:endParaRPr>
          </a:p>
          <a:p>
            <a:pPr marL="104139" marR="30480" indent="-66675">
              <a:lnSpc>
                <a:spcPct val="120300"/>
              </a:lnSpc>
              <a:spcBef>
                <a:spcPts val="380"/>
              </a:spcBef>
              <a:buFont typeface="Noto Sans KR"/>
              <a:buChar char="•"/>
              <a:tabLst>
                <a:tab pos="104775" algn="l"/>
              </a:tabLst>
            </a:pP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산정특례·순환계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=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각각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단독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89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축.</a:t>
            </a:r>
            <a:r>
              <a:rPr sz="1350" b="0" spc="6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3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산정특례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104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코드범위: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[뇌]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spc="104" baseline="6172" dirty="0">
                <a:solidFill>
                  <a:srgbClr val="1A2333"/>
                </a:solidFill>
                <a:latin typeface="Yu Gothic"/>
                <a:cs typeface="Yu Gothic"/>
              </a:rPr>
              <a:t>I60~69·Q28·S06</a:t>
            </a:r>
            <a:r>
              <a:rPr sz="1350" spc="89" baseline="6172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1350" spc="-202" baseline="6172" dirty="0">
                <a:solidFill>
                  <a:srgbClr val="1A2333"/>
                </a:solidFill>
                <a:latin typeface="Yu Gothic"/>
                <a:cs typeface="Yu Gothic"/>
              </a:rPr>
              <a:t>/</a:t>
            </a:r>
            <a:r>
              <a:rPr sz="1350" spc="82" baseline="6172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1350" baseline="6172" dirty="0">
                <a:solidFill>
                  <a:srgbClr val="1A2333"/>
                </a:solidFill>
                <a:latin typeface="Yu Gothic"/>
                <a:cs typeface="Yu Gothic"/>
              </a:rPr>
              <a:t>[</a:t>
            </a:r>
            <a:r>
              <a:rPr sz="1350" b="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</a:t>
            </a:r>
            <a:r>
              <a:rPr sz="1350" baseline="6172" dirty="0">
                <a:solidFill>
                  <a:srgbClr val="1A2333"/>
                </a:solidFill>
                <a:latin typeface="Yu Gothic"/>
                <a:cs typeface="Yu Gothic"/>
              </a:rPr>
              <a:t>]</a:t>
            </a:r>
            <a:r>
              <a:rPr sz="1350" spc="89" baseline="6172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1350" spc="112" baseline="6172" dirty="0">
                <a:solidFill>
                  <a:srgbClr val="1A2333"/>
                </a:solidFill>
                <a:latin typeface="Yu Gothic"/>
                <a:cs typeface="Yu Gothic"/>
              </a:rPr>
              <a:t>I20~50·</a:t>
            </a:r>
            <a:r>
              <a:rPr sz="1350" b="0" spc="11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판막.</a:t>
            </a:r>
            <a:r>
              <a:rPr sz="1350" b="0" spc="52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350" b="0" spc="89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지급조건·기간=</a:t>
            </a:r>
            <a:r>
              <a:rPr sz="1350" b="0" spc="60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1200" b="1" spc="-37" baseline="6944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[확 </a:t>
            </a:r>
            <a:r>
              <a:rPr sz="800" b="1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인]</a:t>
            </a:r>
            <a:r>
              <a:rPr sz="800" b="1" spc="35" dirty="0">
                <a:solidFill>
                  <a:srgbClr val="89640F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-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.</a:t>
            </a:r>
            <a:endParaRPr sz="900">
              <a:latin typeface="현대해상 고딕OTF Medium"/>
              <a:cs typeface="현대해상 고딕OTF Medium"/>
            </a:endParaRPr>
          </a:p>
          <a:p>
            <a:pPr marL="104139" indent="-66675">
              <a:lnSpc>
                <a:spcPct val="100000"/>
              </a:lnSpc>
              <a:spcBef>
                <a:spcPts val="695"/>
              </a:spcBef>
              <a:buFont typeface="Noto Sans KR"/>
              <a:buChar char="•"/>
              <a:tabLst>
                <a:tab pos="104775" algn="l"/>
              </a:tabLst>
            </a:pPr>
            <a:r>
              <a:rPr sz="1350" b="0" spc="75" baseline="6172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소액암=유방·자궁경부·자궁체부·전립선·방광.</a:t>
            </a:r>
            <a:endParaRPr sz="1350" baseline="6172">
              <a:latin typeface="현대해상 고딕OTF Medium"/>
              <a:cs typeface="현대해상 고딕OTF Medium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BARUM</a:t>
            </a:r>
            <a:r>
              <a:rPr spc="55" dirty="0"/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정본</a:t>
            </a:r>
            <a:r>
              <a:rPr b="0" spc="70" dirty="0">
                <a:latin typeface="현대해상 고딕OTF Medium"/>
                <a:cs typeface="현대해상 고딕OTF Medium"/>
              </a:rPr>
              <a:t> </a:t>
            </a:r>
            <a:r>
              <a:rPr b="0" dirty="0">
                <a:latin typeface="현대해상 고딕OTF Medium"/>
                <a:cs typeface="현대해상 고딕OTF Medium"/>
              </a:rPr>
              <a:t>지침</a:t>
            </a:r>
            <a:r>
              <a:rPr b="0" spc="65" dirty="0">
                <a:latin typeface="현대해상 고딕OTF Medium"/>
                <a:cs typeface="현대해상 고딕OTF Medium"/>
              </a:rPr>
              <a:t> </a:t>
            </a:r>
            <a:r>
              <a:rPr dirty="0"/>
              <a:t>v31n</a:t>
            </a:r>
            <a:r>
              <a:rPr spc="60" dirty="0"/>
              <a:t> </a:t>
            </a:r>
            <a:r>
              <a:rPr dirty="0"/>
              <a:t>·</a:t>
            </a:r>
            <a:r>
              <a:rPr spc="60" dirty="0"/>
              <a:t> </a:t>
            </a:r>
            <a:fld id="{81D60167-4931-47E6-BA6A-407CBD079E47}" type="slidenum">
              <a:rPr dirty="0"/>
              <a:t>5</a:t>
            </a:fld>
            <a:r>
              <a:rPr spc="55" dirty="0"/>
              <a:t> </a:t>
            </a:r>
            <a:r>
              <a:rPr spc="-204" dirty="0"/>
              <a:t>/</a:t>
            </a:r>
            <a:r>
              <a:rPr spc="60" dirty="0"/>
              <a:t> </a:t>
            </a:r>
            <a:r>
              <a:rPr spc="-50" dirty="0"/>
              <a:t>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MAKEONE</a:t>
            </a:r>
            <a:r>
              <a:rPr spc="130" dirty="0"/>
              <a:t> </a:t>
            </a:r>
            <a:r>
              <a:rPr dirty="0"/>
              <a:t>·</a:t>
            </a:r>
            <a:r>
              <a:rPr spc="130" dirty="0"/>
              <a:t> </a:t>
            </a:r>
            <a:r>
              <a:rPr spc="-10" dirty="0"/>
              <a:t>2026.07.05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3499" y="1629685"/>
            <a:ext cx="6340475" cy="124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13.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보장설명지</a:t>
            </a:r>
            <a:r>
              <a:rPr sz="1150" b="1" spc="4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=</a:t>
            </a:r>
            <a:r>
              <a:rPr sz="1150" b="1" spc="4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신버젼</a:t>
            </a:r>
            <a:r>
              <a:rPr sz="1150" b="1" spc="4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8페이지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</a:t>
            </a:r>
            <a:r>
              <a:rPr sz="1150" b="1" spc="-1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1150" b="1" spc="-1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2026.07.05)</a:t>
            </a:r>
            <a:endParaRPr sz="1150">
              <a:latin typeface="현대해상 고딕OTF Bold"/>
              <a:cs typeface="현대해상 고딕OTF Bold"/>
            </a:endParaRPr>
          </a:p>
          <a:p>
            <a:pPr marL="12700" marR="5080">
              <a:lnSpc>
                <a:spcPct val="129200"/>
              </a:lnSpc>
              <a:spcBef>
                <a:spcPts val="1200"/>
              </a:spcBef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표지</a:t>
            </a:r>
            <a:r>
              <a:rPr sz="900" b="0" spc="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·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보장현황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·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AI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진단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·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핵심보장분석(</a:t>
            </a:r>
            <a:r>
              <a:rPr sz="900" b="1" spc="50" dirty="0">
                <a:solidFill>
                  <a:srgbClr val="0A3A6E"/>
                </a:solidFill>
                <a:latin typeface="Tahoma"/>
                <a:cs typeface="Tahoma"/>
              </a:rPr>
              <a:t>CI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선지급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OR</a:t>
            </a:r>
            <a:r>
              <a:rPr sz="900" b="1" spc="5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비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CI</a:t>
            </a:r>
            <a:r>
              <a:rPr sz="900" b="1" spc="5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Plan</a:t>
            </a:r>
            <a:r>
              <a:rPr sz="900" b="1" spc="5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85" dirty="0">
                <a:solidFill>
                  <a:srgbClr val="0A3A6E"/>
                </a:solidFill>
                <a:latin typeface="Tahoma"/>
                <a:cs typeface="Tahoma"/>
              </a:rPr>
              <a:t>B</a:t>
            </a:r>
            <a:r>
              <a:rPr sz="900" b="1" spc="5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자동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분기)</a:t>
            </a:r>
            <a:r>
              <a:rPr sz="900" b="1" spc="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·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부위별충족률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·</a:t>
            </a:r>
            <a:r>
              <a:rPr sz="900" b="0" spc="1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담보별보장범위(질병코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드·빈맥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40행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포함)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·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주요치료비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변천사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·</a:t>
            </a:r>
            <a:r>
              <a:rPr sz="900" b="0" spc="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상담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워크시트.</a:t>
            </a:r>
            <a:endParaRPr sz="90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lr>
                <a:srgbClr val="1A2333"/>
              </a:buClr>
              <a:buFont typeface=""/>
              <a:buChar char="-"/>
              <a:tabLst>
                <a:tab pos="83820" algn="l"/>
              </a:tabLst>
            </a:pP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비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CI</a:t>
            </a:r>
            <a:r>
              <a:rPr sz="900" b="1" spc="8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Plan</a:t>
            </a:r>
            <a:r>
              <a:rPr sz="900" b="1" spc="9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85" dirty="0">
                <a:solidFill>
                  <a:srgbClr val="0A3A6E"/>
                </a:solidFill>
                <a:latin typeface="Tahoma"/>
                <a:cs typeface="Tahoma"/>
              </a:rPr>
              <a:t>B</a:t>
            </a:r>
            <a:r>
              <a:rPr sz="900" b="1" spc="9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dirty="0">
                <a:solidFill>
                  <a:srgbClr val="0A3A6E"/>
                </a:solidFill>
                <a:latin typeface="Tahoma"/>
                <a:cs typeface="Tahoma"/>
              </a:rPr>
              <a:t>=</a:t>
            </a:r>
            <a:r>
              <a:rPr sz="900" b="1" spc="9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75" dirty="0">
                <a:solidFill>
                  <a:srgbClr val="0A3A6E"/>
                </a:solidFill>
                <a:latin typeface="Tahoma"/>
                <a:cs typeface="Tahoma"/>
              </a:rPr>
              <a:t>'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진단비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정액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지급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8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구조'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블록(암·뇌·심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진단비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진단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즉시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정액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100%·선지급/차감/잔여 </a:t>
            </a:r>
            <a:r>
              <a:rPr sz="900" b="0" spc="-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없음).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spc="45" dirty="0">
                <a:solidFill>
                  <a:srgbClr val="1A2333"/>
                </a:solidFill>
                <a:latin typeface="Yu Gothic"/>
                <a:cs typeface="Yu Gothic"/>
              </a:rPr>
              <a:t>ci.present=false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시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CI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슬롯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대체.</a:t>
            </a:r>
            <a:endParaRPr sz="900">
              <a:latin typeface="현대해상 고딕OTF Medium"/>
              <a:cs typeface="현대해상 고딕OTF Medium"/>
            </a:endParaRPr>
          </a:p>
          <a:p>
            <a:pPr marL="83185" indent="-71120">
              <a:lnSpc>
                <a:spcPct val="100000"/>
              </a:lnSpc>
              <a:spcBef>
                <a:spcPts val="315"/>
              </a:spcBef>
              <a:buChar char="-"/>
              <a:tabLst>
                <a:tab pos="83820" algn="l"/>
              </a:tabLst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주요치료비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변천사(암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4세대·뇌심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진화·재발률/수술비용)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+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상담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워크시트(암·뇌심·산정특례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체크,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chiryo</a:t>
            </a:r>
            <a:r>
              <a:rPr sz="900" spc="9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-2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반영).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3499" y="3155784"/>
            <a:ext cx="6303645" cy="885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14.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제출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전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체크리스트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(하나라도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6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미통과=제출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6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금지,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70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팩폭</a:t>
            </a:r>
            <a:r>
              <a:rPr sz="1150" b="1" spc="3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현대해상 고딕OTF Bold"/>
                <a:cs typeface="현대해상 고딕OTF Bold"/>
              </a:rPr>
              <a:t>먼저)</a:t>
            </a:r>
            <a:endParaRPr sz="1150">
              <a:latin typeface="현대해상 고딕OTF Bold"/>
              <a:cs typeface="현대해상 고딕OTF Bold"/>
            </a:endParaRPr>
          </a:p>
          <a:p>
            <a:pPr marL="12700" marR="5080">
              <a:lnSpc>
                <a:spcPct val="129200"/>
              </a:lnSpc>
              <a:spcBef>
                <a:spcPts val="1200"/>
              </a:spcBef>
            </a:pP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①한장보장표=엑셀끝열=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PPT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➁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별첨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전수+세부가입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교차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③헤더5행+갱신색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④끝열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가로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SUM+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보험료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숫자만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⑤수술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1~5종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슬래시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⑥제외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4종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외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전부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⑦골절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치아·100만↑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제외·일당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화이트리스트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⑧실손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입원5000·합의금캡·일배책</a:t>
            </a:r>
            <a:r>
              <a:rPr sz="900" b="0" spc="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갱신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⑨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빈맥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40행·성인병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4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매핑·무시4종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6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드롭·배증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없음</a:t>
            </a:r>
            <a:r>
              <a:rPr sz="900" b="1" spc="7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⑩보장설명지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8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p·CI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분기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⑪렌더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육안검수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⑫미통과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자진보고.</a:t>
            </a:r>
            <a:endParaRPr sz="900">
              <a:latin typeface="현대해상 고딕OTF Medium"/>
              <a:cs typeface="현대해상 고딕OTF Medi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3499" y="4388901"/>
            <a:ext cx="6315710" cy="1265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29200"/>
              </a:lnSpc>
              <a:spcBef>
                <a:spcPts val="90"/>
              </a:spcBef>
            </a:pPr>
            <a:r>
              <a:rPr sz="900" b="1" spc="50" dirty="0">
                <a:solidFill>
                  <a:srgbClr val="0A3A6E"/>
                </a:solidFill>
                <a:latin typeface="Tahoma"/>
                <a:cs typeface="Tahoma"/>
              </a:rPr>
              <a:t>v31j</a:t>
            </a:r>
            <a:r>
              <a:rPr sz="900" b="1" spc="11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반영분(2026.07.05):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보장설명지에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90" dirty="0">
                <a:solidFill>
                  <a:srgbClr val="BF382A"/>
                </a:solidFill>
                <a:latin typeface="현대해상 고딕OTF Bold"/>
                <a:cs typeface="현대해상 고딕OTF Bold"/>
              </a:rPr>
              <a:t>★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"보험사별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심혈관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분류(상담용)"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별도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2페이지(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P8·P9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)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—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BARUM</a:t>
            </a:r>
            <a:r>
              <a:rPr sz="900" spc="8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2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장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차트를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질병명+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KCD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코드까지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100%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재현(요약본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폐기,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신인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상담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가능)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—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BARUM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85" dirty="0">
                <a:solidFill>
                  <a:srgbClr val="1A2333"/>
                </a:solidFill>
                <a:latin typeface="Yu Gothic"/>
                <a:cs typeface="Yu Gothic"/>
              </a:rPr>
              <a:t>10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사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실제판매담보</a:t>
            </a:r>
            <a:r>
              <a:rPr sz="900" b="0" spc="4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기준,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7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"특정</a:t>
            </a:r>
            <a:r>
              <a:rPr sz="900" spc="-170" dirty="0">
                <a:solidFill>
                  <a:srgbClr val="1A2333"/>
                </a:solidFill>
                <a:latin typeface="Yu Gothic"/>
                <a:cs typeface="Yu Gothic"/>
              </a:rPr>
              <a:t>Ⅰ/Ⅱ</a:t>
            </a:r>
            <a:r>
              <a:rPr sz="900" spc="10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회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사마다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8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다름"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경고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+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10사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담보군·질병코드.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9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p(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표지+9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)</a:t>
            </a:r>
            <a:r>
              <a:rPr sz="900" spc="8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8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셀프렌더+육안검수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통과(짤림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없음).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심장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범위표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빈맥(40)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동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기화·"무행"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문구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폐기.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70" dirty="0">
                <a:solidFill>
                  <a:srgbClr val="0A3A6E"/>
                </a:solidFill>
                <a:latin typeface="Tahoma"/>
                <a:cs typeface="Tahoma"/>
              </a:rPr>
              <a:t>v30z6</a:t>
            </a:r>
            <a:r>
              <a:rPr sz="900" b="1" spc="80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-1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반영분(2026.07.05):</a:t>
            </a:r>
            <a:r>
              <a:rPr sz="900" b="1" spc="2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0" spc="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무시4종(전이암·표준금액·고액항암)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드롭·세부보충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누수차단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3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각주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노이즈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필터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-17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뇌심</a:t>
            </a:r>
            <a:r>
              <a:rPr sz="900" spc="-175" dirty="0">
                <a:solidFill>
                  <a:srgbClr val="1A2333"/>
                </a:solidFill>
                <a:latin typeface="Yu Gothic"/>
                <a:cs typeface="Yu Gothic"/>
              </a:rPr>
              <a:t>Ⅰ·Ⅱ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배증버그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수정(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dedup </a:t>
            </a:r>
            <a:r>
              <a:rPr sz="900" b="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일치)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삼성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리빙케어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dirty="0">
                <a:solidFill>
                  <a:srgbClr val="1A2333"/>
                </a:solidFill>
                <a:latin typeface="Yu Gothic"/>
                <a:cs typeface="Yu Gothic"/>
              </a:rPr>
              <a:t>CI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105" dirty="0">
                <a:solidFill>
                  <a:srgbClr val="1A2333"/>
                </a:solidFill>
                <a:latin typeface="Yu Gothic"/>
                <a:cs typeface="Yu Gothic"/>
              </a:rPr>
              <a:t>80%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판별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4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성인병진단금</a:t>
            </a:r>
            <a:r>
              <a:rPr sz="900" b="0" spc="3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HOLD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해제→급성심근</a:t>
            </a:r>
            <a:endParaRPr sz="900">
              <a:latin typeface="현대해상 고딕OTF Medium"/>
              <a:cs typeface="현대해상 고딕OTF Medium"/>
            </a:endParaRPr>
          </a:p>
          <a:p>
            <a:pPr marL="12700" marR="84455" algn="just">
              <a:lnSpc>
                <a:spcPct val="129200"/>
              </a:lnSpc>
            </a:pP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+뇌졸증/뇌출혈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매핑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1" spc="9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빈맥</a:t>
            </a:r>
            <a:r>
              <a:rPr sz="900" b="1" spc="1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-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40행</a:t>
            </a:r>
            <a:r>
              <a:rPr sz="900" b="1" spc="15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 </a:t>
            </a:r>
            <a:r>
              <a:rPr sz="900" b="1" spc="5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정식(엑셀·</a:t>
            </a:r>
            <a:r>
              <a:rPr sz="900" b="1" spc="50" dirty="0">
                <a:solidFill>
                  <a:srgbClr val="0A3A6E"/>
                </a:solidFill>
                <a:latin typeface="Tahoma"/>
                <a:cs typeface="Tahoma"/>
              </a:rPr>
              <a:t>PPT</a:t>
            </a:r>
            <a:r>
              <a:rPr sz="900" b="1" spc="55" dirty="0">
                <a:solidFill>
                  <a:srgbClr val="0A3A6E"/>
                </a:solidFill>
                <a:latin typeface="Tahoma"/>
                <a:cs typeface="Tahoma"/>
              </a:rPr>
              <a:t> </a:t>
            </a:r>
            <a:r>
              <a:rPr sz="900" b="1" spc="30" dirty="0">
                <a:solidFill>
                  <a:srgbClr val="0A3A6E"/>
                </a:solidFill>
                <a:latin typeface="현대해상 고딕OTF Bold"/>
                <a:cs typeface="현대해상 고딕OTF Bold"/>
              </a:rPr>
              <a:t>복원) </a:t>
            </a:r>
            <a:r>
              <a:rPr sz="900" spc="-130" dirty="0">
                <a:solidFill>
                  <a:srgbClr val="1A2333"/>
                </a:solidFill>
                <a:latin typeface="Yu Gothic"/>
                <a:cs typeface="Yu Gothic"/>
              </a:rPr>
              <a:t>/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-5" dirty="0">
                <a:solidFill>
                  <a:srgbClr val="1A2333"/>
                </a:solidFill>
                <a:latin typeface="Yu Gothic"/>
                <a:cs typeface="Yu Gothic"/>
              </a:rPr>
              <a:t>PDF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비전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45" dirty="0">
                <a:solidFill>
                  <a:srgbClr val="1A2333"/>
                </a:solidFill>
                <a:latin typeface="Yu Gothic"/>
                <a:cs typeface="Yu Gothic"/>
              </a:rPr>
              <a:t>OCR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5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입력·</a:t>
            </a:r>
            <a:r>
              <a:rPr sz="900" spc="55" dirty="0">
                <a:solidFill>
                  <a:srgbClr val="1A2333"/>
                </a:solidFill>
                <a:latin typeface="Yu Gothic"/>
                <a:cs typeface="Yu Gothic"/>
              </a:rPr>
              <a:t>txt+pdf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65" dirty="0">
                <a:solidFill>
                  <a:srgbClr val="1A2333"/>
                </a:solidFill>
                <a:latin typeface="Yu Gothic"/>
                <a:cs typeface="Yu Gothic"/>
              </a:rPr>
              <a:t>OR·</a:t>
            </a:r>
            <a:r>
              <a:rPr sz="900" b="0" spc="6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앱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spc="-5" dirty="0">
                <a:solidFill>
                  <a:srgbClr val="1A2333"/>
                </a:solidFill>
                <a:latin typeface="Yu Gothic"/>
                <a:cs typeface="Yu Gothic"/>
              </a:rPr>
              <a:t>PDF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업로드칸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15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/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보장설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명지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9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신버젼</a:t>
            </a:r>
            <a:r>
              <a:rPr sz="900" b="0" spc="1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 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8</a:t>
            </a:r>
            <a:r>
              <a:rPr sz="900" spc="25" dirty="0">
                <a:solidFill>
                  <a:srgbClr val="1A2333"/>
                </a:solidFill>
                <a:latin typeface="Yu Gothic"/>
                <a:cs typeface="Yu Gothic"/>
              </a:rPr>
              <a:t>p(</a:t>
            </a:r>
            <a:r>
              <a:rPr sz="900" b="0" spc="25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비</a:t>
            </a:r>
            <a:r>
              <a:rPr sz="900" spc="25" dirty="0">
                <a:solidFill>
                  <a:srgbClr val="1A2333"/>
                </a:solidFill>
                <a:latin typeface="Yu Gothic"/>
                <a:cs typeface="Yu Gothic"/>
              </a:rPr>
              <a:t>CI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25" dirty="0">
                <a:solidFill>
                  <a:srgbClr val="1A2333"/>
                </a:solidFill>
                <a:latin typeface="Yu Gothic"/>
                <a:cs typeface="Yu Gothic"/>
              </a:rPr>
              <a:t>Plan</a:t>
            </a:r>
            <a:r>
              <a:rPr sz="900" spc="35" dirty="0">
                <a:solidFill>
                  <a:srgbClr val="1A2333"/>
                </a:solidFill>
                <a:latin typeface="Yu Gothic"/>
                <a:cs typeface="Yu Gothic"/>
              </a:rPr>
              <a:t> 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B·</a:t>
            </a:r>
            <a:r>
              <a:rPr sz="900" b="0" spc="60" dirty="0">
                <a:solidFill>
                  <a:srgbClr val="1A2333"/>
                </a:solidFill>
                <a:latin typeface="현대해상 고딕OTF Medium"/>
                <a:cs typeface="현대해상 고딕OTF Medium"/>
              </a:rPr>
              <a:t>변천사·워크시트</a:t>
            </a:r>
            <a:r>
              <a:rPr sz="900" spc="60" dirty="0">
                <a:solidFill>
                  <a:srgbClr val="1A2333"/>
                </a:solidFill>
                <a:latin typeface="Yu Gothic"/>
                <a:cs typeface="Yu Gothic"/>
              </a:rPr>
              <a:t>).</a:t>
            </a:r>
            <a:endParaRPr sz="9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3306</Words>
  <Application>Microsoft Office PowerPoint</Application>
  <PresentationFormat>사용자 지정</PresentationFormat>
  <Paragraphs>140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6" baseType="lpstr">
      <vt:lpstr>HY신명조</vt:lpstr>
      <vt:lpstr>Noto Sans KR</vt:lpstr>
      <vt:lpstr>Yu Gothic</vt:lpstr>
      <vt:lpstr>현대해상 고딕OTF Bold</vt:lpstr>
      <vt:lpstr>현대해상 고딕OTF Medium</vt:lpstr>
      <vt:lpstr>Bookman Old Style</vt:lpstr>
      <vt:lpstr>Calibri</vt:lpstr>
      <vt:lpstr>Courier New</vt:lpstr>
      <vt:lpstr>Tahoma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은혜 최</cp:lastModifiedBy>
  <cp:revision>2</cp:revision>
  <dcterms:created xsi:type="dcterms:W3CDTF">2026-07-05T13:13:03Z</dcterms:created>
  <dcterms:modified xsi:type="dcterms:W3CDTF">2026-07-05T13:30:17Z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WeasyPrint 69.0</vt:lpwstr>
  </property>
</Properties>
</file>