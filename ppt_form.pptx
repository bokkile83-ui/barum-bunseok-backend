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HDR_GRAD"/>
          <p:cNvSpPr/>
          <p:nvPr/>
        </p:nvSpPr>
        <p:spPr>
          <a:xfrm>
            <a:off x="360000" y="1098000"/>
            <a:ext cx="9972000" cy="43200"/>
          </a:xfrm>
          <a:prstGeom prst="rect">
            <a:avLst/>
          </a:prstGeom>
          <a:gradFill rotWithShape="1">
            <a:gsLst>
              <a:gs pos="0">
                <a:srgbClr val="C9A227"/>
              </a:gs>
              <a:gs pos="100000">
                <a:srgbClr val="F3EBD0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KPIBOX"/>
          <p:cNvSpPr/>
          <p:nvPr/>
        </p:nvSpPr>
        <p:spPr>
          <a:xfrm>
            <a:off x="360000" y="1224000"/>
            <a:ext cx="9972000" cy="413999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KPIBAR"/>
          <p:cNvSpPr/>
          <p:nvPr/>
        </p:nvSpPr>
        <p:spPr>
          <a:xfrm>
            <a:off x="360000" y="1224000"/>
            <a:ext cx="57600" cy="41399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ELLBG"/>
          <p:cNvSpPr/>
          <p:nvPr/>
        </p:nvSpPr>
        <p:spPr>
          <a:xfrm>
            <a:off x="7092000" y="1296000"/>
            <a:ext cx="3168000" cy="27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AND"/>
          <p:cNvSpPr/>
          <p:nvPr/>
        </p:nvSpPr>
        <p:spPr>
          <a:xfrm>
            <a:off x="360000" y="1745999"/>
            <a:ext cx="3204000" cy="306000"/>
          </a:xfrm>
          <a:prstGeom prst="rect">
            <a:avLst/>
          </a:prstGeom>
          <a:solidFill>
            <a:srgbClr val="2A4A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RD"/>
          <p:cNvSpPr/>
          <p:nvPr/>
        </p:nvSpPr>
        <p:spPr>
          <a:xfrm>
            <a:off x="360000" y="2124000"/>
            <a:ext cx="3204000" cy="2736000"/>
          </a:xfrm>
          <a:prstGeom prst="rect">
            <a:avLst/>
          </a:prstGeom>
          <a:solidFill>
            <a:srgbClr val="F3FAF4"/>
          </a:solidFill>
          <a:ln w="20320">
            <a:solidFill>
              <a:srgbClr val="1E7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IER"/>
          <p:cNvSpPr/>
          <p:nvPr/>
        </p:nvSpPr>
        <p:spPr>
          <a:xfrm>
            <a:off x="450000" y="2574000"/>
            <a:ext cx="3024000" cy="2196000"/>
          </a:xfrm>
          <a:prstGeom prst="rect">
            <a:avLst/>
          </a:prstGeom>
          <a:solidFill>
            <a:srgbClr val="D6E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IER_T"/>
          <p:cNvSpPr txBox="1"/>
          <p:nvPr/>
        </p:nvSpPr>
        <p:spPr>
          <a:xfrm>
            <a:off x="558000" y="2852999"/>
            <a:ext cx="1440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뇌혈관</a:t>
            </a:r>
          </a:p>
        </p:txBody>
      </p:sp>
      <p:sp>
        <p:nvSpPr>
          <p:cNvPr id="20" name="CELLBG"/>
          <p:cNvSpPr/>
          <p:nvPr/>
        </p:nvSpPr>
        <p:spPr>
          <a:xfrm>
            <a:off x="1998000" y="2871000"/>
            <a:ext cx="1368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IER"/>
          <p:cNvSpPr/>
          <p:nvPr/>
        </p:nvSpPr>
        <p:spPr>
          <a:xfrm>
            <a:off x="576000" y="3366000"/>
            <a:ext cx="2772000" cy="1332000"/>
          </a:xfrm>
          <a:prstGeom prst="rect">
            <a:avLst/>
          </a:prstGeom>
          <a:solidFill>
            <a:srgbClr val="AFD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IER_T"/>
          <p:cNvSpPr txBox="1"/>
          <p:nvPr/>
        </p:nvSpPr>
        <p:spPr>
          <a:xfrm>
            <a:off x="684000" y="3591000"/>
            <a:ext cx="1260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뇌졸중</a:t>
            </a:r>
          </a:p>
        </p:txBody>
      </p:sp>
      <p:sp>
        <p:nvSpPr>
          <p:cNvPr id="28" name="CELLBG"/>
          <p:cNvSpPr/>
          <p:nvPr/>
        </p:nvSpPr>
        <p:spPr>
          <a:xfrm>
            <a:off x="1944000" y="3609000"/>
            <a:ext cx="1296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IER"/>
          <p:cNvSpPr/>
          <p:nvPr/>
        </p:nvSpPr>
        <p:spPr>
          <a:xfrm>
            <a:off x="702000" y="4050000"/>
            <a:ext cx="2520000" cy="594000"/>
          </a:xfrm>
          <a:prstGeom prst="rect">
            <a:avLst/>
          </a:prstGeom>
          <a:solidFill>
            <a:srgbClr val="8DC4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IER_T"/>
          <p:cNvSpPr txBox="1"/>
          <p:nvPr/>
        </p:nvSpPr>
        <p:spPr>
          <a:xfrm>
            <a:off x="810000" y="4230000"/>
            <a:ext cx="1080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뇌출혈</a:t>
            </a:r>
          </a:p>
        </p:txBody>
      </p:sp>
      <p:sp>
        <p:nvSpPr>
          <p:cNvPr id="35" name="CELLBG"/>
          <p:cNvSpPr/>
          <p:nvPr/>
        </p:nvSpPr>
        <p:spPr>
          <a:xfrm>
            <a:off x="1889999" y="4248000"/>
            <a:ext cx="1224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ARD"/>
          <p:cNvSpPr/>
          <p:nvPr/>
        </p:nvSpPr>
        <p:spPr>
          <a:xfrm>
            <a:off x="360000" y="4968000"/>
            <a:ext cx="3204000" cy="3168000"/>
          </a:xfrm>
          <a:prstGeom prst="rect">
            <a:avLst/>
          </a:prstGeom>
          <a:solidFill>
            <a:srgbClr val="F3FAF4"/>
          </a:solidFill>
          <a:ln w="20320">
            <a:solidFill>
              <a:srgbClr val="1E7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IER"/>
          <p:cNvSpPr/>
          <p:nvPr/>
        </p:nvSpPr>
        <p:spPr>
          <a:xfrm>
            <a:off x="450000" y="5418000"/>
            <a:ext cx="3024000" cy="2610000"/>
          </a:xfrm>
          <a:prstGeom prst="rect">
            <a:avLst/>
          </a:prstGeom>
          <a:solidFill>
            <a:srgbClr val="F8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IER_T"/>
          <p:cNvSpPr txBox="1"/>
          <p:nvPr/>
        </p:nvSpPr>
        <p:spPr>
          <a:xfrm>
            <a:off x="558000" y="5444965"/>
            <a:ext cx="2808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심혈관</a:t>
            </a:r>
          </a:p>
        </p:txBody>
      </p:sp>
      <p:sp>
        <p:nvSpPr>
          <p:cNvPr id="45" name="CELLBG"/>
          <p:cNvSpPr/>
          <p:nvPr/>
        </p:nvSpPr>
        <p:spPr>
          <a:xfrm>
            <a:off x="1944000" y="5721350"/>
            <a:ext cx="1440000" cy="14605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ELLBG"/>
          <p:cNvSpPr/>
          <p:nvPr/>
        </p:nvSpPr>
        <p:spPr>
          <a:xfrm>
            <a:off x="1944000" y="5901690"/>
            <a:ext cx="1440000" cy="14605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ELLBG"/>
          <p:cNvSpPr/>
          <p:nvPr/>
        </p:nvSpPr>
        <p:spPr>
          <a:xfrm>
            <a:off x="1944000" y="6082030"/>
            <a:ext cx="1440000" cy="14605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CELLBG"/>
          <p:cNvSpPr/>
          <p:nvPr/>
        </p:nvSpPr>
        <p:spPr>
          <a:xfrm>
            <a:off x="1944000" y="6262370"/>
            <a:ext cx="1440000" cy="14605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ELLBG"/>
          <p:cNvSpPr/>
          <p:nvPr/>
        </p:nvSpPr>
        <p:spPr>
          <a:xfrm>
            <a:off x="1944000" y="6442710"/>
            <a:ext cx="1440000" cy="14605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CELLBG"/>
          <p:cNvSpPr/>
          <p:nvPr/>
        </p:nvSpPr>
        <p:spPr>
          <a:xfrm>
            <a:off x="1944000" y="6623050"/>
            <a:ext cx="1440000" cy="14605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ELLBG"/>
          <p:cNvSpPr/>
          <p:nvPr/>
        </p:nvSpPr>
        <p:spPr>
          <a:xfrm>
            <a:off x="1944000" y="6803390"/>
            <a:ext cx="1440000" cy="14605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IER"/>
          <p:cNvSpPr/>
          <p:nvPr/>
        </p:nvSpPr>
        <p:spPr>
          <a:xfrm>
            <a:off x="576000" y="7046899"/>
            <a:ext cx="2772000" cy="927100"/>
          </a:xfrm>
          <a:prstGeom prst="rect">
            <a:avLst/>
          </a:prstGeom>
          <a:solidFill>
            <a:srgbClr val="F0B8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IER_T"/>
          <p:cNvSpPr txBox="1"/>
          <p:nvPr/>
        </p:nvSpPr>
        <p:spPr>
          <a:xfrm>
            <a:off x="684000" y="7145799"/>
            <a:ext cx="1260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허혈성 심장</a:t>
            </a:r>
          </a:p>
        </p:txBody>
      </p:sp>
      <p:sp>
        <p:nvSpPr>
          <p:cNvPr id="67" name="CELLBG"/>
          <p:cNvSpPr/>
          <p:nvPr/>
        </p:nvSpPr>
        <p:spPr>
          <a:xfrm>
            <a:off x="1944000" y="7163798"/>
            <a:ext cx="1296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IER"/>
          <p:cNvSpPr/>
          <p:nvPr/>
        </p:nvSpPr>
        <p:spPr>
          <a:xfrm>
            <a:off x="702000" y="7478699"/>
            <a:ext cx="2520000" cy="431800"/>
          </a:xfrm>
          <a:prstGeom prst="rect">
            <a:avLst/>
          </a:prstGeom>
          <a:solidFill>
            <a:srgbClr val="EE9B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IER_T"/>
          <p:cNvSpPr txBox="1"/>
          <p:nvPr/>
        </p:nvSpPr>
        <p:spPr>
          <a:xfrm>
            <a:off x="810000" y="7577599"/>
            <a:ext cx="13716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급성심근경색</a:t>
            </a:r>
          </a:p>
        </p:txBody>
      </p:sp>
      <p:sp>
        <p:nvSpPr>
          <p:cNvPr id="72" name="CELLBG"/>
          <p:cNvSpPr/>
          <p:nvPr/>
        </p:nvSpPr>
        <p:spPr>
          <a:xfrm>
            <a:off x="2133600" y="7595598"/>
            <a:ext cx="9906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CARD"/>
          <p:cNvSpPr/>
          <p:nvPr/>
        </p:nvSpPr>
        <p:spPr>
          <a:xfrm>
            <a:off x="360000" y="8244000"/>
            <a:ext cx="3204000" cy="1116000"/>
          </a:xfrm>
          <a:prstGeom prst="rect">
            <a:avLst/>
          </a:prstGeom>
          <a:solidFill>
            <a:srgbClr val="EAF2FD"/>
          </a:solidFill>
          <a:ln w="20320">
            <a:solidFill>
              <a:srgbClr val="1E7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CELLBG"/>
          <p:cNvSpPr/>
          <p:nvPr/>
        </p:nvSpPr>
        <p:spPr>
          <a:xfrm>
            <a:off x="2088000" y="86332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CELLBG"/>
          <p:cNvSpPr/>
          <p:nvPr/>
        </p:nvSpPr>
        <p:spPr>
          <a:xfrm>
            <a:off x="2088000" y="88613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ELLBG"/>
          <p:cNvSpPr/>
          <p:nvPr/>
        </p:nvSpPr>
        <p:spPr>
          <a:xfrm>
            <a:off x="2088000" y="90894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ARD"/>
          <p:cNvSpPr/>
          <p:nvPr/>
        </p:nvSpPr>
        <p:spPr>
          <a:xfrm>
            <a:off x="360000" y="9468000"/>
            <a:ext cx="3204000" cy="1116000"/>
          </a:xfrm>
          <a:prstGeom prst="rect">
            <a:avLst/>
          </a:prstGeom>
          <a:solidFill>
            <a:srgbClr val="FDEDED"/>
          </a:solidFill>
          <a:ln w="20320">
            <a:solidFill>
              <a:srgbClr val="1E7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ELLBG"/>
          <p:cNvSpPr/>
          <p:nvPr/>
        </p:nvSpPr>
        <p:spPr>
          <a:xfrm>
            <a:off x="2088000" y="98572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ELLBG"/>
          <p:cNvSpPr/>
          <p:nvPr/>
        </p:nvSpPr>
        <p:spPr>
          <a:xfrm>
            <a:off x="2088000" y="100853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ELLBG"/>
          <p:cNvSpPr/>
          <p:nvPr/>
        </p:nvSpPr>
        <p:spPr>
          <a:xfrm>
            <a:off x="2088000" y="103134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BAND"/>
          <p:cNvSpPr/>
          <p:nvPr/>
        </p:nvSpPr>
        <p:spPr>
          <a:xfrm>
            <a:off x="360000" y="10764000"/>
            <a:ext cx="3204000" cy="306000"/>
          </a:xfrm>
          <a:prstGeom prst="rect">
            <a:avLst/>
          </a:prstGeom>
          <a:solidFill>
            <a:srgbClr val="0E1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CARD"/>
          <p:cNvSpPr/>
          <p:nvPr/>
        </p:nvSpPr>
        <p:spPr>
          <a:xfrm>
            <a:off x="360000" y="11142000"/>
            <a:ext cx="3204000" cy="176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CELLBG"/>
          <p:cNvSpPr/>
          <p:nvPr/>
        </p:nvSpPr>
        <p:spPr>
          <a:xfrm>
            <a:off x="2088000" y="115312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ELLBG"/>
          <p:cNvSpPr/>
          <p:nvPr/>
        </p:nvSpPr>
        <p:spPr>
          <a:xfrm>
            <a:off x="2088000" y="1175276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ELLBG"/>
          <p:cNvSpPr/>
          <p:nvPr/>
        </p:nvSpPr>
        <p:spPr>
          <a:xfrm>
            <a:off x="2088000" y="1197432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CELLBG"/>
          <p:cNvSpPr/>
          <p:nvPr/>
        </p:nvSpPr>
        <p:spPr>
          <a:xfrm>
            <a:off x="2088000" y="1219588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CELLBG"/>
          <p:cNvSpPr/>
          <p:nvPr/>
        </p:nvSpPr>
        <p:spPr>
          <a:xfrm>
            <a:off x="2088000" y="1241743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CELLBG"/>
          <p:cNvSpPr/>
          <p:nvPr/>
        </p:nvSpPr>
        <p:spPr>
          <a:xfrm>
            <a:off x="2088000" y="126390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BAND"/>
          <p:cNvSpPr/>
          <p:nvPr/>
        </p:nvSpPr>
        <p:spPr>
          <a:xfrm>
            <a:off x="360000" y="13089600"/>
            <a:ext cx="3204000" cy="306000"/>
          </a:xfrm>
          <a:prstGeom prst="rect">
            <a:avLst/>
          </a:prstGeom>
          <a:solidFill>
            <a:srgbClr val="0E1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CARD"/>
          <p:cNvSpPr/>
          <p:nvPr/>
        </p:nvSpPr>
        <p:spPr>
          <a:xfrm>
            <a:off x="360000" y="13467600"/>
            <a:ext cx="3204000" cy="136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CELLBG"/>
          <p:cNvSpPr/>
          <p:nvPr/>
        </p:nvSpPr>
        <p:spPr>
          <a:xfrm>
            <a:off x="2088000" y="138568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CELLBG"/>
          <p:cNvSpPr/>
          <p:nvPr/>
        </p:nvSpPr>
        <p:spPr>
          <a:xfrm>
            <a:off x="2088000" y="14091666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CELLBG"/>
          <p:cNvSpPr/>
          <p:nvPr/>
        </p:nvSpPr>
        <p:spPr>
          <a:xfrm>
            <a:off x="2088000" y="14326533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CELLBG"/>
          <p:cNvSpPr/>
          <p:nvPr/>
        </p:nvSpPr>
        <p:spPr>
          <a:xfrm>
            <a:off x="2088000" y="145614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BAND"/>
          <p:cNvSpPr/>
          <p:nvPr/>
        </p:nvSpPr>
        <p:spPr>
          <a:xfrm>
            <a:off x="3744000" y="1745999"/>
            <a:ext cx="3204000" cy="306000"/>
          </a:xfrm>
          <a:prstGeom prst="rect">
            <a:avLst/>
          </a:prstGeom>
          <a:solidFill>
            <a:srgbClr val="A84B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CARD"/>
          <p:cNvSpPr/>
          <p:nvPr/>
        </p:nvSpPr>
        <p:spPr>
          <a:xfrm>
            <a:off x="3744000" y="2124000"/>
            <a:ext cx="3204000" cy="4140000"/>
          </a:xfrm>
          <a:prstGeom prst="rect">
            <a:avLst/>
          </a:prstGeom>
          <a:solidFill>
            <a:srgbClr val="F3FAF4"/>
          </a:solidFill>
          <a:ln w="20320">
            <a:solidFill>
              <a:srgbClr val="1E7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IER"/>
          <p:cNvSpPr/>
          <p:nvPr/>
        </p:nvSpPr>
        <p:spPr>
          <a:xfrm>
            <a:off x="3834000" y="2591999"/>
            <a:ext cx="3024000" cy="1404000"/>
          </a:xfrm>
          <a:prstGeom prst="rect">
            <a:avLst/>
          </a:prstGeom>
          <a:solidFill>
            <a:srgbClr val="FBE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IER_T"/>
          <p:cNvSpPr txBox="1"/>
          <p:nvPr/>
        </p:nvSpPr>
        <p:spPr>
          <a:xfrm>
            <a:off x="3942000" y="2735999"/>
            <a:ext cx="1296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일반암</a:t>
            </a:r>
          </a:p>
        </p:txBody>
      </p:sp>
      <p:sp>
        <p:nvSpPr>
          <p:cNvPr id="146" name="CELLBG"/>
          <p:cNvSpPr/>
          <p:nvPr/>
        </p:nvSpPr>
        <p:spPr>
          <a:xfrm>
            <a:off x="5238000" y="2753999"/>
            <a:ext cx="1512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IER"/>
          <p:cNvSpPr/>
          <p:nvPr/>
        </p:nvSpPr>
        <p:spPr>
          <a:xfrm>
            <a:off x="3960000" y="3113999"/>
            <a:ext cx="2772000" cy="827999"/>
          </a:xfrm>
          <a:prstGeom prst="rect">
            <a:avLst/>
          </a:prstGeom>
          <a:solidFill>
            <a:srgbClr val="F6C9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IER_T"/>
          <p:cNvSpPr txBox="1"/>
          <p:nvPr/>
        </p:nvSpPr>
        <p:spPr>
          <a:xfrm>
            <a:off x="4068000" y="3410998"/>
            <a:ext cx="1116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고액암</a:t>
            </a:r>
          </a:p>
        </p:txBody>
      </p:sp>
      <p:sp>
        <p:nvSpPr>
          <p:cNvPr id="151" name="CELLBG"/>
          <p:cNvSpPr/>
          <p:nvPr/>
        </p:nvSpPr>
        <p:spPr>
          <a:xfrm>
            <a:off x="5183999" y="3428998"/>
            <a:ext cx="1440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IER"/>
          <p:cNvSpPr/>
          <p:nvPr/>
        </p:nvSpPr>
        <p:spPr>
          <a:xfrm>
            <a:off x="3834000" y="4086000"/>
            <a:ext cx="3024000" cy="522000"/>
          </a:xfrm>
          <a:prstGeom prst="rect">
            <a:avLst/>
          </a:prstGeom>
          <a:solidFill>
            <a:srgbClr val="F9CF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IER_T"/>
          <p:cNvSpPr txBox="1"/>
          <p:nvPr/>
        </p:nvSpPr>
        <p:spPr>
          <a:xfrm>
            <a:off x="3942000" y="4230000"/>
            <a:ext cx="1728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소액암</a:t>
            </a:r>
          </a:p>
        </p:txBody>
      </p:sp>
      <p:sp>
        <p:nvSpPr>
          <p:cNvPr id="157" name="CELLBG"/>
          <p:cNvSpPr/>
          <p:nvPr/>
        </p:nvSpPr>
        <p:spPr>
          <a:xfrm>
            <a:off x="5670000" y="4248000"/>
            <a:ext cx="1080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IER"/>
          <p:cNvSpPr/>
          <p:nvPr/>
        </p:nvSpPr>
        <p:spPr>
          <a:xfrm>
            <a:off x="3834000" y="4698000"/>
            <a:ext cx="3024000" cy="558000"/>
          </a:xfrm>
          <a:prstGeom prst="rect">
            <a:avLst/>
          </a:prstGeom>
          <a:solidFill>
            <a:srgbClr val="FFE3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IER_T"/>
          <p:cNvSpPr txBox="1"/>
          <p:nvPr/>
        </p:nvSpPr>
        <p:spPr>
          <a:xfrm>
            <a:off x="3942000" y="4860000"/>
            <a:ext cx="1728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유사암</a:t>
            </a:r>
          </a:p>
        </p:txBody>
      </p:sp>
      <p:sp>
        <p:nvSpPr>
          <p:cNvPr id="162" name="CELLBG"/>
          <p:cNvSpPr/>
          <p:nvPr/>
        </p:nvSpPr>
        <p:spPr>
          <a:xfrm>
            <a:off x="5670000" y="4878000"/>
            <a:ext cx="1080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IER"/>
          <p:cNvSpPr/>
          <p:nvPr/>
        </p:nvSpPr>
        <p:spPr>
          <a:xfrm>
            <a:off x="3834000" y="5346000"/>
            <a:ext cx="3024000" cy="378000"/>
          </a:xfrm>
          <a:prstGeom prst="rect">
            <a:avLst/>
          </a:prstGeom>
          <a:solidFill>
            <a:srgbClr val="F6D9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IER_T"/>
          <p:cNvSpPr txBox="1"/>
          <p:nvPr/>
        </p:nvSpPr>
        <p:spPr>
          <a:xfrm>
            <a:off x="3942000" y="5382000"/>
            <a:ext cx="1296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통합암</a:t>
            </a:r>
          </a:p>
        </p:txBody>
      </p:sp>
      <p:sp>
        <p:nvSpPr>
          <p:cNvPr id="167" name="CELLBG"/>
          <p:cNvSpPr/>
          <p:nvPr/>
        </p:nvSpPr>
        <p:spPr>
          <a:xfrm>
            <a:off x="5238000" y="5400000"/>
            <a:ext cx="1512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IER"/>
          <p:cNvSpPr/>
          <p:nvPr/>
        </p:nvSpPr>
        <p:spPr>
          <a:xfrm>
            <a:off x="3834000" y="5796000"/>
            <a:ext cx="3024000" cy="378000"/>
          </a:xfrm>
          <a:prstGeom prst="rect">
            <a:avLst/>
          </a:prstGeom>
          <a:solidFill>
            <a:srgbClr val="F6D9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IER_T"/>
          <p:cNvSpPr txBox="1"/>
          <p:nvPr/>
        </p:nvSpPr>
        <p:spPr>
          <a:xfrm>
            <a:off x="3942000" y="5832000"/>
            <a:ext cx="1296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700" b="1">
                <a:solidFill>
                  <a:srgbClr val="0E1E52"/>
                </a:solidFill>
                <a:latin typeface="HY엽서M"/>
              </a:rPr>
              <a:t>통합전이암</a:t>
            </a:r>
          </a:p>
        </p:txBody>
      </p:sp>
      <p:sp>
        <p:nvSpPr>
          <p:cNvPr id="171" name="CELLBG"/>
          <p:cNvSpPr/>
          <p:nvPr/>
        </p:nvSpPr>
        <p:spPr>
          <a:xfrm>
            <a:off x="5238000" y="5850000"/>
            <a:ext cx="1512000" cy="19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CARD"/>
          <p:cNvSpPr/>
          <p:nvPr/>
        </p:nvSpPr>
        <p:spPr>
          <a:xfrm>
            <a:off x="3744000" y="6372000"/>
            <a:ext cx="3204000" cy="2736000"/>
          </a:xfrm>
          <a:prstGeom prst="rect">
            <a:avLst/>
          </a:prstGeom>
          <a:solidFill>
            <a:srgbClr val="FEF3EA"/>
          </a:solidFill>
          <a:ln w="20320">
            <a:solidFill>
              <a:srgbClr val="1E7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CELLBG"/>
          <p:cNvSpPr/>
          <p:nvPr/>
        </p:nvSpPr>
        <p:spPr>
          <a:xfrm>
            <a:off x="5472000" y="6761198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CELLBG"/>
          <p:cNvSpPr/>
          <p:nvPr/>
        </p:nvSpPr>
        <p:spPr>
          <a:xfrm>
            <a:off x="5472000" y="6991888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CELLBG"/>
          <p:cNvSpPr/>
          <p:nvPr/>
        </p:nvSpPr>
        <p:spPr>
          <a:xfrm>
            <a:off x="5472000" y="7222577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CELLBG"/>
          <p:cNvSpPr/>
          <p:nvPr/>
        </p:nvSpPr>
        <p:spPr>
          <a:xfrm>
            <a:off x="5472000" y="7453266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CELLBG"/>
          <p:cNvSpPr/>
          <p:nvPr/>
        </p:nvSpPr>
        <p:spPr>
          <a:xfrm>
            <a:off x="5472000" y="7683955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CELLBG"/>
          <p:cNvSpPr/>
          <p:nvPr/>
        </p:nvSpPr>
        <p:spPr>
          <a:xfrm>
            <a:off x="5472000" y="7914643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CELLBG"/>
          <p:cNvSpPr/>
          <p:nvPr/>
        </p:nvSpPr>
        <p:spPr>
          <a:xfrm>
            <a:off x="5472000" y="8145332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HAIR"/>
          <p:cNvSpPr/>
          <p:nvPr/>
        </p:nvSpPr>
        <p:spPr>
          <a:xfrm>
            <a:off x="3870000" y="8276399"/>
            <a:ext cx="2952000" cy="720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CELLBG"/>
          <p:cNvSpPr/>
          <p:nvPr/>
        </p:nvSpPr>
        <p:spPr>
          <a:xfrm>
            <a:off x="5472000" y="8376022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CELLBG"/>
          <p:cNvSpPr/>
          <p:nvPr/>
        </p:nvSpPr>
        <p:spPr>
          <a:xfrm>
            <a:off x="5472000" y="8606711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CELLBG"/>
          <p:cNvSpPr/>
          <p:nvPr/>
        </p:nvSpPr>
        <p:spPr>
          <a:xfrm>
            <a:off x="5472000" y="883739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BAND"/>
          <p:cNvSpPr/>
          <p:nvPr/>
        </p:nvSpPr>
        <p:spPr>
          <a:xfrm>
            <a:off x="3744000" y="9467999"/>
            <a:ext cx="3204000" cy="306000"/>
          </a:xfrm>
          <a:prstGeom prst="rect">
            <a:avLst/>
          </a:prstGeom>
          <a:solidFill>
            <a:srgbClr val="0E1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CARD"/>
          <p:cNvSpPr/>
          <p:nvPr/>
        </p:nvSpPr>
        <p:spPr>
          <a:xfrm>
            <a:off x="3744000" y="9846000"/>
            <a:ext cx="3204000" cy="2448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CELLBG"/>
          <p:cNvSpPr/>
          <p:nvPr/>
        </p:nvSpPr>
        <p:spPr>
          <a:xfrm>
            <a:off x="5256000" y="10235198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CELLBG"/>
          <p:cNvSpPr/>
          <p:nvPr/>
        </p:nvSpPr>
        <p:spPr>
          <a:xfrm>
            <a:off x="5256000" y="1041401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CELLBG"/>
          <p:cNvSpPr/>
          <p:nvPr/>
        </p:nvSpPr>
        <p:spPr>
          <a:xfrm>
            <a:off x="5256000" y="1059283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CELLBG"/>
          <p:cNvSpPr/>
          <p:nvPr/>
        </p:nvSpPr>
        <p:spPr>
          <a:xfrm>
            <a:off x="4968000" y="10771659"/>
            <a:ext cx="1944000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CELLBG"/>
          <p:cNvSpPr/>
          <p:nvPr/>
        </p:nvSpPr>
        <p:spPr>
          <a:xfrm>
            <a:off x="5256000" y="1095047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ELLBG"/>
          <p:cNvSpPr/>
          <p:nvPr/>
        </p:nvSpPr>
        <p:spPr>
          <a:xfrm>
            <a:off x="5256000" y="1112929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CELLBG"/>
          <p:cNvSpPr/>
          <p:nvPr/>
        </p:nvSpPr>
        <p:spPr>
          <a:xfrm>
            <a:off x="5256000" y="1130811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CELLBG"/>
          <p:cNvSpPr/>
          <p:nvPr/>
        </p:nvSpPr>
        <p:spPr>
          <a:xfrm>
            <a:off x="5256000" y="1148693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CELLBG"/>
          <p:cNvSpPr/>
          <p:nvPr/>
        </p:nvSpPr>
        <p:spPr>
          <a:xfrm>
            <a:off x="5256000" y="11665758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CELLBG"/>
          <p:cNvSpPr/>
          <p:nvPr/>
        </p:nvSpPr>
        <p:spPr>
          <a:xfrm>
            <a:off x="5256000" y="1184457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CELLBG"/>
          <p:cNvSpPr/>
          <p:nvPr/>
        </p:nvSpPr>
        <p:spPr>
          <a:xfrm>
            <a:off x="5256000" y="12023400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CARD"/>
          <p:cNvSpPr/>
          <p:nvPr/>
        </p:nvSpPr>
        <p:spPr>
          <a:xfrm>
            <a:off x="3744000" y="12384000"/>
            <a:ext cx="3204000" cy="2448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CELLBG"/>
          <p:cNvSpPr/>
          <p:nvPr/>
        </p:nvSpPr>
        <p:spPr>
          <a:xfrm>
            <a:off x="5256000" y="1277319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ELLBG"/>
          <p:cNvSpPr/>
          <p:nvPr/>
        </p:nvSpPr>
        <p:spPr>
          <a:xfrm>
            <a:off x="5256000" y="1295201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CELLBG"/>
          <p:cNvSpPr/>
          <p:nvPr/>
        </p:nvSpPr>
        <p:spPr>
          <a:xfrm>
            <a:off x="5256000" y="1313083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ELLBG"/>
          <p:cNvSpPr/>
          <p:nvPr/>
        </p:nvSpPr>
        <p:spPr>
          <a:xfrm>
            <a:off x="4968000" y="13309659"/>
            <a:ext cx="1944000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CELLBG"/>
          <p:cNvSpPr/>
          <p:nvPr/>
        </p:nvSpPr>
        <p:spPr>
          <a:xfrm>
            <a:off x="5256000" y="1348847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ELLBG"/>
          <p:cNvSpPr/>
          <p:nvPr/>
        </p:nvSpPr>
        <p:spPr>
          <a:xfrm>
            <a:off x="5256000" y="1366729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CELLBG"/>
          <p:cNvSpPr/>
          <p:nvPr/>
        </p:nvSpPr>
        <p:spPr>
          <a:xfrm>
            <a:off x="5256000" y="1384611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ELLBG"/>
          <p:cNvSpPr/>
          <p:nvPr/>
        </p:nvSpPr>
        <p:spPr>
          <a:xfrm>
            <a:off x="5256000" y="1402493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CELLBG"/>
          <p:cNvSpPr/>
          <p:nvPr/>
        </p:nvSpPr>
        <p:spPr>
          <a:xfrm>
            <a:off x="5256000" y="1420375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ELLBG"/>
          <p:cNvSpPr/>
          <p:nvPr/>
        </p:nvSpPr>
        <p:spPr>
          <a:xfrm>
            <a:off x="5256000" y="14382579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CELLBG"/>
          <p:cNvSpPr/>
          <p:nvPr/>
        </p:nvSpPr>
        <p:spPr>
          <a:xfrm>
            <a:off x="5256000" y="14561400"/>
            <a:ext cx="1655999" cy="15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BAND"/>
          <p:cNvSpPr/>
          <p:nvPr/>
        </p:nvSpPr>
        <p:spPr>
          <a:xfrm>
            <a:off x="7128000" y="1745999"/>
            <a:ext cx="3204000" cy="306000"/>
          </a:xfrm>
          <a:prstGeom prst="rect">
            <a:avLst/>
          </a:prstGeom>
          <a:solidFill>
            <a:srgbClr val="0E1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CARD"/>
          <p:cNvSpPr/>
          <p:nvPr/>
        </p:nvSpPr>
        <p:spPr>
          <a:xfrm>
            <a:off x="7128000" y="2124000"/>
            <a:ext cx="3204000" cy="25740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CELLBG"/>
          <p:cNvSpPr/>
          <p:nvPr/>
        </p:nvSpPr>
        <p:spPr>
          <a:xfrm>
            <a:off x="8856000" y="25132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ELLBG"/>
          <p:cNvSpPr/>
          <p:nvPr/>
        </p:nvSpPr>
        <p:spPr>
          <a:xfrm>
            <a:off x="8856000" y="2725888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CELLBG"/>
          <p:cNvSpPr/>
          <p:nvPr/>
        </p:nvSpPr>
        <p:spPr>
          <a:xfrm>
            <a:off x="8856000" y="2938576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CELLBG"/>
          <p:cNvSpPr/>
          <p:nvPr/>
        </p:nvSpPr>
        <p:spPr>
          <a:xfrm>
            <a:off x="8856000" y="3151265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CELLBG"/>
          <p:cNvSpPr/>
          <p:nvPr/>
        </p:nvSpPr>
        <p:spPr>
          <a:xfrm>
            <a:off x="8856000" y="3363955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CELLBG"/>
          <p:cNvSpPr/>
          <p:nvPr/>
        </p:nvSpPr>
        <p:spPr>
          <a:xfrm>
            <a:off x="8856000" y="3576644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CELLBG"/>
          <p:cNvSpPr/>
          <p:nvPr/>
        </p:nvSpPr>
        <p:spPr>
          <a:xfrm>
            <a:off x="8856000" y="3789333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CELLBG"/>
          <p:cNvSpPr/>
          <p:nvPr/>
        </p:nvSpPr>
        <p:spPr>
          <a:xfrm>
            <a:off x="8856000" y="4002022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CELLBG"/>
          <p:cNvSpPr/>
          <p:nvPr/>
        </p:nvSpPr>
        <p:spPr>
          <a:xfrm>
            <a:off x="8856000" y="4214711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CELLBG"/>
          <p:cNvSpPr/>
          <p:nvPr/>
        </p:nvSpPr>
        <p:spPr>
          <a:xfrm>
            <a:off x="8856000" y="44274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CARD"/>
          <p:cNvSpPr/>
          <p:nvPr/>
        </p:nvSpPr>
        <p:spPr>
          <a:xfrm>
            <a:off x="7128000" y="4806000"/>
            <a:ext cx="3204000" cy="1565999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CELLBG"/>
          <p:cNvSpPr/>
          <p:nvPr/>
        </p:nvSpPr>
        <p:spPr>
          <a:xfrm>
            <a:off x="8856000" y="51952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CELLBG"/>
          <p:cNvSpPr/>
          <p:nvPr/>
        </p:nvSpPr>
        <p:spPr>
          <a:xfrm>
            <a:off x="8856000" y="542174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CELLBG"/>
          <p:cNvSpPr/>
          <p:nvPr/>
        </p:nvSpPr>
        <p:spPr>
          <a:xfrm>
            <a:off x="8856000" y="564829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CELLBG"/>
          <p:cNvSpPr/>
          <p:nvPr/>
        </p:nvSpPr>
        <p:spPr>
          <a:xfrm>
            <a:off x="8856000" y="587484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CELLBG"/>
          <p:cNvSpPr/>
          <p:nvPr/>
        </p:nvSpPr>
        <p:spPr>
          <a:xfrm>
            <a:off x="8856000" y="610139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CARD"/>
          <p:cNvSpPr/>
          <p:nvPr/>
        </p:nvSpPr>
        <p:spPr>
          <a:xfrm>
            <a:off x="7128000" y="6480000"/>
            <a:ext cx="3204000" cy="136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CELLBG"/>
          <p:cNvSpPr/>
          <p:nvPr/>
        </p:nvSpPr>
        <p:spPr>
          <a:xfrm>
            <a:off x="8856000" y="68692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CELLBG"/>
          <p:cNvSpPr/>
          <p:nvPr/>
        </p:nvSpPr>
        <p:spPr>
          <a:xfrm>
            <a:off x="8856000" y="7104066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CELLBG"/>
          <p:cNvSpPr/>
          <p:nvPr/>
        </p:nvSpPr>
        <p:spPr>
          <a:xfrm>
            <a:off x="8856000" y="7338933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CELLBG"/>
          <p:cNvSpPr/>
          <p:nvPr/>
        </p:nvSpPr>
        <p:spPr>
          <a:xfrm>
            <a:off x="8856000" y="757379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BAND"/>
          <p:cNvSpPr/>
          <p:nvPr/>
        </p:nvSpPr>
        <p:spPr>
          <a:xfrm>
            <a:off x="7128000" y="8024400"/>
            <a:ext cx="3204000" cy="306000"/>
          </a:xfrm>
          <a:prstGeom prst="rect">
            <a:avLst/>
          </a:prstGeom>
          <a:solidFill>
            <a:srgbClr val="0E1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CARD"/>
          <p:cNvSpPr/>
          <p:nvPr/>
        </p:nvSpPr>
        <p:spPr>
          <a:xfrm>
            <a:off x="7128000" y="8402400"/>
            <a:ext cx="3204000" cy="338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CELLBG"/>
          <p:cNvSpPr/>
          <p:nvPr/>
        </p:nvSpPr>
        <p:spPr>
          <a:xfrm>
            <a:off x="8856000" y="87916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CELLBG"/>
          <p:cNvSpPr/>
          <p:nvPr/>
        </p:nvSpPr>
        <p:spPr>
          <a:xfrm>
            <a:off x="8856000" y="9000876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CELLBG"/>
          <p:cNvSpPr/>
          <p:nvPr/>
        </p:nvSpPr>
        <p:spPr>
          <a:xfrm>
            <a:off x="8856000" y="9210153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CELLBG"/>
          <p:cNvSpPr/>
          <p:nvPr/>
        </p:nvSpPr>
        <p:spPr>
          <a:xfrm>
            <a:off x="8856000" y="941943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CELLBG"/>
          <p:cNvSpPr/>
          <p:nvPr/>
        </p:nvSpPr>
        <p:spPr>
          <a:xfrm>
            <a:off x="8856000" y="9628707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CELLBG"/>
          <p:cNvSpPr/>
          <p:nvPr/>
        </p:nvSpPr>
        <p:spPr>
          <a:xfrm>
            <a:off x="8856000" y="9837984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CELLBG"/>
          <p:cNvSpPr/>
          <p:nvPr/>
        </p:nvSpPr>
        <p:spPr>
          <a:xfrm>
            <a:off x="8856000" y="10047261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CELLBG"/>
          <p:cNvSpPr/>
          <p:nvPr/>
        </p:nvSpPr>
        <p:spPr>
          <a:xfrm>
            <a:off x="8856000" y="10256538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CELLBG"/>
          <p:cNvSpPr/>
          <p:nvPr/>
        </p:nvSpPr>
        <p:spPr>
          <a:xfrm>
            <a:off x="8856000" y="10465815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CELLBG"/>
          <p:cNvSpPr/>
          <p:nvPr/>
        </p:nvSpPr>
        <p:spPr>
          <a:xfrm>
            <a:off x="8856000" y="10675092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CELLBG"/>
          <p:cNvSpPr/>
          <p:nvPr/>
        </p:nvSpPr>
        <p:spPr>
          <a:xfrm>
            <a:off x="8856000" y="1088436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CELLBG"/>
          <p:cNvSpPr/>
          <p:nvPr/>
        </p:nvSpPr>
        <p:spPr>
          <a:xfrm>
            <a:off x="8856000" y="11093646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CELLBG"/>
          <p:cNvSpPr/>
          <p:nvPr/>
        </p:nvSpPr>
        <p:spPr>
          <a:xfrm>
            <a:off x="8856000" y="11302923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CELLBG"/>
          <p:cNvSpPr/>
          <p:nvPr/>
        </p:nvSpPr>
        <p:spPr>
          <a:xfrm>
            <a:off x="8856000" y="115122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BAND"/>
          <p:cNvSpPr/>
          <p:nvPr/>
        </p:nvSpPr>
        <p:spPr>
          <a:xfrm>
            <a:off x="7128000" y="11962800"/>
            <a:ext cx="3204000" cy="306000"/>
          </a:xfrm>
          <a:prstGeom prst="rect">
            <a:avLst/>
          </a:prstGeom>
          <a:solidFill>
            <a:srgbClr val="0E1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CARD"/>
          <p:cNvSpPr/>
          <p:nvPr/>
        </p:nvSpPr>
        <p:spPr>
          <a:xfrm>
            <a:off x="7128000" y="12340800"/>
            <a:ext cx="3204000" cy="1987199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CELLBG"/>
          <p:cNvSpPr/>
          <p:nvPr/>
        </p:nvSpPr>
        <p:spPr>
          <a:xfrm>
            <a:off x="8856000" y="12910000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CELLBG"/>
          <p:cNvSpPr/>
          <p:nvPr/>
        </p:nvSpPr>
        <p:spPr>
          <a:xfrm>
            <a:off x="8856000" y="13101233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CELLBG"/>
          <p:cNvSpPr/>
          <p:nvPr/>
        </p:nvSpPr>
        <p:spPr>
          <a:xfrm>
            <a:off x="8856000" y="13292466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CELLBG"/>
          <p:cNvSpPr/>
          <p:nvPr/>
        </p:nvSpPr>
        <p:spPr>
          <a:xfrm>
            <a:off x="8856000" y="1348369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CELLBG"/>
          <p:cNvSpPr/>
          <p:nvPr/>
        </p:nvSpPr>
        <p:spPr>
          <a:xfrm>
            <a:off x="8856000" y="13674932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CELLBG"/>
          <p:cNvSpPr/>
          <p:nvPr/>
        </p:nvSpPr>
        <p:spPr>
          <a:xfrm>
            <a:off x="8856000" y="13866165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CELLBG"/>
          <p:cNvSpPr/>
          <p:nvPr/>
        </p:nvSpPr>
        <p:spPr>
          <a:xfrm>
            <a:off x="8856000" y="14057399"/>
            <a:ext cx="1440000" cy="18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6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FTR_BAND"/>
          <p:cNvSpPr/>
          <p:nvPr/>
        </p:nvSpPr>
        <p:spPr>
          <a:xfrm>
            <a:off x="0" y="14886000"/>
            <a:ext cx="10692000" cy="234000"/>
          </a:xfrm>
          <a:prstGeom prst="rect">
            <a:avLst/>
          </a:prstGeom>
          <a:solidFill>
            <a:srgbClr val="0E1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PPT_SCALE_1.400"/>
          <p:cNvSpPr txBox="1"/>
          <p:nvPr/>
        </p:nvSpPr>
        <p:spPr>
          <a:xfrm>
            <a:off x="360000" y="288000"/>
            <a:ext cx="4320000" cy="216000"/>
          </a:xfrm>
          <a:prstGeom prst="rect">
            <a:avLst/>
          </a:prstGeom>
          <a:noFill/>
          <a:ln/>
        </p:spPr>
        <p:txBody>
          <a:bodyPr wrap="square" anchor="t" lIns="54000" rIns="54000" tIns="21600" bIns="21600">
            <a:noAutofit/>
          </a:bodyPr>
          <a:lstStyle/>
          <a:p>
            <a:r>
              <a:rPr sz="979" b="1">
                <a:solidFill>
                  <a:srgbClr val="C9A227"/>
                </a:solidFill>
                <a:latin typeface="HY엽서M"/>
              </a:rPr>
              <a:t>MAKEONE  ·  보장분석 리포트</a:t>
            </a:r>
          </a:p>
        </p:txBody>
      </p:sp>
      <p:sp>
        <p:nvSpPr>
          <p:cNvPr id="3" name="TextBox 21"/>
          <p:cNvSpPr txBox="1"/>
          <p:nvPr/>
        </p:nvSpPr>
        <p:spPr>
          <a:xfrm>
            <a:off x="360000" y="468000"/>
            <a:ext cx="5760000" cy="54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2520" b="1">
                <a:solidFill>
                  <a:srgbClr val="0E1E52"/>
                </a:solidFill>
                <a:latin typeface="HY엽서M"/>
              </a:rPr>
              <a:t> 님의 보장</a:t>
            </a:r>
            <a:r>
              <a:rPr sz="252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4" name="TextBox 36"/>
          <p:cNvSpPr txBox="1"/>
          <p:nvPr/>
        </p:nvSpPr>
        <p:spPr>
          <a:xfrm>
            <a:off x="5580000" y="503999"/>
            <a:ext cx="4392000" cy="46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2520" b="1">
                <a:solidFill>
                  <a:srgbClr val="2A4A92"/>
                </a:solidFill>
                <a:latin typeface="HY엽서M"/>
              </a:rPr>
              <a:t>        년     월     일    기준</a:t>
            </a:r>
          </a:p>
        </p:txBody>
      </p:sp>
      <p:sp>
        <p:nvSpPr>
          <p:cNvPr id="5" name="TextBox 35"/>
          <p:cNvSpPr txBox="1"/>
          <p:nvPr/>
        </p:nvSpPr>
        <p:spPr>
          <a:xfrm>
            <a:off x="10008000" y="468000"/>
            <a:ext cx="180000" cy="503999"/>
          </a:xfrm>
          <a:prstGeom prst="rect">
            <a:avLst/>
          </a:prstGeom>
          <a:noFill/>
          <a:ln/>
        </p:spPr>
        <p:txBody>
          <a:bodyPr wrap="square" anchor="t" lIns="54000" rIns="54000" tIns="21600" bIns="21600">
            <a:noAutofit/>
          </a:bodyPr>
          <a:lstStyle/>
          <a:p>
            <a:r>
              <a:rPr sz="252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6" name="TextBox 29"/>
          <p:cNvSpPr txBox="1"/>
          <p:nvPr/>
        </p:nvSpPr>
        <p:spPr>
          <a:xfrm>
            <a:off x="10188000" y="468000"/>
            <a:ext cx="180000" cy="503999"/>
          </a:xfrm>
          <a:prstGeom prst="rect">
            <a:avLst/>
          </a:prstGeom>
          <a:noFill/>
          <a:ln/>
        </p:spPr>
        <p:txBody>
          <a:bodyPr wrap="square" anchor="t" lIns="54000" rIns="54000" tIns="21600" bIns="21600">
            <a:noAutofit/>
          </a:bodyPr>
          <a:lstStyle/>
          <a:p>
            <a:r>
              <a:rPr sz="252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0" name="KPI_L"/>
          <p:cNvSpPr txBox="1"/>
          <p:nvPr/>
        </p:nvSpPr>
        <p:spPr>
          <a:xfrm>
            <a:off x="503999" y="1224000"/>
            <a:ext cx="2880000" cy="413999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0E1E52"/>
                </a:solidFill>
                <a:latin typeface="HY엽서M"/>
              </a:rPr>
              <a:t>실손의료보험  ·  세대 / 가입일</a:t>
            </a:r>
          </a:p>
        </p:txBody>
      </p:sp>
      <p:sp>
        <p:nvSpPr>
          <p:cNvPr id="12" name="KPI|실손"/>
          <p:cNvSpPr txBox="1"/>
          <p:nvPr/>
        </p:nvSpPr>
        <p:spPr>
          <a:xfrm>
            <a:off x="7092000" y="1296000"/>
            <a:ext cx="31680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40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4" name="BAND_T"/>
          <p:cNvSpPr txBox="1"/>
          <p:nvPr/>
        </p:nvSpPr>
        <p:spPr>
          <a:xfrm>
            <a:off x="468000" y="1745999"/>
            <a:ext cx="2988000" cy="306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FFFFFF"/>
                </a:solidFill>
                <a:latin typeface="HY엽서M"/>
              </a:rPr>
              <a:t>●  뇌 · 심장</a:t>
            </a:r>
          </a:p>
        </p:txBody>
      </p:sp>
      <p:sp>
        <p:nvSpPr>
          <p:cNvPr id="16" name="TextBox 40"/>
          <p:cNvSpPr txBox="1"/>
          <p:nvPr/>
        </p:nvSpPr>
        <p:spPr>
          <a:xfrm>
            <a:off x="432000" y="21780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1E7B34"/>
                </a:solidFill>
                <a:latin typeface="HY엽서M"/>
              </a:rPr>
              <a:t>√ </a:t>
            </a:r>
            <a:r>
              <a:rPr sz="1470" b="1">
                <a:solidFill>
                  <a:srgbClr val="1E7B34"/>
                </a:solidFill>
                <a:latin typeface="HY엽서M"/>
              </a:rPr>
              <a:t>뇌 진단비</a:t>
            </a:r>
          </a:p>
        </p:txBody>
      </p:sp>
      <p:sp>
        <p:nvSpPr>
          <p:cNvPr id="21" name="TextBox 46|"/>
          <p:cNvSpPr txBox="1"/>
          <p:nvPr/>
        </p:nvSpPr>
        <p:spPr>
          <a:xfrm>
            <a:off x="1998000" y="2871000"/>
            <a:ext cx="1368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9" name="TextBox 47|"/>
          <p:cNvSpPr txBox="1"/>
          <p:nvPr/>
        </p:nvSpPr>
        <p:spPr>
          <a:xfrm>
            <a:off x="1944000" y="3609000"/>
            <a:ext cx="1296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6" name="TextBox 48|"/>
          <p:cNvSpPr txBox="1"/>
          <p:nvPr/>
        </p:nvSpPr>
        <p:spPr>
          <a:xfrm>
            <a:off x="1889999" y="4248000"/>
            <a:ext cx="1224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9" name="TextBox 41"/>
          <p:cNvSpPr txBox="1"/>
          <p:nvPr/>
        </p:nvSpPr>
        <p:spPr>
          <a:xfrm>
            <a:off x="432000" y="50220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1E7B34"/>
                </a:solidFill>
                <a:latin typeface="HY엽서M"/>
              </a:rPr>
              <a:t>√ </a:t>
            </a:r>
            <a:r>
              <a:rPr sz="1470" b="1">
                <a:solidFill>
                  <a:srgbClr val="1E7B34"/>
                </a:solidFill>
                <a:latin typeface="HY엽서M"/>
              </a:rPr>
              <a:t>심장 진단비</a:t>
            </a:r>
          </a:p>
        </p:txBody>
      </p:sp>
      <p:sp>
        <p:nvSpPr>
          <p:cNvPr id="43" name="TextBox 53"/>
          <p:cNvSpPr txBox="1"/>
          <p:nvPr/>
        </p:nvSpPr>
        <p:spPr>
          <a:xfrm>
            <a:off x="1242000" y="5462745"/>
            <a:ext cx="1080000" cy="2340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979" b="1">
                <a:solidFill>
                  <a:srgbClr val="3A4660"/>
                </a:solidFill>
                <a:latin typeface="HY엽서M"/>
              </a:rPr>
              <a:t>심장</a:t>
            </a:r>
          </a:p>
        </p:txBody>
      </p:sp>
      <p:sp>
        <p:nvSpPr>
          <p:cNvPr id="44" name="L_TextBox 심장4종|빈맥"/>
          <p:cNvSpPr txBox="1"/>
          <p:nvPr/>
        </p:nvSpPr>
        <p:spPr>
          <a:xfrm>
            <a:off x="576000" y="5706110"/>
            <a:ext cx="1403999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050" b="1">
                <a:solidFill>
                  <a:srgbClr val="5B678A"/>
                </a:solidFill>
                <a:latin typeface="HY엽서M"/>
              </a:rPr>
              <a:t>발작성 빈맥</a:t>
            </a:r>
          </a:p>
        </p:txBody>
      </p:sp>
      <p:sp>
        <p:nvSpPr>
          <p:cNvPr id="46" name="TextBox 심장4종|빈맥"/>
          <p:cNvSpPr txBox="1"/>
          <p:nvPr/>
        </p:nvSpPr>
        <p:spPr>
          <a:xfrm>
            <a:off x="1944000" y="5721350"/>
            <a:ext cx="1440000" cy="14605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97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47" name="L_TextBox 심장4종|부정맥"/>
          <p:cNvSpPr txBox="1"/>
          <p:nvPr/>
        </p:nvSpPr>
        <p:spPr>
          <a:xfrm>
            <a:off x="576000" y="5886450"/>
            <a:ext cx="1403999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050" b="1">
                <a:solidFill>
                  <a:srgbClr val="5B678A"/>
                </a:solidFill>
                <a:latin typeface="HY엽서M"/>
              </a:rPr>
              <a:t>부정맥</a:t>
            </a:r>
          </a:p>
        </p:txBody>
      </p:sp>
      <p:sp>
        <p:nvSpPr>
          <p:cNvPr id="49" name="TextBox 심장4종|부정맥"/>
          <p:cNvSpPr txBox="1"/>
          <p:nvPr/>
        </p:nvSpPr>
        <p:spPr>
          <a:xfrm>
            <a:off x="1944000" y="5901690"/>
            <a:ext cx="1440000" cy="14605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97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50" name="L_TextBox 심장4종|심부전"/>
          <p:cNvSpPr txBox="1"/>
          <p:nvPr/>
        </p:nvSpPr>
        <p:spPr>
          <a:xfrm>
            <a:off x="576000" y="6066790"/>
            <a:ext cx="1403999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050" b="1">
                <a:solidFill>
                  <a:srgbClr val="5B678A"/>
                </a:solidFill>
                <a:latin typeface="HY엽서M"/>
              </a:rPr>
              <a:t>심부전</a:t>
            </a:r>
          </a:p>
        </p:txBody>
      </p:sp>
      <p:sp>
        <p:nvSpPr>
          <p:cNvPr id="52" name="TextBox 심장4종|심부전"/>
          <p:cNvSpPr txBox="1"/>
          <p:nvPr/>
        </p:nvSpPr>
        <p:spPr>
          <a:xfrm>
            <a:off x="1944000" y="6082030"/>
            <a:ext cx="1440000" cy="14605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97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53" name="L_TextBox 심장4종|염증"/>
          <p:cNvSpPr txBox="1"/>
          <p:nvPr/>
        </p:nvSpPr>
        <p:spPr>
          <a:xfrm>
            <a:off x="576000" y="6247130"/>
            <a:ext cx="1403999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050" b="1">
                <a:solidFill>
                  <a:srgbClr val="5B678A"/>
                </a:solidFill>
                <a:latin typeface="HY엽서M"/>
              </a:rPr>
              <a:t>주요 심장염증</a:t>
            </a:r>
          </a:p>
        </p:txBody>
      </p:sp>
      <p:sp>
        <p:nvSpPr>
          <p:cNvPr id="55" name="TextBox 심장4종|염증"/>
          <p:cNvSpPr txBox="1"/>
          <p:nvPr/>
        </p:nvSpPr>
        <p:spPr>
          <a:xfrm>
            <a:off x="1944000" y="6262370"/>
            <a:ext cx="1440000" cy="14605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97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56" name="L_TextBox 심장4종|심근병증"/>
          <p:cNvSpPr txBox="1"/>
          <p:nvPr/>
        </p:nvSpPr>
        <p:spPr>
          <a:xfrm>
            <a:off x="576000" y="6427470"/>
            <a:ext cx="1403999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050" b="1">
                <a:solidFill>
                  <a:srgbClr val="5B678A"/>
                </a:solidFill>
                <a:latin typeface="HY엽서M"/>
              </a:rPr>
              <a:t>심근병증</a:t>
            </a:r>
          </a:p>
        </p:txBody>
      </p:sp>
      <p:sp>
        <p:nvSpPr>
          <p:cNvPr id="58" name="TextBox 심장4종|심근병증"/>
          <p:cNvSpPr txBox="1"/>
          <p:nvPr/>
        </p:nvSpPr>
        <p:spPr>
          <a:xfrm>
            <a:off x="1944000" y="6442710"/>
            <a:ext cx="1440000" cy="14605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97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59" name="L_TextBox 심장4종|심장판막"/>
          <p:cNvSpPr txBox="1"/>
          <p:nvPr/>
        </p:nvSpPr>
        <p:spPr>
          <a:xfrm>
            <a:off x="576000" y="6607809"/>
            <a:ext cx="1403999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050" b="1">
                <a:solidFill>
                  <a:srgbClr val="5B678A"/>
                </a:solidFill>
                <a:latin typeface="HY엽서M"/>
              </a:rPr>
              <a:t>심장판막</a:t>
            </a:r>
          </a:p>
        </p:txBody>
      </p:sp>
      <p:sp>
        <p:nvSpPr>
          <p:cNvPr id="61" name="TextBox 심장4종|심장판막"/>
          <p:cNvSpPr txBox="1"/>
          <p:nvPr/>
        </p:nvSpPr>
        <p:spPr>
          <a:xfrm>
            <a:off x="1944000" y="6623050"/>
            <a:ext cx="1440000" cy="14605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97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62" name="L_TextBox 심장4종|협심증"/>
          <p:cNvSpPr txBox="1"/>
          <p:nvPr/>
        </p:nvSpPr>
        <p:spPr>
          <a:xfrm>
            <a:off x="576000" y="6788150"/>
            <a:ext cx="1403999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050" b="1">
                <a:solidFill>
                  <a:srgbClr val="5B678A"/>
                </a:solidFill>
                <a:latin typeface="HY엽서M"/>
              </a:rPr>
              <a:t>협심증</a:t>
            </a:r>
          </a:p>
        </p:txBody>
      </p:sp>
      <p:sp>
        <p:nvSpPr>
          <p:cNvPr id="64" name="TextBox 심장4종|협심증"/>
          <p:cNvSpPr txBox="1"/>
          <p:nvPr/>
        </p:nvSpPr>
        <p:spPr>
          <a:xfrm>
            <a:off x="1944000" y="6803390"/>
            <a:ext cx="1440000" cy="14605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97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68" name="TextBox 54|"/>
          <p:cNvSpPr txBox="1"/>
          <p:nvPr/>
        </p:nvSpPr>
        <p:spPr>
          <a:xfrm>
            <a:off x="1944000" y="7163798"/>
            <a:ext cx="1296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73" name="TextBox 55|"/>
          <p:cNvSpPr txBox="1"/>
          <p:nvPr/>
        </p:nvSpPr>
        <p:spPr>
          <a:xfrm>
            <a:off x="2133600" y="7595598"/>
            <a:ext cx="9906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76" name="BRAIN_TX"/>
          <p:cNvSpPr txBox="1"/>
          <p:nvPr/>
        </p:nvSpPr>
        <p:spPr>
          <a:xfrm>
            <a:off x="432000" y="82980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뇌 치료비</a:t>
            </a:r>
          </a:p>
        </p:txBody>
      </p:sp>
      <p:sp>
        <p:nvSpPr>
          <p:cNvPr id="78" name="L_TextBox 49|산정특례"/>
          <p:cNvSpPr txBox="1"/>
          <p:nvPr/>
        </p:nvSpPr>
        <p:spPr>
          <a:xfrm>
            <a:off x="432000" y="86188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산정특례(뇌혈관)</a:t>
            </a:r>
          </a:p>
        </p:txBody>
      </p:sp>
      <p:sp>
        <p:nvSpPr>
          <p:cNvPr id="80" name="TextBox 49|산정특례"/>
          <p:cNvSpPr txBox="1"/>
          <p:nvPr/>
        </p:nvSpPr>
        <p:spPr>
          <a:xfrm>
            <a:off x="2088000" y="87084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81" name="L_TextBox 49|혈전용해치료비"/>
          <p:cNvSpPr txBox="1"/>
          <p:nvPr/>
        </p:nvSpPr>
        <p:spPr>
          <a:xfrm>
            <a:off x="432000" y="88469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혈전용해치료비</a:t>
            </a:r>
          </a:p>
        </p:txBody>
      </p:sp>
      <p:sp>
        <p:nvSpPr>
          <p:cNvPr id="83" name="TextBox 49|혈전용해치료비"/>
          <p:cNvSpPr txBox="1"/>
          <p:nvPr/>
        </p:nvSpPr>
        <p:spPr>
          <a:xfrm>
            <a:off x="2088000" y="89100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84" name="L_TextBox 49|대주요치료비"/>
          <p:cNvSpPr txBox="1"/>
          <p:nvPr/>
        </p:nvSpPr>
        <p:spPr>
          <a:xfrm>
            <a:off x="432000" y="90750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2대주요치료비</a:t>
            </a:r>
          </a:p>
        </p:txBody>
      </p:sp>
      <p:sp>
        <p:nvSpPr>
          <p:cNvPr id="86" name="TextBox 49|대주요치료비"/>
          <p:cNvSpPr txBox="1"/>
          <p:nvPr/>
        </p:nvSpPr>
        <p:spPr>
          <a:xfrm>
            <a:off x="2088000" y="91116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88" name="HEART_TX"/>
          <p:cNvSpPr txBox="1"/>
          <p:nvPr/>
        </p:nvSpPr>
        <p:spPr>
          <a:xfrm>
            <a:off x="432000" y="95220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심장 치료비</a:t>
            </a:r>
          </a:p>
        </p:txBody>
      </p:sp>
      <p:sp>
        <p:nvSpPr>
          <p:cNvPr id="90" name="L_TextBox 56|산정특례"/>
          <p:cNvSpPr txBox="1"/>
          <p:nvPr/>
        </p:nvSpPr>
        <p:spPr>
          <a:xfrm>
            <a:off x="432000" y="98428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산정특례(심장)</a:t>
            </a:r>
          </a:p>
        </p:txBody>
      </p:sp>
      <p:sp>
        <p:nvSpPr>
          <p:cNvPr id="92" name="TextBox 56|산정특례"/>
          <p:cNvSpPr txBox="1"/>
          <p:nvPr/>
        </p:nvSpPr>
        <p:spPr>
          <a:xfrm>
            <a:off x="2088000" y="98572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93" name="L_TextBox 56|혈전용해치료비"/>
          <p:cNvSpPr txBox="1"/>
          <p:nvPr/>
        </p:nvSpPr>
        <p:spPr>
          <a:xfrm>
            <a:off x="432000" y="100709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혈전용해치료비</a:t>
            </a:r>
          </a:p>
        </p:txBody>
      </p:sp>
      <p:sp>
        <p:nvSpPr>
          <p:cNvPr id="95" name="TextBox 56|혈전용해치료비"/>
          <p:cNvSpPr txBox="1"/>
          <p:nvPr/>
        </p:nvSpPr>
        <p:spPr>
          <a:xfrm>
            <a:off x="2088000" y="100853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96" name="L_TextBox 56|대주요치료비"/>
          <p:cNvSpPr txBox="1"/>
          <p:nvPr/>
        </p:nvSpPr>
        <p:spPr>
          <a:xfrm>
            <a:off x="432000" y="102990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2대주요치료비</a:t>
            </a:r>
          </a:p>
        </p:txBody>
      </p:sp>
      <p:sp>
        <p:nvSpPr>
          <p:cNvPr id="98" name="TextBox 56|대주요치료비"/>
          <p:cNvSpPr txBox="1"/>
          <p:nvPr/>
        </p:nvSpPr>
        <p:spPr>
          <a:xfrm>
            <a:off x="2088000" y="103134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00" name="BAND_T"/>
          <p:cNvSpPr txBox="1"/>
          <p:nvPr/>
        </p:nvSpPr>
        <p:spPr>
          <a:xfrm>
            <a:off x="468000" y="10764000"/>
            <a:ext cx="2988000" cy="306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FFFFFF"/>
                </a:solidFill>
                <a:latin typeface="HY엽서M"/>
              </a:rPr>
              <a:t>■  운전자</a:t>
            </a:r>
          </a:p>
        </p:txBody>
      </p:sp>
      <p:sp>
        <p:nvSpPr>
          <p:cNvPr id="102" name="TextBox 89"/>
          <p:cNvSpPr txBox="1"/>
          <p:nvPr/>
        </p:nvSpPr>
        <p:spPr>
          <a:xfrm>
            <a:off x="432000" y="111960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운전자</a:t>
            </a:r>
          </a:p>
        </p:txBody>
      </p:sp>
      <p:sp>
        <p:nvSpPr>
          <p:cNvPr id="104" name="L_TextBox 9|대인"/>
          <p:cNvSpPr txBox="1"/>
          <p:nvPr/>
        </p:nvSpPr>
        <p:spPr>
          <a:xfrm>
            <a:off x="432000" y="115168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대인</a:t>
            </a:r>
          </a:p>
        </p:txBody>
      </p:sp>
      <p:sp>
        <p:nvSpPr>
          <p:cNvPr id="106" name="TextBox 9|대인"/>
          <p:cNvSpPr txBox="1"/>
          <p:nvPr/>
        </p:nvSpPr>
        <p:spPr>
          <a:xfrm>
            <a:off x="2088000" y="115312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07" name="L_TextBox 9|대물"/>
          <p:cNvSpPr txBox="1"/>
          <p:nvPr/>
        </p:nvSpPr>
        <p:spPr>
          <a:xfrm>
            <a:off x="432000" y="1173836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대물</a:t>
            </a:r>
          </a:p>
        </p:txBody>
      </p:sp>
      <p:sp>
        <p:nvSpPr>
          <p:cNvPr id="109" name="TextBox 9|대물"/>
          <p:cNvSpPr txBox="1"/>
          <p:nvPr/>
        </p:nvSpPr>
        <p:spPr>
          <a:xfrm>
            <a:off x="2088000" y="1175276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10" name="L_TextBox 9|합의금"/>
          <p:cNvSpPr txBox="1"/>
          <p:nvPr/>
        </p:nvSpPr>
        <p:spPr>
          <a:xfrm>
            <a:off x="432000" y="1195992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합의금</a:t>
            </a:r>
          </a:p>
        </p:txBody>
      </p:sp>
      <p:sp>
        <p:nvSpPr>
          <p:cNvPr id="112" name="TextBox 9|합의금"/>
          <p:cNvSpPr txBox="1"/>
          <p:nvPr/>
        </p:nvSpPr>
        <p:spPr>
          <a:xfrm>
            <a:off x="2088000" y="1197432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13" name="L_TextBox 9|주미만"/>
          <p:cNvSpPr txBox="1"/>
          <p:nvPr/>
        </p:nvSpPr>
        <p:spPr>
          <a:xfrm>
            <a:off x="432000" y="1218148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6주미만</a:t>
            </a:r>
          </a:p>
        </p:txBody>
      </p:sp>
      <p:sp>
        <p:nvSpPr>
          <p:cNvPr id="115" name="TextBox 9|주미만"/>
          <p:cNvSpPr txBox="1"/>
          <p:nvPr/>
        </p:nvSpPr>
        <p:spPr>
          <a:xfrm>
            <a:off x="2088000" y="1219588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16" name="L_TextBox 9|변호사비"/>
          <p:cNvSpPr txBox="1"/>
          <p:nvPr/>
        </p:nvSpPr>
        <p:spPr>
          <a:xfrm>
            <a:off x="432000" y="1240304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변호사비</a:t>
            </a:r>
          </a:p>
        </p:txBody>
      </p:sp>
      <p:sp>
        <p:nvSpPr>
          <p:cNvPr id="118" name="TextBox 9|변호사비"/>
          <p:cNvSpPr txBox="1"/>
          <p:nvPr/>
        </p:nvSpPr>
        <p:spPr>
          <a:xfrm>
            <a:off x="2088000" y="1241743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19" name="L_TextBox 9|자부상"/>
          <p:cNvSpPr txBox="1"/>
          <p:nvPr/>
        </p:nvSpPr>
        <p:spPr>
          <a:xfrm>
            <a:off x="432000" y="126246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자부상</a:t>
            </a:r>
          </a:p>
        </p:txBody>
      </p:sp>
      <p:sp>
        <p:nvSpPr>
          <p:cNvPr id="121" name="TextBox 9|자부상"/>
          <p:cNvSpPr txBox="1"/>
          <p:nvPr/>
        </p:nvSpPr>
        <p:spPr>
          <a:xfrm>
            <a:off x="2088000" y="126390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23" name="BAND_T"/>
          <p:cNvSpPr txBox="1"/>
          <p:nvPr/>
        </p:nvSpPr>
        <p:spPr>
          <a:xfrm>
            <a:off x="468000" y="13089600"/>
            <a:ext cx="2988000" cy="306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FFFFFF"/>
                </a:solidFill>
                <a:latin typeface="HY엽서M"/>
              </a:rPr>
              <a:t>■  화재 · 치아</a:t>
            </a:r>
          </a:p>
        </p:txBody>
      </p:sp>
      <p:sp>
        <p:nvSpPr>
          <p:cNvPr id="125" name="TextBox 85"/>
          <p:cNvSpPr txBox="1"/>
          <p:nvPr/>
        </p:nvSpPr>
        <p:spPr>
          <a:xfrm>
            <a:off x="432000" y="135216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화재</a:t>
            </a:r>
            <a:r>
              <a:rPr sz="1470" b="1">
                <a:solidFill>
                  <a:srgbClr val="0E1E52"/>
                </a:solidFill>
                <a:latin typeface="HY엽서M"/>
              </a:rPr>
              <a:t>/</a:t>
            </a:r>
            <a:r>
              <a:rPr sz="1470" b="1">
                <a:solidFill>
                  <a:srgbClr val="0E1E52"/>
                </a:solidFill>
                <a:latin typeface="HY엽서M"/>
              </a:rPr>
              <a:t>치아</a:t>
            </a:r>
          </a:p>
        </p:txBody>
      </p:sp>
      <p:sp>
        <p:nvSpPr>
          <p:cNvPr id="127" name="L_TextBox 13|크라운"/>
          <p:cNvSpPr txBox="1"/>
          <p:nvPr/>
        </p:nvSpPr>
        <p:spPr>
          <a:xfrm>
            <a:off x="432000" y="138424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크라운</a:t>
            </a:r>
          </a:p>
        </p:txBody>
      </p:sp>
      <p:sp>
        <p:nvSpPr>
          <p:cNvPr id="129" name="TextBox 13|크라운"/>
          <p:cNvSpPr txBox="1"/>
          <p:nvPr/>
        </p:nvSpPr>
        <p:spPr>
          <a:xfrm>
            <a:off x="2088000" y="138568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30" name="L_TextBox 13|임플란트"/>
          <p:cNvSpPr txBox="1"/>
          <p:nvPr/>
        </p:nvSpPr>
        <p:spPr>
          <a:xfrm>
            <a:off x="432000" y="14077266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임플란트</a:t>
            </a:r>
          </a:p>
        </p:txBody>
      </p:sp>
      <p:sp>
        <p:nvSpPr>
          <p:cNvPr id="132" name="TextBox 13|임플란트"/>
          <p:cNvSpPr txBox="1"/>
          <p:nvPr/>
        </p:nvSpPr>
        <p:spPr>
          <a:xfrm>
            <a:off x="2088000" y="14091666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33" name="L_TextBox 13|기타"/>
          <p:cNvSpPr txBox="1"/>
          <p:nvPr/>
        </p:nvSpPr>
        <p:spPr>
          <a:xfrm>
            <a:off x="432000" y="14312133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기타</a:t>
            </a:r>
          </a:p>
        </p:txBody>
      </p:sp>
      <p:sp>
        <p:nvSpPr>
          <p:cNvPr id="135" name="TextBox 13|기타"/>
          <p:cNvSpPr txBox="1"/>
          <p:nvPr/>
        </p:nvSpPr>
        <p:spPr>
          <a:xfrm>
            <a:off x="2088000" y="14326533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36" name="L_TextBox 13|화재보험"/>
          <p:cNvSpPr txBox="1"/>
          <p:nvPr/>
        </p:nvSpPr>
        <p:spPr>
          <a:xfrm>
            <a:off x="432000" y="1454699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화재보험</a:t>
            </a:r>
          </a:p>
        </p:txBody>
      </p:sp>
      <p:sp>
        <p:nvSpPr>
          <p:cNvPr id="138" name="TextBox 13|화재보험"/>
          <p:cNvSpPr txBox="1"/>
          <p:nvPr/>
        </p:nvSpPr>
        <p:spPr>
          <a:xfrm>
            <a:off x="2088000" y="145614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40" name="BAND_T"/>
          <p:cNvSpPr txBox="1"/>
          <p:nvPr/>
        </p:nvSpPr>
        <p:spPr>
          <a:xfrm>
            <a:off x="3852000" y="1745999"/>
            <a:ext cx="2988000" cy="306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FFFFFF"/>
                </a:solidFill>
                <a:latin typeface="HY엽서M"/>
              </a:rPr>
              <a:t>●  암</a:t>
            </a:r>
          </a:p>
        </p:txBody>
      </p:sp>
      <p:sp>
        <p:nvSpPr>
          <p:cNvPr id="142" name="TextBox 42"/>
          <p:cNvSpPr txBox="1"/>
          <p:nvPr/>
        </p:nvSpPr>
        <p:spPr>
          <a:xfrm>
            <a:off x="3816000" y="21780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1E7B34"/>
                </a:solidFill>
                <a:latin typeface="HY엽서M"/>
              </a:rPr>
              <a:t>√ </a:t>
            </a:r>
            <a:r>
              <a:rPr sz="1470" b="1">
                <a:solidFill>
                  <a:srgbClr val="1E7B34"/>
                </a:solidFill>
                <a:latin typeface="HY엽서M"/>
              </a:rPr>
              <a:t>암 진단비</a:t>
            </a:r>
          </a:p>
        </p:txBody>
      </p:sp>
      <p:sp>
        <p:nvSpPr>
          <p:cNvPr id="147" name="TextBox 14|일반암"/>
          <p:cNvSpPr txBox="1"/>
          <p:nvPr/>
        </p:nvSpPr>
        <p:spPr>
          <a:xfrm>
            <a:off x="5238000" y="2753999"/>
            <a:ext cx="1512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52" name="TextBox 14|고액암"/>
          <p:cNvSpPr txBox="1"/>
          <p:nvPr/>
        </p:nvSpPr>
        <p:spPr>
          <a:xfrm>
            <a:off x="5183999" y="3428998"/>
            <a:ext cx="1440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58" name="TextBox 14|소액암"/>
          <p:cNvSpPr txBox="1"/>
          <p:nvPr/>
        </p:nvSpPr>
        <p:spPr>
          <a:xfrm>
            <a:off x="5670000" y="4248000"/>
            <a:ext cx="1080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63" name="TextBox 14|유사암"/>
          <p:cNvSpPr txBox="1"/>
          <p:nvPr/>
        </p:nvSpPr>
        <p:spPr>
          <a:xfrm>
            <a:off x="5670000" y="4878000"/>
            <a:ext cx="1080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68" name="TextBox 14|통합암"/>
          <p:cNvSpPr txBox="1"/>
          <p:nvPr/>
        </p:nvSpPr>
        <p:spPr>
          <a:xfrm>
            <a:off x="5238000" y="5400000"/>
            <a:ext cx="1512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72" name="TextBox 14|통합전이암"/>
          <p:cNvSpPr txBox="1"/>
          <p:nvPr/>
        </p:nvSpPr>
        <p:spPr>
          <a:xfrm>
            <a:off x="5238000" y="5850000"/>
            <a:ext cx="1512000" cy="198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26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74" name="CANCER_TX"/>
          <p:cNvSpPr txBox="1"/>
          <p:nvPr/>
        </p:nvSpPr>
        <p:spPr>
          <a:xfrm>
            <a:off x="3816000" y="6425999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암 치료비</a:t>
            </a:r>
          </a:p>
        </p:txBody>
      </p:sp>
      <p:sp>
        <p:nvSpPr>
          <p:cNvPr id="176" name="L_TextBox 14|항암치료"/>
          <p:cNvSpPr txBox="1"/>
          <p:nvPr/>
        </p:nvSpPr>
        <p:spPr>
          <a:xfrm>
            <a:off x="3816000" y="674679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항암치료</a:t>
            </a:r>
          </a:p>
        </p:txBody>
      </p:sp>
      <p:sp>
        <p:nvSpPr>
          <p:cNvPr id="178" name="TextBox 14|항암치료"/>
          <p:cNvSpPr txBox="1"/>
          <p:nvPr/>
        </p:nvSpPr>
        <p:spPr>
          <a:xfrm>
            <a:off x="5472000" y="6761198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79" name="L_TextBox 14|전이암항암치료"/>
          <p:cNvSpPr txBox="1"/>
          <p:nvPr/>
        </p:nvSpPr>
        <p:spPr>
          <a:xfrm>
            <a:off x="3816000" y="6977488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전이암항암치료</a:t>
            </a:r>
          </a:p>
        </p:txBody>
      </p:sp>
      <p:sp>
        <p:nvSpPr>
          <p:cNvPr id="181" name="TextBox 14|전이암항암치료"/>
          <p:cNvSpPr txBox="1"/>
          <p:nvPr/>
        </p:nvSpPr>
        <p:spPr>
          <a:xfrm>
            <a:off x="5472000" y="6991888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82" name="L_TextBox 14|표적치료"/>
          <p:cNvSpPr txBox="1"/>
          <p:nvPr/>
        </p:nvSpPr>
        <p:spPr>
          <a:xfrm>
            <a:off x="3816000" y="7208177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표적치료</a:t>
            </a:r>
          </a:p>
        </p:txBody>
      </p:sp>
      <p:sp>
        <p:nvSpPr>
          <p:cNvPr id="184" name="TextBox 14|표적치료"/>
          <p:cNvSpPr txBox="1"/>
          <p:nvPr/>
        </p:nvSpPr>
        <p:spPr>
          <a:xfrm>
            <a:off x="5472000" y="7222577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85" name="L_TextBox 14|세기"/>
          <p:cNvSpPr txBox="1"/>
          <p:nvPr/>
        </p:nvSpPr>
        <p:spPr>
          <a:xfrm>
            <a:off x="3816000" y="7438866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양성자·세기</a:t>
            </a:r>
          </a:p>
        </p:txBody>
      </p:sp>
      <p:sp>
        <p:nvSpPr>
          <p:cNvPr id="187" name="TextBox 14|세기"/>
          <p:cNvSpPr txBox="1"/>
          <p:nvPr/>
        </p:nvSpPr>
        <p:spPr>
          <a:xfrm>
            <a:off x="5472000" y="7453266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88" name="L_TextBox 14|중입자"/>
          <p:cNvSpPr txBox="1"/>
          <p:nvPr/>
        </p:nvSpPr>
        <p:spPr>
          <a:xfrm>
            <a:off x="3816000" y="7669555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중입자</a:t>
            </a:r>
          </a:p>
        </p:txBody>
      </p:sp>
      <p:sp>
        <p:nvSpPr>
          <p:cNvPr id="190" name="TextBox 14|중입자"/>
          <p:cNvSpPr txBox="1"/>
          <p:nvPr/>
        </p:nvSpPr>
        <p:spPr>
          <a:xfrm>
            <a:off x="5472000" y="7683955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91" name="L_TextBox 14|암통원비"/>
          <p:cNvSpPr txBox="1"/>
          <p:nvPr/>
        </p:nvSpPr>
        <p:spPr>
          <a:xfrm>
            <a:off x="3816000" y="7900243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암통원비</a:t>
            </a:r>
          </a:p>
        </p:txBody>
      </p:sp>
      <p:sp>
        <p:nvSpPr>
          <p:cNvPr id="193" name="TextBox 14|암통원비"/>
          <p:cNvSpPr txBox="1"/>
          <p:nvPr/>
        </p:nvSpPr>
        <p:spPr>
          <a:xfrm>
            <a:off x="5472000" y="7914643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94" name="L_TextBox 14|다빈치로봇수술비"/>
          <p:cNvSpPr txBox="1"/>
          <p:nvPr/>
        </p:nvSpPr>
        <p:spPr>
          <a:xfrm>
            <a:off x="3816000" y="8130933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다빈치로봇수술비</a:t>
            </a:r>
          </a:p>
        </p:txBody>
      </p:sp>
      <p:sp>
        <p:nvSpPr>
          <p:cNvPr id="196" name="TextBox 14|다빈치로봇수술비"/>
          <p:cNvSpPr txBox="1"/>
          <p:nvPr/>
        </p:nvSpPr>
        <p:spPr>
          <a:xfrm>
            <a:off x="5472000" y="8145332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198" name="L_TextBox 57|암주요치료비"/>
          <p:cNvSpPr txBox="1"/>
          <p:nvPr/>
        </p:nvSpPr>
        <p:spPr>
          <a:xfrm>
            <a:off x="3816000" y="8361622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암주요치료비</a:t>
            </a:r>
          </a:p>
        </p:txBody>
      </p:sp>
      <p:sp>
        <p:nvSpPr>
          <p:cNvPr id="200" name="TextBox 57|암주요치료비"/>
          <p:cNvSpPr txBox="1"/>
          <p:nvPr/>
        </p:nvSpPr>
        <p:spPr>
          <a:xfrm>
            <a:off x="5472000" y="8376022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01" name="L_TextBox 57|하이클래스"/>
          <p:cNvSpPr txBox="1"/>
          <p:nvPr/>
        </p:nvSpPr>
        <p:spPr>
          <a:xfrm>
            <a:off x="3816000" y="859231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하이클래스(비급여)</a:t>
            </a:r>
          </a:p>
        </p:txBody>
      </p:sp>
      <p:sp>
        <p:nvSpPr>
          <p:cNvPr id="203" name="TextBox 57|하이클래스"/>
          <p:cNvSpPr txBox="1"/>
          <p:nvPr/>
        </p:nvSpPr>
        <p:spPr>
          <a:xfrm>
            <a:off x="5472000" y="8606711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04" name="L_TextBox 57|10억통장"/>
          <p:cNvSpPr txBox="1"/>
          <p:nvPr/>
        </p:nvSpPr>
        <p:spPr>
          <a:xfrm>
            <a:off x="3816000" y="88230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10억통장</a:t>
            </a:r>
          </a:p>
        </p:txBody>
      </p:sp>
      <p:sp>
        <p:nvSpPr>
          <p:cNvPr id="206" name="TextBox 57|10억통장"/>
          <p:cNvSpPr txBox="1"/>
          <p:nvPr/>
        </p:nvSpPr>
        <p:spPr>
          <a:xfrm>
            <a:off x="5472000" y="883739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08" name="BAND_T"/>
          <p:cNvSpPr txBox="1"/>
          <p:nvPr/>
        </p:nvSpPr>
        <p:spPr>
          <a:xfrm>
            <a:off x="3852000" y="9467999"/>
            <a:ext cx="2988000" cy="306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FFFFFF"/>
                </a:solidFill>
                <a:latin typeface="HY엽서M"/>
              </a:rPr>
              <a:t>■  수술비</a:t>
            </a:r>
          </a:p>
        </p:txBody>
      </p:sp>
      <p:sp>
        <p:nvSpPr>
          <p:cNvPr id="210" name="TextBox 58"/>
          <p:cNvSpPr txBox="1"/>
          <p:nvPr/>
        </p:nvSpPr>
        <p:spPr>
          <a:xfrm>
            <a:off x="3816000" y="9899999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수술비</a:t>
            </a:r>
          </a:p>
        </p:txBody>
      </p:sp>
      <p:sp>
        <p:nvSpPr>
          <p:cNvPr id="212" name="L_TextBox 17|질병수술"/>
          <p:cNvSpPr txBox="1"/>
          <p:nvPr/>
        </p:nvSpPr>
        <p:spPr>
          <a:xfrm>
            <a:off x="3816000" y="1022079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질병수술</a:t>
            </a:r>
          </a:p>
        </p:txBody>
      </p:sp>
      <p:sp>
        <p:nvSpPr>
          <p:cNvPr id="214" name="TextBox 17|질병수술"/>
          <p:cNvSpPr txBox="1"/>
          <p:nvPr/>
        </p:nvSpPr>
        <p:spPr>
          <a:xfrm>
            <a:off x="5256000" y="10235198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15" name="L_TextBox 17|종합병원수술"/>
          <p:cNvSpPr txBox="1"/>
          <p:nvPr/>
        </p:nvSpPr>
        <p:spPr>
          <a:xfrm>
            <a:off x="3816000" y="1039961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종합병원수술</a:t>
            </a:r>
          </a:p>
        </p:txBody>
      </p:sp>
      <p:sp>
        <p:nvSpPr>
          <p:cNvPr id="217" name="TextBox 17|종합병원수술"/>
          <p:cNvSpPr txBox="1"/>
          <p:nvPr/>
        </p:nvSpPr>
        <p:spPr>
          <a:xfrm>
            <a:off x="5256000" y="1041401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18" name="L_TextBox 17|1~3종수술비"/>
          <p:cNvSpPr txBox="1"/>
          <p:nvPr/>
        </p:nvSpPr>
        <p:spPr>
          <a:xfrm>
            <a:off x="3816000" y="1057843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1~3종수술비</a:t>
            </a:r>
          </a:p>
        </p:txBody>
      </p:sp>
      <p:sp>
        <p:nvSpPr>
          <p:cNvPr id="220" name="TextBox 17|1~3종수술비"/>
          <p:cNvSpPr txBox="1"/>
          <p:nvPr/>
        </p:nvSpPr>
        <p:spPr>
          <a:xfrm>
            <a:off x="5256000" y="1059283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21" name="L_TextBox 17|/     /"/>
          <p:cNvSpPr txBox="1"/>
          <p:nvPr/>
        </p:nvSpPr>
        <p:spPr>
          <a:xfrm>
            <a:off x="3816000" y="10757259"/>
            <a:ext cx="1188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1~5종 수술비</a:t>
            </a:r>
          </a:p>
        </p:txBody>
      </p:sp>
      <p:sp>
        <p:nvSpPr>
          <p:cNvPr id="223" name="TextBox 17|/     /"/>
          <p:cNvSpPr txBox="1"/>
          <p:nvPr/>
        </p:nvSpPr>
        <p:spPr>
          <a:xfrm>
            <a:off x="4968000" y="10771659"/>
            <a:ext cx="1944000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05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24" name="L_TextBox 17|1~7종 수술비"/>
          <p:cNvSpPr txBox="1"/>
          <p:nvPr/>
        </p:nvSpPr>
        <p:spPr>
          <a:xfrm>
            <a:off x="3816000" y="1093607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1~7종 수술비</a:t>
            </a:r>
          </a:p>
        </p:txBody>
      </p:sp>
      <p:sp>
        <p:nvSpPr>
          <p:cNvPr id="226" name="TextBox 17|1~7종 수술비"/>
          <p:cNvSpPr txBox="1"/>
          <p:nvPr/>
        </p:nvSpPr>
        <p:spPr>
          <a:xfrm>
            <a:off x="5256000" y="1095047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27" name="L_TextBox 17|대 수술"/>
          <p:cNvSpPr txBox="1"/>
          <p:nvPr/>
        </p:nvSpPr>
        <p:spPr>
          <a:xfrm>
            <a:off x="3816000" y="1111489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____대 수술</a:t>
            </a:r>
          </a:p>
        </p:txBody>
      </p:sp>
      <p:sp>
        <p:nvSpPr>
          <p:cNvPr id="229" name="TextBox 17|대 수술"/>
          <p:cNvSpPr txBox="1"/>
          <p:nvPr/>
        </p:nvSpPr>
        <p:spPr>
          <a:xfrm>
            <a:off x="5256000" y="1112929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30" name="L_TextBox 17|뇌혈관수술"/>
          <p:cNvSpPr txBox="1"/>
          <p:nvPr/>
        </p:nvSpPr>
        <p:spPr>
          <a:xfrm>
            <a:off x="3816000" y="1129371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뇌혈관수술</a:t>
            </a:r>
          </a:p>
        </p:txBody>
      </p:sp>
      <p:sp>
        <p:nvSpPr>
          <p:cNvPr id="232" name="TextBox 17|뇌혈관수술"/>
          <p:cNvSpPr txBox="1"/>
          <p:nvPr/>
        </p:nvSpPr>
        <p:spPr>
          <a:xfrm>
            <a:off x="5256000" y="1130811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33" name="L_TextBox 17|허혈성수술"/>
          <p:cNvSpPr txBox="1"/>
          <p:nvPr/>
        </p:nvSpPr>
        <p:spPr>
          <a:xfrm>
            <a:off x="3816000" y="1147253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허혈성수술</a:t>
            </a:r>
          </a:p>
        </p:txBody>
      </p:sp>
      <p:sp>
        <p:nvSpPr>
          <p:cNvPr id="235" name="TextBox 17|허혈성수술"/>
          <p:cNvSpPr txBox="1"/>
          <p:nvPr/>
        </p:nvSpPr>
        <p:spPr>
          <a:xfrm>
            <a:off x="5256000" y="1148693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36" name="L_TextBox 17|심장 수술"/>
          <p:cNvSpPr txBox="1"/>
          <p:nvPr/>
        </p:nvSpPr>
        <p:spPr>
          <a:xfrm>
            <a:off x="3816000" y="1165135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심장 수술</a:t>
            </a:r>
          </a:p>
        </p:txBody>
      </p:sp>
      <p:sp>
        <p:nvSpPr>
          <p:cNvPr id="238" name="TextBox 17|심장 수술"/>
          <p:cNvSpPr txBox="1"/>
          <p:nvPr/>
        </p:nvSpPr>
        <p:spPr>
          <a:xfrm>
            <a:off x="5256000" y="11665758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39" name="L_TextBox 17|5대기관수술"/>
          <p:cNvSpPr txBox="1"/>
          <p:nvPr/>
        </p:nvSpPr>
        <p:spPr>
          <a:xfrm>
            <a:off x="3816000" y="1183017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5대기관수술</a:t>
            </a:r>
          </a:p>
        </p:txBody>
      </p:sp>
      <p:sp>
        <p:nvSpPr>
          <p:cNvPr id="241" name="TextBox 17|5대기관수술"/>
          <p:cNvSpPr txBox="1"/>
          <p:nvPr/>
        </p:nvSpPr>
        <p:spPr>
          <a:xfrm>
            <a:off x="5256000" y="1184457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42" name="L_TextBox 17|대 수술#2"/>
          <p:cNvSpPr txBox="1"/>
          <p:nvPr/>
        </p:nvSpPr>
        <p:spPr>
          <a:xfrm>
            <a:off x="3816000" y="12009000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____대 수술</a:t>
            </a:r>
          </a:p>
        </p:txBody>
      </p:sp>
      <p:sp>
        <p:nvSpPr>
          <p:cNvPr id="244" name="TextBox 17|대 수술#2"/>
          <p:cNvSpPr txBox="1"/>
          <p:nvPr/>
        </p:nvSpPr>
        <p:spPr>
          <a:xfrm>
            <a:off x="5256000" y="12023400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46" name="SURG_INJ"/>
          <p:cNvSpPr txBox="1"/>
          <p:nvPr/>
        </p:nvSpPr>
        <p:spPr>
          <a:xfrm>
            <a:off x="3816000" y="12437999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수술비</a:t>
            </a:r>
          </a:p>
        </p:txBody>
      </p:sp>
      <p:sp>
        <p:nvSpPr>
          <p:cNvPr id="248" name="L_TextBox 19|상해수술"/>
          <p:cNvSpPr txBox="1"/>
          <p:nvPr/>
        </p:nvSpPr>
        <p:spPr>
          <a:xfrm>
            <a:off x="3816000" y="1275879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상해수술</a:t>
            </a:r>
          </a:p>
        </p:txBody>
      </p:sp>
      <p:sp>
        <p:nvSpPr>
          <p:cNvPr id="250" name="TextBox 19|상해수술"/>
          <p:cNvSpPr txBox="1"/>
          <p:nvPr/>
        </p:nvSpPr>
        <p:spPr>
          <a:xfrm>
            <a:off x="5256000" y="1277319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51" name="L_TextBox 19|종합병원수술"/>
          <p:cNvSpPr txBox="1"/>
          <p:nvPr/>
        </p:nvSpPr>
        <p:spPr>
          <a:xfrm>
            <a:off x="3816000" y="1293761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종합병원수술</a:t>
            </a:r>
          </a:p>
        </p:txBody>
      </p:sp>
      <p:sp>
        <p:nvSpPr>
          <p:cNvPr id="253" name="TextBox 19|종합병원수술"/>
          <p:cNvSpPr txBox="1"/>
          <p:nvPr/>
        </p:nvSpPr>
        <p:spPr>
          <a:xfrm>
            <a:off x="5256000" y="1295201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54" name="L_TextBox 19|1~3종수술비"/>
          <p:cNvSpPr txBox="1"/>
          <p:nvPr/>
        </p:nvSpPr>
        <p:spPr>
          <a:xfrm>
            <a:off x="3816000" y="1311643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1~3종수술비</a:t>
            </a:r>
          </a:p>
        </p:txBody>
      </p:sp>
      <p:sp>
        <p:nvSpPr>
          <p:cNvPr id="256" name="TextBox 19|1~3종수술비"/>
          <p:cNvSpPr txBox="1"/>
          <p:nvPr/>
        </p:nvSpPr>
        <p:spPr>
          <a:xfrm>
            <a:off x="5256000" y="1313083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57" name="L_TextBox 19|/      /"/>
          <p:cNvSpPr txBox="1"/>
          <p:nvPr/>
        </p:nvSpPr>
        <p:spPr>
          <a:xfrm>
            <a:off x="3816000" y="13295259"/>
            <a:ext cx="1188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1~5종 수술비</a:t>
            </a:r>
          </a:p>
        </p:txBody>
      </p:sp>
      <p:sp>
        <p:nvSpPr>
          <p:cNvPr id="259" name="TextBox 19|/      /"/>
          <p:cNvSpPr txBox="1"/>
          <p:nvPr/>
        </p:nvSpPr>
        <p:spPr>
          <a:xfrm>
            <a:off x="4968000" y="13309659"/>
            <a:ext cx="1944000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050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60" name="L_TextBox 19|1~7종 수술비"/>
          <p:cNvSpPr txBox="1"/>
          <p:nvPr/>
        </p:nvSpPr>
        <p:spPr>
          <a:xfrm>
            <a:off x="3816000" y="1347407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1~7종 수술비</a:t>
            </a:r>
          </a:p>
        </p:txBody>
      </p:sp>
      <p:sp>
        <p:nvSpPr>
          <p:cNvPr id="262" name="TextBox 19|1~7종 수술비"/>
          <p:cNvSpPr txBox="1"/>
          <p:nvPr/>
        </p:nvSpPr>
        <p:spPr>
          <a:xfrm>
            <a:off x="5256000" y="1348847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63" name="L_TextBox 19|골절수술"/>
          <p:cNvSpPr txBox="1"/>
          <p:nvPr/>
        </p:nvSpPr>
        <p:spPr>
          <a:xfrm>
            <a:off x="3816000" y="1365289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골절수술</a:t>
            </a:r>
          </a:p>
        </p:txBody>
      </p:sp>
      <p:sp>
        <p:nvSpPr>
          <p:cNvPr id="265" name="TextBox 19|골절수술"/>
          <p:cNvSpPr txBox="1"/>
          <p:nvPr/>
        </p:nvSpPr>
        <p:spPr>
          <a:xfrm>
            <a:off x="5256000" y="1366729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66" name="L_TextBox 19|대골절수술"/>
          <p:cNvSpPr txBox="1"/>
          <p:nvPr/>
        </p:nvSpPr>
        <p:spPr>
          <a:xfrm>
            <a:off x="3816000" y="1383171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5대골절수술</a:t>
            </a:r>
          </a:p>
        </p:txBody>
      </p:sp>
      <p:sp>
        <p:nvSpPr>
          <p:cNvPr id="268" name="TextBox 19|대골절수술"/>
          <p:cNvSpPr txBox="1"/>
          <p:nvPr/>
        </p:nvSpPr>
        <p:spPr>
          <a:xfrm>
            <a:off x="5256000" y="1384611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69" name="L_TextBox 19|화상수술"/>
          <p:cNvSpPr txBox="1"/>
          <p:nvPr/>
        </p:nvSpPr>
        <p:spPr>
          <a:xfrm>
            <a:off x="3816000" y="1401053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화상수술</a:t>
            </a:r>
          </a:p>
        </p:txBody>
      </p:sp>
      <p:sp>
        <p:nvSpPr>
          <p:cNvPr id="271" name="TextBox 19|화상수술"/>
          <p:cNvSpPr txBox="1"/>
          <p:nvPr/>
        </p:nvSpPr>
        <p:spPr>
          <a:xfrm>
            <a:off x="5256000" y="1402493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72" name="L_TextBox 19|중대상해수술"/>
          <p:cNvSpPr txBox="1"/>
          <p:nvPr/>
        </p:nvSpPr>
        <p:spPr>
          <a:xfrm>
            <a:off x="3816000" y="1418935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중대상해수술</a:t>
            </a:r>
          </a:p>
        </p:txBody>
      </p:sp>
      <p:sp>
        <p:nvSpPr>
          <p:cNvPr id="274" name="TextBox 19|중대상해수술"/>
          <p:cNvSpPr txBox="1"/>
          <p:nvPr/>
        </p:nvSpPr>
        <p:spPr>
          <a:xfrm>
            <a:off x="5256000" y="1420375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75" name="L_TextBox 19|창상봉합수술"/>
          <p:cNvSpPr txBox="1"/>
          <p:nvPr/>
        </p:nvSpPr>
        <p:spPr>
          <a:xfrm>
            <a:off x="3816000" y="14368179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창상봉합수술</a:t>
            </a:r>
          </a:p>
        </p:txBody>
      </p:sp>
      <p:sp>
        <p:nvSpPr>
          <p:cNvPr id="277" name="TextBox 19|창상봉합수술"/>
          <p:cNvSpPr txBox="1"/>
          <p:nvPr/>
        </p:nvSpPr>
        <p:spPr>
          <a:xfrm>
            <a:off x="5256000" y="14382579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78" name="L_TextBox 19|수술"/>
          <p:cNvSpPr txBox="1"/>
          <p:nvPr/>
        </p:nvSpPr>
        <p:spPr>
          <a:xfrm>
            <a:off x="3816000" y="14547000"/>
            <a:ext cx="1476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260" b="1">
                <a:solidFill>
                  <a:srgbClr val="5B678A"/>
                </a:solidFill>
                <a:latin typeface="HY엽서M"/>
              </a:rPr>
              <a:t>________수술</a:t>
            </a:r>
          </a:p>
        </p:txBody>
      </p:sp>
      <p:sp>
        <p:nvSpPr>
          <p:cNvPr id="280" name="TextBox 19|수술"/>
          <p:cNvSpPr txBox="1"/>
          <p:nvPr/>
        </p:nvSpPr>
        <p:spPr>
          <a:xfrm>
            <a:off x="5256000" y="14561400"/>
            <a:ext cx="1655999" cy="1512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82" name="BAND_T"/>
          <p:cNvSpPr txBox="1"/>
          <p:nvPr/>
        </p:nvSpPr>
        <p:spPr>
          <a:xfrm>
            <a:off x="7236000" y="1745999"/>
            <a:ext cx="2988000" cy="306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FFFFFF"/>
                </a:solidFill>
                <a:latin typeface="HY엽서M"/>
              </a:rPr>
              <a:t>■  상해 · 후유장해 · 사망</a:t>
            </a:r>
          </a:p>
        </p:txBody>
      </p:sp>
      <p:sp>
        <p:nvSpPr>
          <p:cNvPr id="284" name="TextBox 60"/>
          <p:cNvSpPr txBox="1"/>
          <p:nvPr/>
        </p:nvSpPr>
        <p:spPr>
          <a:xfrm>
            <a:off x="7200000" y="21780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상해</a:t>
            </a:r>
            <a:r>
              <a:rPr sz="1470" b="1">
                <a:solidFill>
                  <a:srgbClr val="0E1E52"/>
                </a:solidFill>
                <a:latin typeface="HY엽서M"/>
              </a:rPr>
              <a:t>/</a:t>
            </a:r>
            <a:r>
              <a:rPr sz="1470" b="1">
                <a:solidFill>
                  <a:srgbClr val="0E1E52"/>
                </a:solidFill>
                <a:latin typeface="HY엽서M"/>
              </a:rPr>
              <a:t>기타</a:t>
            </a:r>
          </a:p>
        </p:txBody>
      </p:sp>
      <p:sp>
        <p:nvSpPr>
          <p:cNvPr id="286" name="L_TextBox 7|골절(치아포함)"/>
          <p:cNvSpPr txBox="1"/>
          <p:nvPr/>
        </p:nvSpPr>
        <p:spPr>
          <a:xfrm>
            <a:off x="7200000" y="24988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골절(치아포함)</a:t>
            </a:r>
          </a:p>
        </p:txBody>
      </p:sp>
      <p:sp>
        <p:nvSpPr>
          <p:cNvPr id="288" name="TextBox 7|골절(치아포함)"/>
          <p:cNvSpPr txBox="1"/>
          <p:nvPr/>
        </p:nvSpPr>
        <p:spPr>
          <a:xfrm>
            <a:off x="8856000" y="25132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89" name="L_TextBox 7|골절(치아제외)"/>
          <p:cNvSpPr txBox="1"/>
          <p:nvPr/>
        </p:nvSpPr>
        <p:spPr>
          <a:xfrm>
            <a:off x="7200000" y="2711488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골절(치아제외)</a:t>
            </a:r>
          </a:p>
        </p:txBody>
      </p:sp>
      <p:sp>
        <p:nvSpPr>
          <p:cNvPr id="291" name="TextBox 7|골절(치아제외)"/>
          <p:cNvSpPr txBox="1"/>
          <p:nvPr/>
        </p:nvSpPr>
        <p:spPr>
          <a:xfrm>
            <a:off x="8856000" y="2725888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92" name="L_TextBox 7|대골절"/>
          <p:cNvSpPr txBox="1"/>
          <p:nvPr/>
        </p:nvSpPr>
        <p:spPr>
          <a:xfrm>
            <a:off x="7200000" y="2924177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5대골절</a:t>
            </a:r>
          </a:p>
        </p:txBody>
      </p:sp>
      <p:sp>
        <p:nvSpPr>
          <p:cNvPr id="294" name="TextBox 7|대골절"/>
          <p:cNvSpPr txBox="1"/>
          <p:nvPr/>
        </p:nvSpPr>
        <p:spPr>
          <a:xfrm>
            <a:off x="8856000" y="2938576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95" name="L_TextBox 7|화상"/>
          <p:cNvSpPr txBox="1"/>
          <p:nvPr/>
        </p:nvSpPr>
        <p:spPr>
          <a:xfrm>
            <a:off x="7200000" y="3136866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화상</a:t>
            </a:r>
          </a:p>
        </p:txBody>
      </p:sp>
      <p:sp>
        <p:nvSpPr>
          <p:cNvPr id="297" name="TextBox 7|화상"/>
          <p:cNvSpPr txBox="1"/>
          <p:nvPr/>
        </p:nvSpPr>
        <p:spPr>
          <a:xfrm>
            <a:off x="8856000" y="3151265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298" name="L_TextBox 7|중대화상"/>
          <p:cNvSpPr txBox="1"/>
          <p:nvPr/>
        </p:nvSpPr>
        <p:spPr>
          <a:xfrm>
            <a:off x="7200000" y="3349555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중대화상</a:t>
            </a:r>
          </a:p>
        </p:txBody>
      </p:sp>
      <p:sp>
        <p:nvSpPr>
          <p:cNvPr id="300" name="TextBox 7|중대화상"/>
          <p:cNvSpPr txBox="1"/>
          <p:nvPr/>
        </p:nvSpPr>
        <p:spPr>
          <a:xfrm>
            <a:off x="8856000" y="3363955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01" name="L_TextBox 7|반깁스"/>
          <p:cNvSpPr txBox="1"/>
          <p:nvPr/>
        </p:nvSpPr>
        <p:spPr>
          <a:xfrm>
            <a:off x="7200000" y="3562244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반깁스</a:t>
            </a:r>
          </a:p>
        </p:txBody>
      </p:sp>
      <p:sp>
        <p:nvSpPr>
          <p:cNvPr id="303" name="TextBox 7|반깁스"/>
          <p:cNvSpPr txBox="1"/>
          <p:nvPr/>
        </p:nvSpPr>
        <p:spPr>
          <a:xfrm>
            <a:off x="8856000" y="3576644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04" name="L_TextBox 7|깁스"/>
          <p:cNvSpPr txBox="1"/>
          <p:nvPr/>
        </p:nvSpPr>
        <p:spPr>
          <a:xfrm>
            <a:off x="7200000" y="3774933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깁스</a:t>
            </a:r>
          </a:p>
        </p:txBody>
      </p:sp>
      <p:sp>
        <p:nvSpPr>
          <p:cNvPr id="306" name="TextBox 7|깁스"/>
          <p:cNvSpPr txBox="1"/>
          <p:nvPr/>
        </p:nvSpPr>
        <p:spPr>
          <a:xfrm>
            <a:off x="8856000" y="3789333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07" name="L_TextBox 7|응급실"/>
          <p:cNvSpPr txBox="1"/>
          <p:nvPr/>
        </p:nvSpPr>
        <p:spPr>
          <a:xfrm>
            <a:off x="7200000" y="3987622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응급실</a:t>
            </a:r>
          </a:p>
        </p:txBody>
      </p:sp>
      <p:sp>
        <p:nvSpPr>
          <p:cNvPr id="309" name="TextBox 7|응급실"/>
          <p:cNvSpPr txBox="1"/>
          <p:nvPr/>
        </p:nvSpPr>
        <p:spPr>
          <a:xfrm>
            <a:off x="8856000" y="4002022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10" name="L_TextBox 7|독감비"/>
          <p:cNvSpPr txBox="1"/>
          <p:nvPr/>
        </p:nvSpPr>
        <p:spPr>
          <a:xfrm>
            <a:off x="7200000" y="4200311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독감비</a:t>
            </a:r>
          </a:p>
        </p:txBody>
      </p:sp>
      <p:sp>
        <p:nvSpPr>
          <p:cNvPr id="312" name="TextBox 7|독감비"/>
          <p:cNvSpPr txBox="1"/>
          <p:nvPr/>
        </p:nvSpPr>
        <p:spPr>
          <a:xfrm>
            <a:off x="8856000" y="4214711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13" name="L_TextBox 5|일상배상책임"/>
          <p:cNvSpPr txBox="1"/>
          <p:nvPr/>
        </p:nvSpPr>
        <p:spPr>
          <a:xfrm>
            <a:off x="7200000" y="44130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일상배상책임</a:t>
            </a:r>
          </a:p>
        </p:txBody>
      </p:sp>
      <p:sp>
        <p:nvSpPr>
          <p:cNvPr id="315" name="TextBox 5|일상배상책임"/>
          <p:cNvSpPr txBox="1"/>
          <p:nvPr/>
        </p:nvSpPr>
        <p:spPr>
          <a:xfrm>
            <a:off x="8856000" y="44274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17" name="TextBox 91"/>
          <p:cNvSpPr txBox="1"/>
          <p:nvPr/>
        </p:nvSpPr>
        <p:spPr>
          <a:xfrm>
            <a:off x="7200000" y="48600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후유장해</a:t>
            </a:r>
          </a:p>
        </p:txBody>
      </p:sp>
      <p:sp>
        <p:nvSpPr>
          <p:cNvPr id="319" name="L_TextBox 8|질병 3%"/>
          <p:cNvSpPr txBox="1"/>
          <p:nvPr/>
        </p:nvSpPr>
        <p:spPr>
          <a:xfrm>
            <a:off x="7200000" y="51808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질병 3%</a:t>
            </a:r>
          </a:p>
        </p:txBody>
      </p:sp>
      <p:sp>
        <p:nvSpPr>
          <p:cNvPr id="321" name="TextBox 8|질병 3%"/>
          <p:cNvSpPr txBox="1"/>
          <p:nvPr/>
        </p:nvSpPr>
        <p:spPr>
          <a:xfrm>
            <a:off x="8856000" y="51952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22" name="L_TextBox 8|질병 80%"/>
          <p:cNvSpPr txBox="1"/>
          <p:nvPr/>
        </p:nvSpPr>
        <p:spPr>
          <a:xfrm>
            <a:off x="7200000" y="540734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질병 80%</a:t>
            </a:r>
          </a:p>
        </p:txBody>
      </p:sp>
      <p:sp>
        <p:nvSpPr>
          <p:cNvPr id="324" name="TextBox 8|질병 80%"/>
          <p:cNvSpPr txBox="1"/>
          <p:nvPr/>
        </p:nvSpPr>
        <p:spPr>
          <a:xfrm>
            <a:off x="8856000" y="542174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25" name="L_TextBox 8|상해3%"/>
          <p:cNvSpPr txBox="1"/>
          <p:nvPr/>
        </p:nvSpPr>
        <p:spPr>
          <a:xfrm>
            <a:off x="7200000" y="563389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상해 3%</a:t>
            </a:r>
          </a:p>
        </p:txBody>
      </p:sp>
      <p:sp>
        <p:nvSpPr>
          <p:cNvPr id="327" name="TextBox 8|상해3%"/>
          <p:cNvSpPr txBox="1"/>
          <p:nvPr/>
        </p:nvSpPr>
        <p:spPr>
          <a:xfrm>
            <a:off x="8856000" y="564829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28" name="L_TextBox 8|상해 80%"/>
          <p:cNvSpPr txBox="1"/>
          <p:nvPr/>
        </p:nvSpPr>
        <p:spPr>
          <a:xfrm>
            <a:off x="7200000" y="586044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상해 80%</a:t>
            </a:r>
          </a:p>
        </p:txBody>
      </p:sp>
      <p:sp>
        <p:nvSpPr>
          <p:cNvPr id="330" name="TextBox 8|상해 80%"/>
          <p:cNvSpPr txBox="1"/>
          <p:nvPr/>
        </p:nvSpPr>
        <p:spPr>
          <a:xfrm>
            <a:off x="8856000" y="587484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31" name="L_TextBox 8|교통후유장해"/>
          <p:cNvSpPr txBox="1"/>
          <p:nvPr/>
        </p:nvSpPr>
        <p:spPr>
          <a:xfrm>
            <a:off x="7200000" y="608699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교통후유장해(%)</a:t>
            </a:r>
          </a:p>
        </p:txBody>
      </p:sp>
      <p:sp>
        <p:nvSpPr>
          <p:cNvPr id="333" name="TextBox 8|교통후유장해"/>
          <p:cNvSpPr txBox="1"/>
          <p:nvPr/>
        </p:nvSpPr>
        <p:spPr>
          <a:xfrm>
            <a:off x="8856000" y="610139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35" name="TextBox 66"/>
          <p:cNvSpPr txBox="1"/>
          <p:nvPr/>
        </p:nvSpPr>
        <p:spPr>
          <a:xfrm>
            <a:off x="7200000" y="65340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사망</a:t>
            </a:r>
          </a:p>
        </p:txBody>
      </p:sp>
      <p:sp>
        <p:nvSpPr>
          <p:cNvPr id="337" name="L_TextBox 10|세"/>
          <p:cNvSpPr txBox="1"/>
          <p:nvPr/>
        </p:nvSpPr>
        <p:spPr>
          <a:xfrm>
            <a:off x="7200000" y="68548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질병사망 - ___세</a:t>
            </a:r>
          </a:p>
        </p:txBody>
      </p:sp>
      <p:sp>
        <p:nvSpPr>
          <p:cNvPr id="339" name="TextBox 10|세"/>
          <p:cNvSpPr txBox="1"/>
          <p:nvPr/>
        </p:nvSpPr>
        <p:spPr>
          <a:xfrm>
            <a:off x="8856000" y="68692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40" name="L_TextBox 10|80세"/>
          <p:cNvSpPr txBox="1"/>
          <p:nvPr/>
        </p:nvSpPr>
        <p:spPr>
          <a:xfrm>
            <a:off x="7200000" y="7089666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질병사망 80세</a:t>
            </a:r>
          </a:p>
        </p:txBody>
      </p:sp>
      <p:sp>
        <p:nvSpPr>
          <p:cNvPr id="342" name="TextBox 10|80세"/>
          <p:cNvSpPr txBox="1"/>
          <p:nvPr/>
        </p:nvSpPr>
        <p:spPr>
          <a:xfrm>
            <a:off x="8856000" y="7104066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43" name="L_TextBox 10|종신"/>
          <p:cNvSpPr txBox="1"/>
          <p:nvPr/>
        </p:nvSpPr>
        <p:spPr>
          <a:xfrm>
            <a:off x="7200000" y="7324533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질병사망 종신</a:t>
            </a:r>
          </a:p>
        </p:txBody>
      </p:sp>
      <p:sp>
        <p:nvSpPr>
          <p:cNvPr id="345" name="TextBox 10|종신"/>
          <p:cNvSpPr txBox="1"/>
          <p:nvPr/>
        </p:nvSpPr>
        <p:spPr>
          <a:xfrm>
            <a:off x="8856000" y="7338933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46" name="L_TextBox 11|상해사망"/>
          <p:cNvSpPr txBox="1"/>
          <p:nvPr/>
        </p:nvSpPr>
        <p:spPr>
          <a:xfrm>
            <a:off x="7200000" y="755939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상해사망</a:t>
            </a:r>
          </a:p>
        </p:txBody>
      </p:sp>
      <p:sp>
        <p:nvSpPr>
          <p:cNvPr id="348" name="TextBox 11|상해사망"/>
          <p:cNvSpPr txBox="1"/>
          <p:nvPr/>
        </p:nvSpPr>
        <p:spPr>
          <a:xfrm>
            <a:off x="8856000" y="757379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50" name="BAND_T"/>
          <p:cNvSpPr txBox="1"/>
          <p:nvPr/>
        </p:nvSpPr>
        <p:spPr>
          <a:xfrm>
            <a:off x="7236000" y="8024400"/>
            <a:ext cx="2988000" cy="306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FFFFFF"/>
                </a:solidFill>
                <a:latin typeface="HY엽서M"/>
              </a:rPr>
              <a:t>■  입원 · 간병</a:t>
            </a:r>
          </a:p>
        </p:txBody>
      </p:sp>
      <p:sp>
        <p:nvSpPr>
          <p:cNvPr id="352" name="TextBox 61"/>
          <p:cNvSpPr txBox="1"/>
          <p:nvPr/>
        </p:nvSpPr>
        <p:spPr>
          <a:xfrm>
            <a:off x="7200000" y="8456400"/>
            <a:ext cx="1922400" cy="27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입원</a:t>
            </a:r>
            <a:r>
              <a:rPr sz="1470" b="1">
                <a:solidFill>
                  <a:srgbClr val="0E1E52"/>
                </a:solidFill>
                <a:latin typeface="HY엽서M"/>
              </a:rPr>
              <a:t>/</a:t>
            </a:r>
            <a:r>
              <a:rPr sz="1470" b="1">
                <a:solidFill>
                  <a:srgbClr val="0E1E52"/>
                </a:solidFill>
                <a:latin typeface="HY엽서M"/>
              </a:rPr>
              <a:t>간병</a:t>
            </a:r>
          </a:p>
        </p:txBody>
      </p:sp>
      <p:sp>
        <p:nvSpPr>
          <p:cNvPr id="354" name="L_TextBox 22|질병일당"/>
          <p:cNvSpPr txBox="1"/>
          <p:nvPr/>
        </p:nvSpPr>
        <p:spPr>
          <a:xfrm>
            <a:off x="7200000" y="87772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질병일당</a:t>
            </a:r>
          </a:p>
        </p:txBody>
      </p:sp>
      <p:sp>
        <p:nvSpPr>
          <p:cNvPr id="356" name="TextBox 22|질병일당"/>
          <p:cNvSpPr txBox="1"/>
          <p:nvPr/>
        </p:nvSpPr>
        <p:spPr>
          <a:xfrm>
            <a:off x="8856000" y="87916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57" name="L_TextBox 22|질병종합병원일당"/>
          <p:cNvSpPr txBox="1"/>
          <p:nvPr/>
        </p:nvSpPr>
        <p:spPr>
          <a:xfrm>
            <a:off x="7200000" y="8986476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질병종합병원일당</a:t>
            </a:r>
          </a:p>
        </p:txBody>
      </p:sp>
      <p:sp>
        <p:nvSpPr>
          <p:cNvPr id="359" name="TextBox 22|질병종합병원일당"/>
          <p:cNvSpPr txBox="1"/>
          <p:nvPr/>
        </p:nvSpPr>
        <p:spPr>
          <a:xfrm>
            <a:off x="8856000" y="9000876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60" name="L_TextBox 22|상해일당"/>
          <p:cNvSpPr txBox="1"/>
          <p:nvPr/>
        </p:nvSpPr>
        <p:spPr>
          <a:xfrm>
            <a:off x="7200000" y="9195753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상해일당</a:t>
            </a:r>
          </a:p>
        </p:txBody>
      </p:sp>
      <p:sp>
        <p:nvSpPr>
          <p:cNvPr id="362" name="TextBox 22|상해일당"/>
          <p:cNvSpPr txBox="1"/>
          <p:nvPr/>
        </p:nvSpPr>
        <p:spPr>
          <a:xfrm>
            <a:off x="8856000" y="9210153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63" name="L_TextBox 22|상해종합병원일당"/>
          <p:cNvSpPr txBox="1"/>
          <p:nvPr/>
        </p:nvSpPr>
        <p:spPr>
          <a:xfrm>
            <a:off x="7200000" y="940503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상해종합병원일당</a:t>
            </a:r>
          </a:p>
        </p:txBody>
      </p:sp>
      <p:sp>
        <p:nvSpPr>
          <p:cNvPr id="365" name="TextBox 22|상해종합병원일당"/>
          <p:cNvSpPr txBox="1"/>
          <p:nvPr/>
        </p:nvSpPr>
        <p:spPr>
          <a:xfrm>
            <a:off x="8856000" y="941943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66" name="L_TextBox 22|질병중환자실"/>
          <p:cNvSpPr txBox="1"/>
          <p:nvPr/>
        </p:nvSpPr>
        <p:spPr>
          <a:xfrm>
            <a:off x="7200000" y="9614307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질병중환자실</a:t>
            </a:r>
          </a:p>
        </p:txBody>
      </p:sp>
      <p:sp>
        <p:nvSpPr>
          <p:cNvPr id="368" name="TextBox 22|질병중환자실"/>
          <p:cNvSpPr txBox="1"/>
          <p:nvPr/>
        </p:nvSpPr>
        <p:spPr>
          <a:xfrm>
            <a:off x="8856000" y="9628707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69" name="L_TextBox 22|상해중환자실"/>
          <p:cNvSpPr txBox="1"/>
          <p:nvPr/>
        </p:nvSpPr>
        <p:spPr>
          <a:xfrm>
            <a:off x="7200000" y="9823584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상해중환자실</a:t>
            </a:r>
          </a:p>
        </p:txBody>
      </p:sp>
      <p:sp>
        <p:nvSpPr>
          <p:cNvPr id="371" name="TextBox 22|상해중환자실"/>
          <p:cNvSpPr txBox="1"/>
          <p:nvPr/>
        </p:nvSpPr>
        <p:spPr>
          <a:xfrm>
            <a:off x="8856000" y="9837984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72" name="L_TextBox 22|인실 상급병원일당"/>
          <p:cNvSpPr txBox="1"/>
          <p:nvPr/>
        </p:nvSpPr>
        <p:spPr>
          <a:xfrm>
            <a:off x="7200000" y="10032861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1인실 상급병원일당</a:t>
            </a:r>
          </a:p>
        </p:txBody>
      </p:sp>
      <p:sp>
        <p:nvSpPr>
          <p:cNvPr id="374" name="TextBox 22|인실 상급병원일당"/>
          <p:cNvSpPr txBox="1"/>
          <p:nvPr/>
        </p:nvSpPr>
        <p:spPr>
          <a:xfrm>
            <a:off x="8856000" y="10047261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75" name="L_TextBox 22|인실 종합병원일당"/>
          <p:cNvSpPr txBox="1"/>
          <p:nvPr/>
        </p:nvSpPr>
        <p:spPr>
          <a:xfrm>
            <a:off x="7200000" y="10242138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1인실 종합병원일당</a:t>
            </a:r>
          </a:p>
        </p:txBody>
      </p:sp>
      <p:sp>
        <p:nvSpPr>
          <p:cNvPr id="377" name="TextBox 22|인실 종합병원일당"/>
          <p:cNvSpPr txBox="1"/>
          <p:nvPr/>
        </p:nvSpPr>
        <p:spPr>
          <a:xfrm>
            <a:off x="8856000" y="10256538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78" name="L_TextBox 22|암일당"/>
          <p:cNvSpPr txBox="1"/>
          <p:nvPr/>
        </p:nvSpPr>
        <p:spPr>
          <a:xfrm>
            <a:off x="7200000" y="10451415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암일당</a:t>
            </a:r>
          </a:p>
        </p:txBody>
      </p:sp>
      <p:sp>
        <p:nvSpPr>
          <p:cNvPr id="380" name="TextBox 22|암일당"/>
          <p:cNvSpPr txBox="1"/>
          <p:nvPr/>
        </p:nvSpPr>
        <p:spPr>
          <a:xfrm>
            <a:off x="8856000" y="10465815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81" name="L_TextBox 22|일당"/>
          <p:cNvSpPr txBox="1"/>
          <p:nvPr/>
        </p:nvSpPr>
        <p:spPr>
          <a:xfrm>
            <a:off x="7200000" y="10660692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_______일당</a:t>
            </a:r>
          </a:p>
        </p:txBody>
      </p:sp>
      <p:sp>
        <p:nvSpPr>
          <p:cNvPr id="383" name="TextBox 22|일당"/>
          <p:cNvSpPr txBox="1"/>
          <p:nvPr/>
        </p:nvSpPr>
        <p:spPr>
          <a:xfrm>
            <a:off x="8856000" y="10675092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84" name="L_TextBox 22|간병인 사용일당"/>
          <p:cNvSpPr txBox="1"/>
          <p:nvPr/>
        </p:nvSpPr>
        <p:spPr>
          <a:xfrm>
            <a:off x="7200000" y="1086996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간병인 사용일당</a:t>
            </a:r>
          </a:p>
        </p:txBody>
      </p:sp>
      <p:sp>
        <p:nvSpPr>
          <p:cNvPr id="386" name="TextBox 22|간병인 사용일당"/>
          <p:cNvSpPr txBox="1"/>
          <p:nvPr/>
        </p:nvSpPr>
        <p:spPr>
          <a:xfrm>
            <a:off x="8856000" y="1088436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87" name="L_TextBox 22|요양병원 간병인"/>
          <p:cNvSpPr txBox="1"/>
          <p:nvPr/>
        </p:nvSpPr>
        <p:spPr>
          <a:xfrm>
            <a:off x="7200000" y="11079246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요양병원 간병인</a:t>
            </a:r>
          </a:p>
        </p:txBody>
      </p:sp>
      <p:sp>
        <p:nvSpPr>
          <p:cNvPr id="389" name="TextBox 22|요양병원 간병인"/>
          <p:cNvSpPr txBox="1"/>
          <p:nvPr/>
        </p:nvSpPr>
        <p:spPr>
          <a:xfrm>
            <a:off x="8856000" y="11093646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90" name="L_TextBox 22|간호통합병동일당"/>
          <p:cNvSpPr txBox="1"/>
          <p:nvPr/>
        </p:nvSpPr>
        <p:spPr>
          <a:xfrm>
            <a:off x="7200000" y="11288523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간호통합병동일당</a:t>
            </a:r>
          </a:p>
        </p:txBody>
      </p:sp>
      <p:sp>
        <p:nvSpPr>
          <p:cNvPr id="392" name="TextBox 22|간호통합병동일당"/>
          <p:cNvSpPr txBox="1"/>
          <p:nvPr/>
        </p:nvSpPr>
        <p:spPr>
          <a:xfrm>
            <a:off x="8856000" y="11302923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93" name="L_TextBox 22|간병인지원일당"/>
          <p:cNvSpPr txBox="1"/>
          <p:nvPr/>
        </p:nvSpPr>
        <p:spPr>
          <a:xfrm>
            <a:off x="7200000" y="114978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간병인지원일당</a:t>
            </a:r>
          </a:p>
        </p:txBody>
      </p:sp>
      <p:sp>
        <p:nvSpPr>
          <p:cNvPr id="395" name="TextBox 22|간병인지원일당"/>
          <p:cNvSpPr txBox="1"/>
          <p:nvPr/>
        </p:nvSpPr>
        <p:spPr>
          <a:xfrm>
            <a:off x="8856000" y="115122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397" name="BAND_T"/>
          <p:cNvSpPr txBox="1"/>
          <p:nvPr/>
        </p:nvSpPr>
        <p:spPr>
          <a:xfrm>
            <a:off x="7236000" y="11962800"/>
            <a:ext cx="2988000" cy="306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r>
              <a:rPr sz="1470" b="1">
                <a:solidFill>
                  <a:srgbClr val="FFFFFF"/>
                </a:solidFill>
                <a:latin typeface="HY엽서M"/>
              </a:rPr>
              <a:t>■  실손</a:t>
            </a:r>
          </a:p>
        </p:txBody>
      </p:sp>
      <p:sp>
        <p:nvSpPr>
          <p:cNvPr id="399" name="TextBox 59"/>
          <p:cNvSpPr txBox="1"/>
          <p:nvPr/>
        </p:nvSpPr>
        <p:spPr>
          <a:xfrm>
            <a:off x="7200000" y="12376800"/>
            <a:ext cx="3060000" cy="468000"/>
          </a:xfrm>
          <a:prstGeom prst="rect">
            <a:avLst/>
          </a:prstGeom>
          <a:noFill/>
          <a:ln/>
        </p:spPr>
        <p:txBody>
          <a:bodyPr wrap="none" anchor="t" lIns="54000" rIns="54000" tIns="21600" bIns="21600">
            <a:noAutofit/>
          </a:bodyPr>
          <a:lstStyle/>
          <a:p>
            <a:r>
              <a:rPr sz="1470" b="1">
                <a:solidFill>
                  <a:srgbClr val="0E1E52"/>
                </a:solidFill>
                <a:latin typeface="HY엽서M"/>
              </a:rPr>
              <a:t>실손</a:t>
            </a:r>
          </a:p>
          <a:p>
            <a:r>
              <a:rPr sz="910" b="0">
                <a:solidFill>
                  <a:srgbClr val="6B7590"/>
                </a:solidFill>
                <a:latin typeface="HY엽서M"/>
              </a:rPr>
              <a:t>(</a:t>
            </a:r>
            <a:r>
              <a:rPr sz="910" b="0">
                <a:solidFill>
                  <a:srgbClr val="6B7590"/>
                </a:solidFill>
                <a:latin typeface="HY엽서M"/>
              </a:rPr>
              <a:t>가입일:</a:t>
            </a:r>
            <a:r>
              <a:rPr sz="910" b="0">
                <a:solidFill>
                  <a:srgbClr val="6B7590"/>
                </a:solidFill>
                <a:latin typeface="HY엽서M"/>
              </a:rPr>
              <a:t>___________)</a:t>
            </a:r>
          </a:p>
        </p:txBody>
      </p:sp>
      <p:sp>
        <p:nvSpPr>
          <p:cNvPr id="400" name="L_TextBox 6|입원"/>
          <p:cNvSpPr txBox="1"/>
          <p:nvPr/>
        </p:nvSpPr>
        <p:spPr>
          <a:xfrm>
            <a:off x="7200000" y="12895600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입원</a:t>
            </a:r>
          </a:p>
        </p:txBody>
      </p:sp>
      <p:sp>
        <p:nvSpPr>
          <p:cNvPr id="402" name="TextBox 6|입원"/>
          <p:cNvSpPr txBox="1"/>
          <p:nvPr/>
        </p:nvSpPr>
        <p:spPr>
          <a:xfrm>
            <a:off x="8856000" y="12910000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403" name="L_TextBox 6|통원"/>
          <p:cNvSpPr txBox="1"/>
          <p:nvPr/>
        </p:nvSpPr>
        <p:spPr>
          <a:xfrm>
            <a:off x="7200000" y="13086833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통원</a:t>
            </a:r>
          </a:p>
        </p:txBody>
      </p:sp>
      <p:sp>
        <p:nvSpPr>
          <p:cNvPr id="405" name="TextBox 6|통원"/>
          <p:cNvSpPr txBox="1"/>
          <p:nvPr/>
        </p:nvSpPr>
        <p:spPr>
          <a:xfrm>
            <a:off x="8856000" y="13101233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406" name="L_TextBox 6|약"/>
          <p:cNvSpPr txBox="1"/>
          <p:nvPr/>
        </p:nvSpPr>
        <p:spPr>
          <a:xfrm>
            <a:off x="7200000" y="13278066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약</a:t>
            </a:r>
          </a:p>
        </p:txBody>
      </p:sp>
      <p:sp>
        <p:nvSpPr>
          <p:cNvPr id="408" name="TextBox 6|약"/>
          <p:cNvSpPr txBox="1"/>
          <p:nvPr/>
        </p:nvSpPr>
        <p:spPr>
          <a:xfrm>
            <a:off x="8856000" y="13292466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409" name="L_TextBox 6|MRI"/>
          <p:cNvSpPr txBox="1"/>
          <p:nvPr/>
        </p:nvSpPr>
        <p:spPr>
          <a:xfrm>
            <a:off x="7200000" y="1346929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MRI</a:t>
            </a:r>
          </a:p>
        </p:txBody>
      </p:sp>
      <p:sp>
        <p:nvSpPr>
          <p:cNvPr id="411" name="TextBox 6|MRI"/>
          <p:cNvSpPr txBox="1"/>
          <p:nvPr/>
        </p:nvSpPr>
        <p:spPr>
          <a:xfrm>
            <a:off x="8856000" y="1348369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412" name="L_TextBox 6|도수치료"/>
          <p:cNvSpPr txBox="1"/>
          <p:nvPr/>
        </p:nvSpPr>
        <p:spPr>
          <a:xfrm>
            <a:off x="7200000" y="13660532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도수치료</a:t>
            </a:r>
          </a:p>
        </p:txBody>
      </p:sp>
      <p:sp>
        <p:nvSpPr>
          <p:cNvPr id="414" name="TextBox 6|도수치료"/>
          <p:cNvSpPr txBox="1"/>
          <p:nvPr/>
        </p:nvSpPr>
        <p:spPr>
          <a:xfrm>
            <a:off x="8856000" y="13674932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415" name="L_TextBox 6|비급여주사"/>
          <p:cNvSpPr txBox="1"/>
          <p:nvPr/>
        </p:nvSpPr>
        <p:spPr>
          <a:xfrm>
            <a:off x="7200000" y="13851765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비급여주사</a:t>
            </a:r>
          </a:p>
        </p:txBody>
      </p:sp>
      <p:sp>
        <p:nvSpPr>
          <p:cNvPr id="417" name="TextBox 6|비급여주사"/>
          <p:cNvSpPr txBox="1"/>
          <p:nvPr/>
        </p:nvSpPr>
        <p:spPr>
          <a:xfrm>
            <a:off x="8856000" y="13866165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418" name="L_TextBox 6|상해의료비"/>
          <p:cNvSpPr txBox="1"/>
          <p:nvPr/>
        </p:nvSpPr>
        <p:spPr>
          <a:xfrm>
            <a:off x="7200000" y="14042999"/>
            <a:ext cx="1692000" cy="208800"/>
          </a:xfrm>
          <a:prstGeom prst="rect">
            <a:avLst/>
          </a:prstGeom>
          <a:noFill/>
          <a:ln/>
        </p:spPr>
        <p:txBody>
          <a:bodyPr wrap="none" anchor="ctr" lIns="18000" rIns="18000" tIns="21600" bIns="21600">
            <a:noAutofit/>
          </a:bodyPr>
          <a:lstStyle/>
          <a:p>
            <a:r>
              <a:rPr sz="1400" b="1">
                <a:solidFill>
                  <a:srgbClr val="5B678A"/>
                </a:solidFill>
                <a:latin typeface="HY엽서M"/>
              </a:rPr>
              <a:t>상해의료비</a:t>
            </a:r>
          </a:p>
        </p:txBody>
      </p:sp>
      <p:sp>
        <p:nvSpPr>
          <p:cNvPr id="420" name="TextBox 6|상해의료비"/>
          <p:cNvSpPr txBox="1"/>
          <p:nvPr/>
        </p:nvSpPr>
        <p:spPr>
          <a:xfrm>
            <a:off x="8856000" y="14057399"/>
            <a:ext cx="1440000" cy="180000"/>
          </a:xfrm>
          <a:prstGeom prst="rect">
            <a:avLst/>
          </a:prstGeom>
          <a:noFill/>
          <a:ln/>
        </p:spPr>
        <p:txBody>
          <a:bodyPr wrap="none" anchor="ctr" lIns="54000" rIns="54000" tIns="21600" bIns="21600">
            <a:noAutofit/>
          </a:bodyPr>
          <a:lstStyle/>
          <a:p>
            <a:pPr algn="r"/>
            <a:r>
              <a:rPr sz="1189" b="1">
                <a:solidFill>
                  <a:srgbClr val="0E1E52"/>
                </a:solidFill>
                <a:latin typeface="HY엽서M"/>
              </a:rPr>
              <a:t/>
            </a:r>
          </a:p>
        </p:txBody>
      </p:sp>
      <p:sp>
        <p:nvSpPr>
          <p:cNvPr id="422" name="FTR_BRAND"/>
          <p:cNvSpPr txBox="1"/>
          <p:nvPr/>
        </p:nvSpPr>
        <p:spPr>
          <a:xfrm>
            <a:off x="360000" y="14886000"/>
            <a:ext cx="4320000" cy="234000"/>
          </a:xfrm>
          <a:prstGeom prst="rect">
            <a:avLst/>
          </a:prstGeom>
          <a:noFill/>
          <a:ln/>
        </p:spPr>
        <p:txBody>
          <a:bodyPr wrap="square" anchor="ctr" lIns="54000" rIns="54000" tIns="21600" bIns="21600">
            <a:noAutofit/>
          </a:bodyPr>
          <a:lstStyle/>
          <a:p>
            <a:r>
              <a:rPr sz="979" b="1">
                <a:solidFill>
                  <a:srgbClr val="FFFFFF"/>
                </a:solidFill>
                <a:latin typeface="HY엽서M"/>
              </a:rPr>
              <a:t>MAKEONE 보장분석 자동화</a:t>
            </a:r>
          </a:p>
        </p:txBody>
      </p:sp>
      <p:sp>
        <p:nvSpPr>
          <p:cNvPr id="423" name="TextBox 38"/>
          <p:cNvSpPr txBox="1"/>
          <p:nvPr/>
        </p:nvSpPr>
        <p:spPr>
          <a:xfrm>
            <a:off x="4320000" y="14886000"/>
            <a:ext cx="6012000" cy="234000"/>
          </a:xfrm>
          <a:prstGeom prst="rect">
            <a:avLst/>
          </a:prstGeom>
          <a:noFill/>
          <a:ln/>
        </p:spPr>
        <p:txBody>
          <a:bodyPr wrap="square" anchor="ctr" lIns="54000" rIns="54000" tIns="21600" bIns="21600">
            <a:noAutofit/>
          </a:bodyPr>
          <a:lstStyle/>
          <a:p>
            <a:pPr algn="r"/>
            <a:r>
              <a:rPr sz="979" b="1">
                <a:solidFill>
                  <a:srgbClr val="8A94A6"/>
                </a:solidFill>
                <a:latin typeface="HY엽서M"/>
              </a:rPr>
              <a:t>참고용 입니다</a:t>
            </a:r>
            <a:r>
              <a:rPr sz="979" b="1">
                <a:solidFill>
                  <a:srgbClr val="8A94A6"/>
                </a:solidFill>
                <a:latin typeface="HY엽서M"/>
              </a:rPr>
              <a:t> </a:t>
            </a:r>
            <a:r>
              <a:rPr sz="979" b="1">
                <a:solidFill>
                  <a:srgbClr val="8A94A6"/>
                </a:solidFill>
                <a:latin typeface="HY엽서M"/>
              </a:rPr>
              <a:t>자세한건</a:t>
            </a:r>
            <a:r>
              <a:rPr sz="979" b="1">
                <a:solidFill>
                  <a:srgbClr val="8A94A6"/>
                </a:solidFill>
                <a:latin typeface="HY엽서M"/>
              </a:rPr>
              <a:t> 증권을 확인해주세요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