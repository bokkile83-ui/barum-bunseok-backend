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692000" cy="1512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HDR_GRAD"/>
          <p:cNvSpPr/>
          <p:nvPr/>
        </p:nvSpPr>
        <p:spPr>
          <a:xfrm>
            <a:off x="360000" y="1098000"/>
            <a:ext cx="9972000" cy="43200"/>
          </a:xfrm>
          <a:prstGeom prst="rect">
            <a:avLst/>
          </a:prstGeom>
          <a:gradFill rotWithShape="1">
            <a:gsLst>
              <a:gs pos="0">
                <a:srgbClr val="C9A227"/>
              </a:gs>
              <a:gs pos="100000">
                <a:srgbClr val="F3EBD0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KPIBOX"/>
          <p:cNvSpPr/>
          <p:nvPr/>
        </p:nvSpPr>
        <p:spPr>
          <a:xfrm>
            <a:off x="360000" y="1224000"/>
            <a:ext cx="9972000" cy="413999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KPIBAR"/>
          <p:cNvSpPr/>
          <p:nvPr/>
        </p:nvSpPr>
        <p:spPr>
          <a:xfrm>
            <a:off x="360000" y="1224000"/>
            <a:ext cx="57600" cy="413999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ELLBG"/>
          <p:cNvSpPr/>
          <p:nvPr/>
        </p:nvSpPr>
        <p:spPr>
          <a:xfrm>
            <a:off x="7092000" y="1296000"/>
            <a:ext cx="3168000" cy="2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AND"/>
          <p:cNvSpPr/>
          <p:nvPr/>
        </p:nvSpPr>
        <p:spPr>
          <a:xfrm>
            <a:off x="360000" y="1745999"/>
            <a:ext cx="3204000" cy="306000"/>
          </a:xfrm>
          <a:prstGeom prst="rect">
            <a:avLst/>
          </a:prstGeom>
          <a:solidFill>
            <a:srgbClr val="2A4A9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RD"/>
          <p:cNvSpPr/>
          <p:nvPr/>
        </p:nvSpPr>
        <p:spPr>
          <a:xfrm>
            <a:off x="360000" y="2124000"/>
            <a:ext cx="3204000" cy="2736000"/>
          </a:xfrm>
          <a:prstGeom prst="rect">
            <a:avLst/>
          </a:prstGeom>
          <a:solidFill>
            <a:srgbClr val="F3FAF4"/>
          </a:solidFill>
          <a:ln w="12700">
            <a:solidFill>
              <a:srgbClr val="1E7B3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IER"/>
          <p:cNvSpPr/>
          <p:nvPr/>
        </p:nvSpPr>
        <p:spPr>
          <a:xfrm>
            <a:off x="450000" y="2574000"/>
            <a:ext cx="3024000" cy="2196000"/>
          </a:xfrm>
          <a:prstGeom prst="rect">
            <a:avLst/>
          </a:prstGeom>
          <a:solidFill>
            <a:srgbClr val="D6E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IER_T"/>
          <p:cNvSpPr txBox="1"/>
          <p:nvPr/>
        </p:nvSpPr>
        <p:spPr>
          <a:xfrm>
            <a:off x="558000" y="2609999"/>
            <a:ext cx="1440000" cy="2340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70" b="1">
                <a:solidFill>
                  <a:srgbClr val="0E1E52"/>
                </a:solidFill>
                <a:latin typeface="HY엽서M"/>
              </a:rPr>
              <a:t>뇌혈관</a:t>
            </a:r>
          </a:p>
        </p:txBody>
      </p:sp>
      <p:sp>
        <p:nvSpPr>
          <p:cNvPr id="20" name="CELLBG"/>
          <p:cNvSpPr/>
          <p:nvPr/>
        </p:nvSpPr>
        <p:spPr>
          <a:xfrm>
            <a:off x="1998000" y="2628000"/>
            <a:ext cx="1368000" cy="19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IER_L"/>
          <p:cNvSpPr txBox="1"/>
          <p:nvPr/>
        </p:nvSpPr>
        <p:spPr>
          <a:xfrm>
            <a:off x="558000" y="2861999"/>
            <a:ext cx="2880000" cy="162000"/>
          </a:xfrm>
          <a:prstGeom prst="rect">
            <a:avLst/>
          </a:prstGeom>
          <a:noFill/>
        </p:spPr>
        <p:txBody>
          <a:bodyPr wrap="none" anchor="t" lIns="18000" rIns="18000" tIns="21600" bIns="21600">
            <a:noAutofit/>
          </a:bodyPr>
          <a:lstStyle/>
          <a:p>
            <a:r>
              <a:rPr sz="910" b="0">
                <a:solidFill>
                  <a:srgbClr val="4A556B"/>
                </a:solidFill>
                <a:latin typeface="HY엽서M"/>
              </a:rPr>
              <a:t>뇌혈관 질환의 후유증</a:t>
            </a:r>
          </a:p>
        </p:txBody>
      </p:sp>
      <p:sp>
        <p:nvSpPr>
          <p:cNvPr id="23" name="TIER_L"/>
          <p:cNvSpPr txBox="1"/>
          <p:nvPr/>
        </p:nvSpPr>
        <p:spPr>
          <a:xfrm>
            <a:off x="558000" y="2984399"/>
            <a:ext cx="2880000" cy="162000"/>
          </a:xfrm>
          <a:prstGeom prst="rect">
            <a:avLst/>
          </a:prstGeom>
          <a:noFill/>
        </p:spPr>
        <p:txBody>
          <a:bodyPr wrap="none" anchor="t" lIns="18000" rIns="18000" tIns="21600" bIns="21600">
            <a:noAutofit/>
          </a:bodyPr>
          <a:lstStyle/>
          <a:p>
            <a:r>
              <a:rPr sz="910" b="0">
                <a:solidFill>
                  <a:srgbClr val="4A556B"/>
                </a:solidFill>
                <a:latin typeface="HY엽서M"/>
              </a:rPr>
              <a:t>달리 분류된 질환에서의 뇌혈관 장애</a:t>
            </a:r>
          </a:p>
        </p:txBody>
      </p:sp>
      <p:sp>
        <p:nvSpPr>
          <p:cNvPr id="24" name="TIER_L"/>
          <p:cNvSpPr txBox="1"/>
          <p:nvPr/>
        </p:nvSpPr>
        <p:spPr>
          <a:xfrm>
            <a:off x="558000" y="3106799"/>
            <a:ext cx="2880000" cy="162000"/>
          </a:xfrm>
          <a:prstGeom prst="rect">
            <a:avLst/>
          </a:prstGeom>
          <a:noFill/>
        </p:spPr>
        <p:txBody>
          <a:bodyPr wrap="none" anchor="t" lIns="18000" rIns="18000" tIns="21600" bIns="21600">
            <a:noAutofit/>
          </a:bodyPr>
          <a:lstStyle/>
          <a:p>
            <a:r>
              <a:rPr sz="910" b="0">
                <a:solidFill>
                  <a:srgbClr val="4A556B"/>
                </a:solidFill>
                <a:latin typeface="HY엽서M"/>
              </a:rPr>
              <a:t>기타 뇌혈관 질환</a:t>
            </a:r>
          </a:p>
        </p:txBody>
      </p:sp>
      <p:sp>
        <p:nvSpPr>
          <p:cNvPr id="25" name="TIER_L"/>
          <p:cNvSpPr txBox="1"/>
          <p:nvPr/>
        </p:nvSpPr>
        <p:spPr>
          <a:xfrm>
            <a:off x="558000" y="3229199"/>
            <a:ext cx="2880000" cy="162000"/>
          </a:xfrm>
          <a:prstGeom prst="rect">
            <a:avLst/>
          </a:prstGeom>
          <a:noFill/>
        </p:spPr>
        <p:txBody>
          <a:bodyPr wrap="none" anchor="t" lIns="18000" rIns="18000" tIns="21600" bIns="21600">
            <a:noAutofit/>
          </a:bodyPr>
          <a:lstStyle/>
          <a:p>
            <a:r>
              <a:rPr sz="910" b="0">
                <a:solidFill>
                  <a:srgbClr val="4A556B"/>
                </a:solidFill>
                <a:latin typeface="HY엽서M"/>
              </a:rPr>
              <a:t>출혈 또는 경색증으로 명시되지 않은 뇌졸중</a:t>
            </a:r>
          </a:p>
        </p:txBody>
      </p:sp>
      <p:sp>
        <p:nvSpPr>
          <p:cNvPr id="26" name="TIER"/>
          <p:cNvSpPr/>
          <p:nvPr/>
        </p:nvSpPr>
        <p:spPr>
          <a:xfrm>
            <a:off x="576000" y="3366000"/>
            <a:ext cx="2772000" cy="1332000"/>
          </a:xfrm>
          <a:prstGeom prst="rect">
            <a:avLst/>
          </a:prstGeom>
          <a:solidFill>
            <a:srgbClr val="AFD0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IER_T"/>
          <p:cNvSpPr txBox="1"/>
          <p:nvPr/>
        </p:nvSpPr>
        <p:spPr>
          <a:xfrm>
            <a:off x="684000" y="3401999"/>
            <a:ext cx="1260000" cy="2340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70" b="1">
                <a:solidFill>
                  <a:srgbClr val="0E1E52"/>
                </a:solidFill>
                <a:latin typeface="HY엽서M"/>
              </a:rPr>
              <a:t>뇌졸중</a:t>
            </a:r>
          </a:p>
        </p:txBody>
      </p:sp>
      <p:sp>
        <p:nvSpPr>
          <p:cNvPr id="28" name="CELLBG"/>
          <p:cNvSpPr/>
          <p:nvPr/>
        </p:nvSpPr>
        <p:spPr>
          <a:xfrm>
            <a:off x="1944000" y="3420000"/>
            <a:ext cx="1296000" cy="19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IER_L"/>
          <p:cNvSpPr txBox="1"/>
          <p:nvPr/>
        </p:nvSpPr>
        <p:spPr>
          <a:xfrm>
            <a:off x="684000" y="3654000"/>
            <a:ext cx="2628000" cy="162000"/>
          </a:xfrm>
          <a:prstGeom prst="rect">
            <a:avLst/>
          </a:prstGeom>
          <a:noFill/>
        </p:spPr>
        <p:txBody>
          <a:bodyPr wrap="none" anchor="t" lIns="18000" rIns="18000" tIns="21600" bIns="21600">
            <a:noAutofit/>
          </a:bodyPr>
          <a:lstStyle/>
          <a:p>
            <a:r>
              <a:rPr sz="910" b="0">
                <a:solidFill>
                  <a:srgbClr val="4A556B"/>
                </a:solidFill>
                <a:latin typeface="HY엽서M"/>
              </a:rPr>
              <a:t>대뇌동맥의 폐쇄 및 협착</a:t>
            </a:r>
          </a:p>
        </p:txBody>
      </p:sp>
      <p:sp>
        <p:nvSpPr>
          <p:cNvPr id="31" name="TIER_L"/>
          <p:cNvSpPr txBox="1"/>
          <p:nvPr/>
        </p:nvSpPr>
        <p:spPr>
          <a:xfrm>
            <a:off x="684000" y="3776400"/>
            <a:ext cx="2628000" cy="162000"/>
          </a:xfrm>
          <a:prstGeom prst="rect">
            <a:avLst/>
          </a:prstGeom>
          <a:noFill/>
        </p:spPr>
        <p:txBody>
          <a:bodyPr wrap="none" anchor="t" lIns="18000" rIns="18000" tIns="21600" bIns="21600">
            <a:noAutofit/>
          </a:bodyPr>
          <a:lstStyle/>
          <a:p>
            <a:r>
              <a:rPr sz="910" b="0">
                <a:solidFill>
                  <a:srgbClr val="4A556B"/>
                </a:solidFill>
                <a:latin typeface="HY엽서M"/>
              </a:rPr>
              <a:t>뇌전동맥의 폐쇄 및 협착</a:t>
            </a:r>
          </a:p>
        </p:txBody>
      </p:sp>
      <p:sp>
        <p:nvSpPr>
          <p:cNvPr id="32" name="TIER_L"/>
          <p:cNvSpPr txBox="1"/>
          <p:nvPr/>
        </p:nvSpPr>
        <p:spPr>
          <a:xfrm>
            <a:off x="684000" y="3898800"/>
            <a:ext cx="2628000" cy="162000"/>
          </a:xfrm>
          <a:prstGeom prst="rect">
            <a:avLst/>
          </a:prstGeom>
          <a:noFill/>
        </p:spPr>
        <p:txBody>
          <a:bodyPr wrap="none" anchor="t" lIns="18000" rIns="18000" tIns="21600" bIns="21600">
            <a:noAutofit/>
          </a:bodyPr>
          <a:lstStyle/>
          <a:p>
            <a:r>
              <a:rPr sz="910" b="0">
                <a:solidFill>
                  <a:srgbClr val="4A556B"/>
                </a:solidFill>
                <a:latin typeface="HY엽서M"/>
              </a:rPr>
              <a:t>뇌경색증</a:t>
            </a:r>
          </a:p>
        </p:txBody>
      </p:sp>
      <p:sp>
        <p:nvSpPr>
          <p:cNvPr id="33" name="TIER"/>
          <p:cNvSpPr/>
          <p:nvPr/>
        </p:nvSpPr>
        <p:spPr>
          <a:xfrm>
            <a:off x="702000" y="4050000"/>
            <a:ext cx="2520000" cy="594000"/>
          </a:xfrm>
          <a:prstGeom prst="rect">
            <a:avLst/>
          </a:prstGeom>
          <a:solidFill>
            <a:srgbClr val="8DC4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IER_T"/>
          <p:cNvSpPr txBox="1"/>
          <p:nvPr/>
        </p:nvSpPr>
        <p:spPr>
          <a:xfrm>
            <a:off x="810000" y="4086000"/>
            <a:ext cx="1080000" cy="2340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70" b="1">
                <a:solidFill>
                  <a:srgbClr val="0E1E52"/>
                </a:solidFill>
                <a:latin typeface="HY엽서M"/>
              </a:rPr>
              <a:t>뇌출혈</a:t>
            </a:r>
          </a:p>
        </p:txBody>
      </p:sp>
      <p:sp>
        <p:nvSpPr>
          <p:cNvPr id="35" name="CELLBG"/>
          <p:cNvSpPr/>
          <p:nvPr/>
        </p:nvSpPr>
        <p:spPr>
          <a:xfrm>
            <a:off x="1889999" y="4104000"/>
            <a:ext cx="1224000" cy="19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IER_L"/>
          <p:cNvSpPr txBox="1"/>
          <p:nvPr/>
        </p:nvSpPr>
        <p:spPr>
          <a:xfrm>
            <a:off x="810000" y="4338000"/>
            <a:ext cx="2376000" cy="162000"/>
          </a:xfrm>
          <a:prstGeom prst="rect">
            <a:avLst/>
          </a:prstGeom>
          <a:noFill/>
        </p:spPr>
        <p:txBody>
          <a:bodyPr wrap="none" anchor="t" lIns="18000" rIns="18000" tIns="21600" bIns="21600">
            <a:noAutofit/>
          </a:bodyPr>
          <a:lstStyle/>
          <a:p>
            <a:r>
              <a:rPr sz="910" b="0">
                <a:solidFill>
                  <a:srgbClr val="4A556B"/>
                </a:solidFill>
                <a:latin typeface="HY엽서M"/>
              </a:rPr>
              <a:t>기타 비외상성 머리내 출혈 · 뇌내출혈 · 지주막하 출혈</a:t>
            </a:r>
          </a:p>
        </p:txBody>
      </p:sp>
      <p:sp>
        <p:nvSpPr>
          <p:cNvPr id="38" name="CARD"/>
          <p:cNvSpPr/>
          <p:nvPr/>
        </p:nvSpPr>
        <p:spPr>
          <a:xfrm>
            <a:off x="360000" y="4968000"/>
            <a:ext cx="3204000" cy="3168000"/>
          </a:xfrm>
          <a:prstGeom prst="rect">
            <a:avLst/>
          </a:prstGeom>
          <a:solidFill>
            <a:srgbClr val="F3FAF4"/>
          </a:solidFill>
          <a:ln w="12700">
            <a:solidFill>
              <a:srgbClr val="1E7B3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IER"/>
          <p:cNvSpPr/>
          <p:nvPr/>
        </p:nvSpPr>
        <p:spPr>
          <a:xfrm>
            <a:off x="450000" y="5418000"/>
            <a:ext cx="3024000" cy="2610000"/>
          </a:xfrm>
          <a:prstGeom prst="rect">
            <a:avLst/>
          </a:prstGeom>
          <a:solidFill>
            <a:srgbClr val="F8DE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IER_T"/>
          <p:cNvSpPr txBox="1"/>
          <p:nvPr/>
        </p:nvSpPr>
        <p:spPr>
          <a:xfrm>
            <a:off x="558000" y="5454000"/>
            <a:ext cx="2808000" cy="2340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70" b="1">
                <a:solidFill>
                  <a:srgbClr val="0E1E52"/>
                </a:solidFill>
                <a:latin typeface="HY엽서M"/>
              </a:rPr>
              <a:t>심혈관</a:t>
            </a:r>
          </a:p>
        </p:txBody>
      </p:sp>
      <p:sp>
        <p:nvSpPr>
          <p:cNvPr id="45" name="CELLBG"/>
          <p:cNvSpPr/>
          <p:nvPr/>
        </p:nvSpPr>
        <p:spPr>
          <a:xfrm>
            <a:off x="1944000" y="5720400"/>
            <a:ext cx="1440000" cy="115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CELLBG"/>
          <p:cNvSpPr/>
          <p:nvPr/>
        </p:nvSpPr>
        <p:spPr>
          <a:xfrm>
            <a:off x="1944000" y="5857200"/>
            <a:ext cx="1440000" cy="115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CELLBG"/>
          <p:cNvSpPr/>
          <p:nvPr/>
        </p:nvSpPr>
        <p:spPr>
          <a:xfrm>
            <a:off x="1944000" y="5993999"/>
            <a:ext cx="1440000" cy="115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CELLBG"/>
          <p:cNvSpPr/>
          <p:nvPr/>
        </p:nvSpPr>
        <p:spPr>
          <a:xfrm>
            <a:off x="1944000" y="6130799"/>
            <a:ext cx="1440000" cy="115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CELLBG"/>
          <p:cNvSpPr/>
          <p:nvPr/>
        </p:nvSpPr>
        <p:spPr>
          <a:xfrm>
            <a:off x="1944000" y="6267599"/>
            <a:ext cx="1440000" cy="115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CELLBG"/>
          <p:cNvSpPr/>
          <p:nvPr/>
        </p:nvSpPr>
        <p:spPr>
          <a:xfrm>
            <a:off x="1944000" y="6404399"/>
            <a:ext cx="1440000" cy="115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CELLBG"/>
          <p:cNvSpPr/>
          <p:nvPr/>
        </p:nvSpPr>
        <p:spPr>
          <a:xfrm>
            <a:off x="1944000" y="6541199"/>
            <a:ext cx="1440000" cy="115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IER"/>
          <p:cNvSpPr/>
          <p:nvPr/>
        </p:nvSpPr>
        <p:spPr>
          <a:xfrm>
            <a:off x="576000" y="6714000"/>
            <a:ext cx="2772000" cy="1260000"/>
          </a:xfrm>
          <a:prstGeom prst="rect">
            <a:avLst/>
          </a:prstGeom>
          <a:solidFill>
            <a:srgbClr val="F0B8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IER_T"/>
          <p:cNvSpPr txBox="1"/>
          <p:nvPr/>
        </p:nvSpPr>
        <p:spPr>
          <a:xfrm>
            <a:off x="684000" y="6750000"/>
            <a:ext cx="1260000" cy="2340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70" b="1">
                <a:solidFill>
                  <a:srgbClr val="0E1E52"/>
                </a:solidFill>
                <a:latin typeface="HY엽서M"/>
              </a:rPr>
              <a:t>허혈성 심장</a:t>
            </a:r>
          </a:p>
        </p:txBody>
      </p:sp>
      <p:sp>
        <p:nvSpPr>
          <p:cNvPr id="67" name="CELLBG"/>
          <p:cNvSpPr/>
          <p:nvPr/>
        </p:nvSpPr>
        <p:spPr>
          <a:xfrm>
            <a:off x="1944000" y="6768000"/>
            <a:ext cx="1296000" cy="19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IER_L"/>
          <p:cNvSpPr txBox="1"/>
          <p:nvPr/>
        </p:nvSpPr>
        <p:spPr>
          <a:xfrm>
            <a:off x="684000" y="7002000"/>
            <a:ext cx="2628000" cy="162000"/>
          </a:xfrm>
          <a:prstGeom prst="rect">
            <a:avLst/>
          </a:prstGeom>
          <a:noFill/>
        </p:spPr>
        <p:txBody>
          <a:bodyPr wrap="none" anchor="t" lIns="18000" rIns="18000" tIns="21600" bIns="21600">
            <a:noAutofit/>
          </a:bodyPr>
          <a:lstStyle/>
          <a:p>
            <a:r>
              <a:rPr sz="910" b="0">
                <a:solidFill>
                  <a:srgbClr val="4A556B"/>
                </a:solidFill>
                <a:latin typeface="HY엽서M"/>
              </a:rPr>
              <a:t>협심증 · 기타 급성 허혈성심장질환 · 만성 허혈심장병</a:t>
            </a:r>
          </a:p>
        </p:txBody>
      </p:sp>
      <p:sp>
        <p:nvSpPr>
          <p:cNvPr id="70" name="TIER"/>
          <p:cNvSpPr/>
          <p:nvPr/>
        </p:nvSpPr>
        <p:spPr>
          <a:xfrm>
            <a:off x="702000" y="7416000"/>
            <a:ext cx="2520000" cy="503999"/>
          </a:xfrm>
          <a:prstGeom prst="rect">
            <a:avLst/>
          </a:prstGeom>
          <a:solidFill>
            <a:srgbClr val="EE9B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IER_T"/>
          <p:cNvSpPr txBox="1"/>
          <p:nvPr/>
        </p:nvSpPr>
        <p:spPr>
          <a:xfrm>
            <a:off x="810000" y="7452000"/>
            <a:ext cx="1152000" cy="2340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1">
                <a:solidFill>
                  <a:srgbClr val="0E1E52"/>
                </a:solidFill>
                <a:latin typeface="HY엽서M"/>
              </a:rPr>
              <a:t>급성심근경색</a:t>
            </a:r>
          </a:p>
        </p:txBody>
      </p:sp>
      <p:sp>
        <p:nvSpPr>
          <p:cNvPr id="72" name="CELLBG"/>
          <p:cNvSpPr/>
          <p:nvPr/>
        </p:nvSpPr>
        <p:spPr>
          <a:xfrm>
            <a:off x="1961999" y="7470000"/>
            <a:ext cx="1152000" cy="19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IER_L"/>
          <p:cNvSpPr txBox="1"/>
          <p:nvPr/>
        </p:nvSpPr>
        <p:spPr>
          <a:xfrm>
            <a:off x="810000" y="7704000"/>
            <a:ext cx="2376000" cy="162000"/>
          </a:xfrm>
          <a:prstGeom prst="rect">
            <a:avLst/>
          </a:prstGeom>
          <a:noFill/>
        </p:spPr>
        <p:txBody>
          <a:bodyPr wrap="none" anchor="t" lIns="18000" rIns="18000" tIns="21600" bIns="21600">
            <a:noAutofit/>
          </a:bodyPr>
          <a:lstStyle/>
          <a:p>
            <a:r>
              <a:rPr sz="910" b="0">
                <a:solidFill>
                  <a:srgbClr val="4A556B"/>
                </a:solidFill>
                <a:latin typeface="HY엽서M"/>
              </a:rPr>
              <a:t>급성심근경색증 · 속발성 심근경색증 · 특정 합병증</a:t>
            </a:r>
          </a:p>
        </p:txBody>
      </p:sp>
      <p:sp>
        <p:nvSpPr>
          <p:cNvPr id="75" name="CARD"/>
          <p:cNvSpPr/>
          <p:nvPr/>
        </p:nvSpPr>
        <p:spPr>
          <a:xfrm>
            <a:off x="360000" y="8244000"/>
            <a:ext cx="3204000" cy="1116000"/>
          </a:xfrm>
          <a:prstGeom prst="rect">
            <a:avLst/>
          </a:prstGeom>
          <a:solidFill>
            <a:srgbClr val="EAF2FD"/>
          </a:solidFill>
          <a:ln w="12700">
            <a:solidFill>
              <a:srgbClr val="1E7B3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CELLBG"/>
          <p:cNvSpPr/>
          <p:nvPr/>
        </p:nvSpPr>
        <p:spPr>
          <a:xfrm>
            <a:off x="2088000" y="87084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CELLBG"/>
          <p:cNvSpPr/>
          <p:nvPr/>
        </p:nvSpPr>
        <p:spPr>
          <a:xfrm>
            <a:off x="2088000" y="89100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CELLBG"/>
          <p:cNvSpPr/>
          <p:nvPr/>
        </p:nvSpPr>
        <p:spPr>
          <a:xfrm>
            <a:off x="2088000" y="91116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CARD"/>
          <p:cNvSpPr/>
          <p:nvPr/>
        </p:nvSpPr>
        <p:spPr>
          <a:xfrm>
            <a:off x="360000" y="9468000"/>
            <a:ext cx="3204000" cy="1116000"/>
          </a:xfrm>
          <a:prstGeom prst="rect">
            <a:avLst/>
          </a:prstGeom>
          <a:solidFill>
            <a:srgbClr val="FDEDED"/>
          </a:solidFill>
          <a:ln w="12700">
            <a:solidFill>
              <a:srgbClr val="1E7B3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CELLBG"/>
          <p:cNvSpPr/>
          <p:nvPr/>
        </p:nvSpPr>
        <p:spPr>
          <a:xfrm>
            <a:off x="2088000" y="99324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CELLBG"/>
          <p:cNvSpPr/>
          <p:nvPr/>
        </p:nvSpPr>
        <p:spPr>
          <a:xfrm>
            <a:off x="2088000" y="101340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CELLBG"/>
          <p:cNvSpPr/>
          <p:nvPr/>
        </p:nvSpPr>
        <p:spPr>
          <a:xfrm>
            <a:off x="2088000" y="103356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BAND"/>
          <p:cNvSpPr/>
          <p:nvPr/>
        </p:nvSpPr>
        <p:spPr>
          <a:xfrm>
            <a:off x="360000" y="10764000"/>
            <a:ext cx="3204000" cy="306000"/>
          </a:xfrm>
          <a:prstGeom prst="rect">
            <a:avLst/>
          </a:prstGeom>
          <a:solidFill>
            <a:srgbClr val="0E1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CARD"/>
          <p:cNvSpPr/>
          <p:nvPr/>
        </p:nvSpPr>
        <p:spPr>
          <a:xfrm>
            <a:off x="360000" y="11142000"/>
            <a:ext cx="3204000" cy="176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CELLBG"/>
          <p:cNvSpPr/>
          <p:nvPr/>
        </p:nvSpPr>
        <p:spPr>
          <a:xfrm>
            <a:off x="2088000" y="116064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CELLBG"/>
          <p:cNvSpPr/>
          <p:nvPr/>
        </p:nvSpPr>
        <p:spPr>
          <a:xfrm>
            <a:off x="2088000" y="118080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CELLBG"/>
          <p:cNvSpPr/>
          <p:nvPr/>
        </p:nvSpPr>
        <p:spPr>
          <a:xfrm>
            <a:off x="2088000" y="120096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CELLBG"/>
          <p:cNvSpPr/>
          <p:nvPr/>
        </p:nvSpPr>
        <p:spPr>
          <a:xfrm>
            <a:off x="2088000" y="122112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CELLBG"/>
          <p:cNvSpPr/>
          <p:nvPr/>
        </p:nvSpPr>
        <p:spPr>
          <a:xfrm>
            <a:off x="2088000" y="124128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CELLBG"/>
          <p:cNvSpPr/>
          <p:nvPr/>
        </p:nvSpPr>
        <p:spPr>
          <a:xfrm>
            <a:off x="2088000" y="126144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BAND"/>
          <p:cNvSpPr/>
          <p:nvPr/>
        </p:nvSpPr>
        <p:spPr>
          <a:xfrm>
            <a:off x="360000" y="13089600"/>
            <a:ext cx="3204000" cy="306000"/>
          </a:xfrm>
          <a:prstGeom prst="rect">
            <a:avLst/>
          </a:prstGeom>
          <a:solidFill>
            <a:srgbClr val="0E1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CARD"/>
          <p:cNvSpPr/>
          <p:nvPr/>
        </p:nvSpPr>
        <p:spPr>
          <a:xfrm>
            <a:off x="360000" y="13467600"/>
            <a:ext cx="3204000" cy="136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CELLBG"/>
          <p:cNvSpPr/>
          <p:nvPr/>
        </p:nvSpPr>
        <p:spPr>
          <a:xfrm>
            <a:off x="2088000" y="139320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CELLBG"/>
          <p:cNvSpPr/>
          <p:nvPr/>
        </p:nvSpPr>
        <p:spPr>
          <a:xfrm>
            <a:off x="2088000" y="141336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CELLBG"/>
          <p:cNvSpPr/>
          <p:nvPr/>
        </p:nvSpPr>
        <p:spPr>
          <a:xfrm>
            <a:off x="2088000" y="143352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CELLBG"/>
          <p:cNvSpPr/>
          <p:nvPr/>
        </p:nvSpPr>
        <p:spPr>
          <a:xfrm>
            <a:off x="2088000" y="145368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BAND"/>
          <p:cNvSpPr/>
          <p:nvPr/>
        </p:nvSpPr>
        <p:spPr>
          <a:xfrm>
            <a:off x="3744000" y="1745999"/>
            <a:ext cx="3204000" cy="306000"/>
          </a:xfrm>
          <a:prstGeom prst="rect">
            <a:avLst/>
          </a:prstGeom>
          <a:solidFill>
            <a:srgbClr val="A84B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CARD"/>
          <p:cNvSpPr/>
          <p:nvPr/>
        </p:nvSpPr>
        <p:spPr>
          <a:xfrm>
            <a:off x="3744000" y="2124000"/>
            <a:ext cx="3204000" cy="4140000"/>
          </a:xfrm>
          <a:prstGeom prst="rect">
            <a:avLst/>
          </a:prstGeom>
          <a:solidFill>
            <a:srgbClr val="F3FAF4"/>
          </a:solidFill>
          <a:ln w="12700">
            <a:solidFill>
              <a:srgbClr val="1E7B3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TIER"/>
          <p:cNvSpPr/>
          <p:nvPr/>
        </p:nvSpPr>
        <p:spPr>
          <a:xfrm>
            <a:off x="3834000" y="2591999"/>
            <a:ext cx="3024000" cy="1404000"/>
          </a:xfrm>
          <a:prstGeom prst="rect">
            <a:avLst/>
          </a:prstGeom>
          <a:solidFill>
            <a:srgbClr val="FBE6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TIER_T"/>
          <p:cNvSpPr txBox="1"/>
          <p:nvPr/>
        </p:nvSpPr>
        <p:spPr>
          <a:xfrm>
            <a:off x="3942000" y="2627999"/>
            <a:ext cx="1296000" cy="2340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609" b="1">
                <a:solidFill>
                  <a:srgbClr val="0E1E52"/>
                </a:solidFill>
                <a:latin typeface="HY엽서M"/>
              </a:rPr>
              <a:t>일반암</a:t>
            </a:r>
          </a:p>
        </p:txBody>
      </p:sp>
      <p:sp>
        <p:nvSpPr>
          <p:cNvPr id="146" name="CELLBG"/>
          <p:cNvSpPr/>
          <p:nvPr/>
        </p:nvSpPr>
        <p:spPr>
          <a:xfrm>
            <a:off x="5238000" y="2646000"/>
            <a:ext cx="1512000" cy="19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TIER_L"/>
          <p:cNvSpPr txBox="1"/>
          <p:nvPr/>
        </p:nvSpPr>
        <p:spPr>
          <a:xfrm>
            <a:off x="3942000" y="2879999"/>
            <a:ext cx="2880000" cy="162000"/>
          </a:xfrm>
          <a:prstGeom prst="rect">
            <a:avLst/>
          </a:prstGeom>
          <a:noFill/>
        </p:spPr>
        <p:txBody>
          <a:bodyPr wrap="none" anchor="t" lIns="18000" rIns="18000" tIns="21600" bIns="21600">
            <a:noAutofit/>
          </a:bodyPr>
          <a:lstStyle/>
          <a:p>
            <a:r>
              <a:rPr sz="1050" b="0">
                <a:solidFill>
                  <a:srgbClr val="4A556B"/>
                </a:solidFill>
                <a:latin typeface="HY엽서M"/>
              </a:rPr>
              <a:t>유사암 제외 모든 암 · 폐·위·간·췌장 등 · 100%</a:t>
            </a:r>
          </a:p>
        </p:txBody>
      </p:sp>
      <p:sp>
        <p:nvSpPr>
          <p:cNvPr id="149" name="TIER"/>
          <p:cNvSpPr/>
          <p:nvPr/>
        </p:nvSpPr>
        <p:spPr>
          <a:xfrm>
            <a:off x="3960000" y="3113999"/>
            <a:ext cx="2772000" cy="827999"/>
          </a:xfrm>
          <a:prstGeom prst="rect">
            <a:avLst/>
          </a:prstGeom>
          <a:solidFill>
            <a:srgbClr val="F6C9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TIER_T"/>
          <p:cNvSpPr txBox="1"/>
          <p:nvPr/>
        </p:nvSpPr>
        <p:spPr>
          <a:xfrm>
            <a:off x="4068000" y="3149999"/>
            <a:ext cx="1116000" cy="2340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539" b="1">
                <a:solidFill>
                  <a:srgbClr val="0E1E52"/>
                </a:solidFill>
                <a:latin typeface="HY엽서M"/>
              </a:rPr>
              <a:t>고액암</a:t>
            </a:r>
          </a:p>
        </p:txBody>
      </p:sp>
      <p:sp>
        <p:nvSpPr>
          <p:cNvPr id="151" name="CELLBG"/>
          <p:cNvSpPr/>
          <p:nvPr/>
        </p:nvSpPr>
        <p:spPr>
          <a:xfrm>
            <a:off x="5183999" y="3167999"/>
            <a:ext cx="1440000" cy="19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TIER_L"/>
          <p:cNvSpPr txBox="1"/>
          <p:nvPr/>
        </p:nvSpPr>
        <p:spPr>
          <a:xfrm>
            <a:off x="4068000" y="3401999"/>
            <a:ext cx="2628000" cy="162000"/>
          </a:xfrm>
          <a:prstGeom prst="rect">
            <a:avLst/>
          </a:prstGeom>
          <a:noFill/>
        </p:spPr>
        <p:txBody>
          <a:bodyPr wrap="none" anchor="t" lIns="18000" rIns="18000" tIns="21600" bIns="21600">
            <a:noAutofit/>
          </a:bodyPr>
          <a:lstStyle/>
          <a:p>
            <a:r>
              <a:rPr sz="1050" b="0">
                <a:solidFill>
                  <a:srgbClr val="4A556B"/>
                </a:solidFill>
                <a:latin typeface="HY엽서M"/>
              </a:rPr>
              <a:t>백혈병 · 뇌암 · 골수암 · 식도암 · 췌장암 등</a:t>
            </a:r>
          </a:p>
        </p:txBody>
      </p:sp>
      <p:sp>
        <p:nvSpPr>
          <p:cNvPr id="154" name="TIER_L"/>
          <p:cNvSpPr txBox="1"/>
          <p:nvPr/>
        </p:nvSpPr>
        <p:spPr>
          <a:xfrm>
            <a:off x="4068000" y="3553199"/>
            <a:ext cx="2628000" cy="162000"/>
          </a:xfrm>
          <a:prstGeom prst="rect">
            <a:avLst/>
          </a:prstGeom>
          <a:noFill/>
        </p:spPr>
        <p:txBody>
          <a:bodyPr wrap="none" anchor="t" lIns="18000" rIns="18000" tIns="21600" bIns="21600">
            <a:noAutofit/>
          </a:bodyPr>
          <a:lstStyle/>
          <a:p>
            <a:r>
              <a:rPr sz="1050" b="0">
                <a:solidFill>
                  <a:srgbClr val="4A556B"/>
                </a:solidFill>
                <a:latin typeface="HY엽서M"/>
              </a:rPr>
              <a:t>(회사별 범위 상이)</a:t>
            </a:r>
          </a:p>
        </p:txBody>
      </p:sp>
      <p:sp>
        <p:nvSpPr>
          <p:cNvPr id="155" name="TIER"/>
          <p:cNvSpPr/>
          <p:nvPr/>
        </p:nvSpPr>
        <p:spPr>
          <a:xfrm>
            <a:off x="3834000" y="4086000"/>
            <a:ext cx="3024000" cy="522000"/>
          </a:xfrm>
          <a:prstGeom prst="rect">
            <a:avLst/>
          </a:prstGeom>
          <a:solidFill>
            <a:srgbClr val="F9CFC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TIER_T"/>
          <p:cNvSpPr txBox="1"/>
          <p:nvPr/>
        </p:nvSpPr>
        <p:spPr>
          <a:xfrm>
            <a:off x="3942000" y="4121999"/>
            <a:ext cx="1728000" cy="2340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539" b="1">
                <a:solidFill>
                  <a:srgbClr val="0E1E52"/>
                </a:solidFill>
                <a:latin typeface="HY엽서M"/>
              </a:rPr>
              <a:t>소액암</a:t>
            </a:r>
          </a:p>
        </p:txBody>
      </p:sp>
      <p:sp>
        <p:nvSpPr>
          <p:cNvPr id="157" name="CELLBG"/>
          <p:cNvSpPr/>
          <p:nvPr/>
        </p:nvSpPr>
        <p:spPr>
          <a:xfrm>
            <a:off x="5670000" y="4140000"/>
            <a:ext cx="1080000" cy="19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TIER_L"/>
          <p:cNvSpPr txBox="1"/>
          <p:nvPr/>
        </p:nvSpPr>
        <p:spPr>
          <a:xfrm>
            <a:off x="3942000" y="4374000"/>
            <a:ext cx="2880000" cy="162000"/>
          </a:xfrm>
          <a:prstGeom prst="rect">
            <a:avLst/>
          </a:prstGeom>
          <a:noFill/>
        </p:spPr>
        <p:txBody>
          <a:bodyPr wrap="none" anchor="t" lIns="18000" rIns="18000" tIns="21600" bIns="21600">
            <a:noAutofit/>
          </a:bodyPr>
          <a:lstStyle/>
          <a:p>
            <a:r>
              <a:rPr sz="1050" b="0">
                <a:solidFill>
                  <a:srgbClr val="4A556B"/>
                </a:solidFill>
                <a:latin typeface="HY엽서M"/>
              </a:rPr>
              <a:t>유방 · 자궁 · 방광 · 전립선 · 대장점막내암</a:t>
            </a:r>
          </a:p>
        </p:txBody>
      </p:sp>
      <p:sp>
        <p:nvSpPr>
          <p:cNvPr id="160" name="TIER"/>
          <p:cNvSpPr/>
          <p:nvPr/>
        </p:nvSpPr>
        <p:spPr>
          <a:xfrm>
            <a:off x="3834000" y="4698000"/>
            <a:ext cx="3024000" cy="558000"/>
          </a:xfrm>
          <a:prstGeom prst="rect">
            <a:avLst/>
          </a:prstGeom>
          <a:solidFill>
            <a:srgbClr val="FFE3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TIER_T"/>
          <p:cNvSpPr txBox="1"/>
          <p:nvPr/>
        </p:nvSpPr>
        <p:spPr>
          <a:xfrm>
            <a:off x="3942000" y="4733999"/>
            <a:ext cx="1728000" cy="2340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609" b="1">
                <a:solidFill>
                  <a:srgbClr val="0E1E52"/>
                </a:solidFill>
                <a:latin typeface="HY엽서M"/>
              </a:rPr>
              <a:t>유사암</a:t>
            </a:r>
          </a:p>
        </p:txBody>
      </p:sp>
      <p:sp>
        <p:nvSpPr>
          <p:cNvPr id="162" name="CELLBG"/>
          <p:cNvSpPr/>
          <p:nvPr/>
        </p:nvSpPr>
        <p:spPr>
          <a:xfrm>
            <a:off x="5670000" y="4752000"/>
            <a:ext cx="1080000" cy="19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TIER_L"/>
          <p:cNvSpPr txBox="1"/>
          <p:nvPr/>
        </p:nvSpPr>
        <p:spPr>
          <a:xfrm>
            <a:off x="3942000" y="4986000"/>
            <a:ext cx="2880000" cy="162000"/>
          </a:xfrm>
          <a:prstGeom prst="rect">
            <a:avLst/>
          </a:prstGeom>
          <a:noFill/>
        </p:spPr>
        <p:txBody>
          <a:bodyPr wrap="none" anchor="t" lIns="18000" rIns="18000" tIns="21600" bIns="21600">
            <a:noAutofit/>
          </a:bodyPr>
          <a:lstStyle/>
          <a:p>
            <a:r>
              <a:rPr sz="1050" b="0">
                <a:solidFill>
                  <a:srgbClr val="4A556B"/>
                </a:solidFill>
                <a:latin typeface="HY엽서M"/>
              </a:rPr>
              <a:t>기타피부암 · 갑상선암 · 제자리암 · 경계성종양</a:t>
            </a:r>
          </a:p>
        </p:txBody>
      </p:sp>
      <p:sp>
        <p:nvSpPr>
          <p:cNvPr id="165" name="TIER"/>
          <p:cNvSpPr/>
          <p:nvPr/>
        </p:nvSpPr>
        <p:spPr>
          <a:xfrm>
            <a:off x="3834000" y="5346000"/>
            <a:ext cx="3024000" cy="378000"/>
          </a:xfrm>
          <a:prstGeom prst="rect">
            <a:avLst/>
          </a:prstGeom>
          <a:solidFill>
            <a:srgbClr val="F6D9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TIER_T"/>
          <p:cNvSpPr txBox="1"/>
          <p:nvPr/>
        </p:nvSpPr>
        <p:spPr>
          <a:xfrm>
            <a:off x="3942000" y="5382000"/>
            <a:ext cx="1296000" cy="2340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539" b="1">
                <a:solidFill>
                  <a:srgbClr val="0E1E52"/>
                </a:solidFill>
                <a:latin typeface="HY엽서M"/>
              </a:rPr>
              <a:t>통합암</a:t>
            </a:r>
          </a:p>
        </p:txBody>
      </p:sp>
      <p:sp>
        <p:nvSpPr>
          <p:cNvPr id="167" name="CELLBG"/>
          <p:cNvSpPr/>
          <p:nvPr/>
        </p:nvSpPr>
        <p:spPr>
          <a:xfrm>
            <a:off x="5238000" y="5400000"/>
            <a:ext cx="1512000" cy="19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TIER"/>
          <p:cNvSpPr/>
          <p:nvPr/>
        </p:nvSpPr>
        <p:spPr>
          <a:xfrm>
            <a:off x="3834000" y="5796000"/>
            <a:ext cx="3024000" cy="378000"/>
          </a:xfrm>
          <a:prstGeom prst="rect">
            <a:avLst/>
          </a:prstGeom>
          <a:solidFill>
            <a:srgbClr val="F6D9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TIER_T"/>
          <p:cNvSpPr txBox="1"/>
          <p:nvPr/>
        </p:nvSpPr>
        <p:spPr>
          <a:xfrm>
            <a:off x="3942000" y="5832000"/>
            <a:ext cx="1296000" cy="2340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539" b="1">
                <a:solidFill>
                  <a:srgbClr val="0E1E52"/>
                </a:solidFill>
                <a:latin typeface="HY엽서M"/>
              </a:rPr>
              <a:t>통합전이암</a:t>
            </a:r>
          </a:p>
        </p:txBody>
      </p:sp>
      <p:sp>
        <p:nvSpPr>
          <p:cNvPr id="171" name="CELLBG"/>
          <p:cNvSpPr/>
          <p:nvPr/>
        </p:nvSpPr>
        <p:spPr>
          <a:xfrm>
            <a:off x="5238000" y="5850000"/>
            <a:ext cx="1512000" cy="198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CARD"/>
          <p:cNvSpPr/>
          <p:nvPr/>
        </p:nvSpPr>
        <p:spPr>
          <a:xfrm>
            <a:off x="3744000" y="6372000"/>
            <a:ext cx="3204000" cy="2736000"/>
          </a:xfrm>
          <a:prstGeom prst="rect">
            <a:avLst/>
          </a:prstGeom>
          <a:solidFill>
            <a:srgbClr val="FEF3EA"/>
          </a:solidFill>
          <a:ln w="12700">
            <a:solidFill>
              <a:srgbClr val="1E7B3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CELLBG"/>
          <p:cNvSpPr/>
          <p:nvPr/>
        </p:nvSpPr>
        <p:spPr>
          <a:xfrm>
            <a:off x="5472000" y="6836399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CELLBG"/>
          <p:cNvSpPr/>
          <p:nvPr/>
        </p:nvSpPr>
        <p:spPr>
          <a:xfrm>
            <a:off x="5472000" y="7045199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CELLBG"/>
          <p:cNvSpPr/>
          <p:nvPr/>
        </p:nvSpPr>
        <p:spPr>
          <a:xfrm>
            <a:off x="5472000" y="7253999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CELLBG"/>
          <p:cNvSpPr/>
          <p:nvPr/>
        </p:nvSpPr>
        <p:spPr>
          <a:xfrm>
            <a:off x="5472000" y="7462799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9" name="CELLBG"/>
          <p:cNvSpPr/>
          <p:nvPr/>
        </p:nvSpPr>
        <p:spPr>
          <a:xfrm>
            <a:off x="5472000" y="7671599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2" name="CELLBG"/>
          <p:cNvSpPr/>
          <p:nvPr/>
        </p:nvSpPr>
        <p:spPr>
          <a:xfrm>
            <a:off x="5472000" y="7880399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5" name="CELLBG"/>
          <p:cNvSpPr/>
          <p:nvPr/>
        </p:nvSpPr>
        <p:spPr>
          <a:xfrm>
            <a:off x="5472000" y="8089199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7" name="HAIR"/>
          <p:cNvSpPr/>
          <p:nvPr/>
        </p:nvSpPr>
        <p:spPr>
          <a:xfrm>
            <a:off x="3870000" y="8276399"/>
            <a:ext cx="2952000" cy="7200"/>
          </a:xfrm>
          <a:prstGeom prst="rect">
            <a:avLst/>
          </a:prstGeom>
          <a:solidFill>
            <a:srgbClr val="D9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9" name="CELLBG"/>
          <p:cNvSpPr/>
          <p:nvPr/>
        </p:nvSpPr>
        <p:spPr>
          <a:xfrm>
            <a:off x="5472000" y="8333999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2" name="CELLBG"/>
          <p:cNvSpPr/>
          <p:nvPr/>
        </p:nvSpPr>
        <p:spPr>
          <a:xfrm>
            <a:off x="5472000" y="8542799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CELLBG"/>
          <p:cNvSpPr/>
          <p:nvPr/>
        </p:nvSpPr>
        <p:spPr>
          <a:xfrm>
            <a:off x="5472000" y="8751599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BAND"/>
          <p:cNvSpPr/>
          <p:nvPr/>
        </p:nvSpPr>
        <p:spPr>
          <a:xfrm>
            <a:off x="3744000" y="9467999"/>
            <a:ext cx="3204000" cy="306000"/>
          </a:xfrm>
          <a:prstGeom prst="rect">
            <a:avLst/>
          </a:prstGeom>
          <a:solidFill>
            <a:srgbClr val="0E1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9" name="CARD"/>
          <p:cNvSpPr/>
          <p:nvPr/>
        </p:nvSpPr>
        <p:spPr>
          <a:xfrm>
            <a:off x="3744000" y="9846000"/>
            <a:ext cx="3204000" cy="2448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CELLBG"/>
          <p:cNvSpPr/>
          <p:nvPr/>
        </p:nvSpPr>
        <p:spPr>
          <a:xfrm>
            <a:off x="5256000" y="10310399"/>
            <a:ext cx="1655999" cy="15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6" name="CELLBG"/>
          <p:cNvSpPr/>
          <p:nvPr/>
        </p:nvSpPr>
        <p:spPr>
          <a:xfrm>
            <a:off x="5256000" y="10483200"/>
            <a:ext cx="1655999" cy="15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9" name="CELLBG"/>
          <p:cNvSpPr/>
          <p:nvPr/>
        </p:nvSpPr>
        <p:spPr>
          <a:xfrm>
            <a:off x="5256000" y="10656000"/>
            <a:ext cx="1655999" cy="15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2" name="CELLBG"/>
          <p:cNvSpPr/>
          <p:nvPr/>
        </p:nvSpPr>
        <p:spPr>
          <a:xfrm>
            <a:off x="4968000" y="10828800"/>
            <a:ext cx="1944000" cy="15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5" name="CELLBG"/>
          <p:cNvSpPr/>
          <p:nvPr/>
        </p:nvSpPr>
        <p:spPr>
          <a:xfrm>
            <a:off x="5256000" y="11001600"/>
            <a:ext cx="1655999" cy="15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8" name="CELLBG"/>
          <p:cNvSpPr/>
          <p:nvPr/>
        </p:nvSpPr>
        <p:spPr>
          <a:xfrm>
            <a:off x="5256000" y="11174400"/>
            <a:ext cx="1655999" cy="15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1" name="CELLBG"/>
          <p:cNvSpPr/>
          <p:nvPr/>
        </p:nvSpPr>
        <p:spPr>
          <a:xfrm>
            <a:off x="5256000" y="11347200"/>
            <a:ext cx="1655999" cy="15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4" name="CELLBG"/>
          <p:cNvSpPr/>
          <p:nvPr/>
        </p:nvSpPr>
        <p:spPr>
          <a:xfrm>
            <a:off x="5256000" y="11520000"/>
            <a:ext cx="1655999" cy="15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7" name="CELLBG"/>
          <p:cNvSpPr/>
          <p:nvPr/>
        </p:nvSpPr>
        <p:spPr>
          <a:xfrm>
            <a:off x="5256000" y="11692799"/>
            <a:ext cx="1655999" cy="15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0" name="CELLBG"/>
          <p:cNvSpPr/>
          <p:nvPr/>
        </p:nvSpPr>
        <p:spPr>
          <a:xfrm>
            <a:off x="5256000" y="11865599"/>
            <a:ext cx="1655999" cy="15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3" name="CELLBG"/>
          <p:cNvSpPr/>
          <p:nvPr/>
        </p:nvSpPr>
        <p:spPr>
          <a:xfrm>
            <a:off x="5256000" y="12038399"/>
            <a:ext cx="1655999" cy="15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5" name="CARD"/>
          <p:cNvSpPr/>
          <p:nvPr/>
        </p:nvSpPr>
        <p:spPr>
          <a:xfrm>
            <a:off x="3744000" y="12384000"/>
            <a:ext cx="3204000" cy="2448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9" name="CELLBG"/>
          <p:cNvSpPr/>
          <p:nvPr/>
        </p:nvSpPr>
        <p:spPr>
          <a:xfrm>
            <a:off x="5256000" y="12848400"/>
            <a:ext cx="1655999" cy="15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2" name="CELLBG"/>
          <p:cNvSpPr/>
          <p:nvPr/>
        </p:nvSpPr>
        <p:spPr>
          <a:xfrm>
            <a:off x="5256000" y="13021199"/>
            <a:ext cx="1655999" cy="15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5" name="CELLBG"/>
          <p:cNvSpPr/>
          <p:nvPr/>
        </p:nvSpPr>
        <p:spPr>
          <a:xfrm>
            <a:off x="5256000" y="13193999"/>
            <a:ext cx="1655999" cy="15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8" name="CELLBG"/>
          <p:cNvSpPr/>
          <p:nvPr/>
        </p:nvSpPr>
        <p:spPr>
          <a:xfrm>
            <a:off x="4968000" y="13366799"/>
            <a:ext cx="1944000" cy="15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1" name="CELLBG"/>
          <p:cNvSpPr/>
          <p:nvPr/>
        </p:nvSpPr>
        <p:spPr>
          <a:xfrm>
            <a:off x="5256000" y="13539599"/>
            <a:ext cx="1655999" cy="15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4" name="CELLBG"/>
          <p:cNvSpPr/>
          <p:nvPr/>
        </p:nvSpPr>
        <p:spPr>
          <a:xfrm>
            <a:off x="5256000" y="13712399"/>
            <a:ext cx="1655999" cy="15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7" name="CELLBG"/>
          <p:cNvSpPr/>
          <p:nvPr/>
        </p:nvSpPr>
        <p:spPr>
          <a:xfrm>
            <a:off x="5256000" y="13885199"/>
            <a:ext cx="1655999" cy="15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0" name="CELLBG"/>
          <p:cNvSpPr/>
          <p:nvPr/>
        </p:nvSpPr>
        <p:spPr>
          <a:xfrm>
            <a:off x="5256000" y="14057999"/>
            <a:ext cx="1655999" cy="15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3" name="CELLBG"/>
          <p:cNvSpPr/>
          <p:nvPr/>
        </p:nvSpPr>
        <p:spPr>
          <a:xfrm>
            <a:off x="5256000" y="14230799"/>
            <a:ext cx="1655999" cy="15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6" name="CELLBG"/>
          <p:cNvSpPr/>
          <p:nvPr/>
        </p:nvSpPr>
        <p:spPr>
          <a:xfrm>
            <a:off x="5256000" y="14403599"/>
            <a:ext cx="1655999" cy="15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9" name="CELLBG"/>
          <p:cNvSpPr/>
          <p:nvPr/>
        </p:nvSpPr>
        <p:spPr>
          <a:xfrm>
            <a:off x="5256000" y="14576399"/>
            <a:ext cx="1655999" cy="151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1" name="BAND"/>
          <p:cNvSpPr/>
          <p:nvPr/>
        </p:nvSpPr>
        <p:spPr>
          <a:xfrm>
            <a:off x="7128000" y="1745999"/>
            <a:ext cx="3204000" cy="306000"/>
          </a:xfrm>
          <a:prstGeom prst="rect">
            <a:avLst/>
          </a:prstGeom>
          <a:solidFill>
            <a:srgbClr val="0E1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3" name="CARD"/>
          <p:cNvSpPr/>
          <p:nvPr/>
        </p:nvSpPr>
        <p:spPr>
          <a:xfrm>
            <a:off x="7128000" y="2124000"/>
            <a:ext cx="3204000" cy="25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7" name="CELLBG"/>
          <p:cNvSpPr/>
          <p:nvPr/>
        </p:nvSpPr>
        <p:spPr>
          <a:xfrm>
            <a:off x="8856000" y="25884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0" name="CELLBG"/>
          <p:cNvSpPr/>
          <p:nvPr/>
        </p:nvSpPr>
        <p:spPr>
          <a:xfrm>
            <a:off x="8856000" y="2789999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3" name="CELLBG"/>
          <p:cNvSpPr/>
          <p:nvPr/>
        </p:nvSpPr>
        <p:spPr>
          <a:xfrm>
            <a:off x="8856000" y="2991599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6" name="CELLBG"/>
          <p:cNvSpPr/>
          <p:nvPr/>
        </p:nvSpPr>
        <p:spPr>
          <a:xfrm>
            <a:off x="8856000" y="3193199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9" name="CELLBG"/>
          <p:cNvSpPr/>
          <p:nvPr/>
        </p:nvSpPr>
        <p:spPr>
          <a:xfrm>
            <a:off x="8856000" y="33948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2" name="CELLBG"/>
          <p:cNvSpPr/>
          <p:nvPr/>
        </p:nvSpPr>
        <p:spPr>
          <a:xfrm>
            <a:off x="8856000" y="35964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5" name="CELLBG"/>
          <p:cNvSpPr/>
          <p:nvPr/>
        </p:nvSpPr>
        <p:spPr>
          <a:xfrm>
            <a:off x="8856000" y="37980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8" name="CELLBG"/>
          <p:cNvSpPr/>
          <p:nvPr/>
        </p:nvSpPr>
        <p:spPr>
          <a:xfrm>
            <a:off x="8856000" y="39996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1" name="CELLBG"/>
          <p:cNvSpPr/>
          <p:nvPr/>
        </p:nvSpPr>
        <p:spPr>
          <a:xfrm>
            <a:off x="8856000" y="42012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4" name="CELLBG"/>
          <p:cNvSpPr/>
          <p:nvPr/>
        </p:nvSpPr>
        <p:spPr>
          <a:xfrm>
            <a:off x="8856000" y="44028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CARD"/>
          <p:cNvSpPr/>
          <p:nvPr/>
        </p:nvSpPr>
        <p:spPr>
          <a:xfrm>
            <a:off x="7128000" y="4806000"/>
            <a:ext cx="3204000" cy="1565999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0" name="CELLBG"/>
          <p:cNvSpPr/>
          <p:nvPr/>
        </p:nvSpPr>
        <p:spPr>
          <a:xfrm>
            <a:off x="8856000" y="52704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3" name="CELLBG"/>
          <p:cNvSpPr/>
          <p:nvPr/>
        </p:nvSpPr>
        <p:spPr>
          <a:xfrm>
            <a:off x="8856000" y="54720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6" name="CELLBG"/>
          <p:cNvSpPr/>
          <p:nvPr/>
        </p:nvSpPr>
        <p:spPr>
          <a:xfrm>
            <a:off x="8856000" y="56736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9" name="CELLBG"/>
          <p:cNvSpPr/>
          <p:nvPr/>
        </p:nvSpPr>
        <p:spPr>
          <a:xfrm>
            <a:off x="8856000" y="58752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2" name="CELLBG"/>
          <p:cNvSpPr/>
          <p:nvPr/>
        </p:nvSpPr>
        <p:spPr>
          <a:xfrm>
            <a:off x="8856000" y="60768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4" name="CARD"/>
          <p:cNvSpPr/>
          <p:nvPr/>
        </p:nvSpPr>
        <p:spPr>
          <a:xfrm>
            <a:off x="7128000" y="6480000"/>
            <a:ext cx="3204000" cy="136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8" name="CELLBG"/>
          <p:cNvSpPr/>
          <p:nvPr/>
        </p:nvSpPr>
        <p:spPr>
          <a:xfrm>
            <a:off x="8856000" y="69444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CELLBG"/>
          <p:cNvSpPr/>
          <p:nvPr/>
        </p:nvSpPr>
        <p:spPr>
          <a:xfrm>
            <a:off x="8856000" y="71460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CELLBG"/>
          <p:cNvSpPr/>
          <p:nvPr/>
        </p:nvSpPr>
        <p:spPr>
          <a:xfrm>
            <a:off x="8856000" y="73476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7" name="CELLBG"/>
          <p:cNvSpPr/>
          <p:nvPr/>
        </p:nvSpPr>
        <p:spPr>
          <a:xfrm>
            <a:off x="8856000" y="75492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BAND"/>
          <p:cNvSpPr/>
          <p:nvPr/>
        </p:nvSpPr>
        <p:spPr>
          <a:xfrm>
            <a:off x="7128000" y="8024400"/>
            <a:ext cx="3204000" cy="306000"/>
          </a:xfrm>
          <a:prstGeom prst="rect">
            <a:avLst/>
          </a:prstGeom>
          <a:solidFill>
            <a:srgbClr val="0E1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1" name="CARD"/>
          <p:cNvSpPr/>
          <p:nvPr/>
        </p:nvSpPr>
        <p:spPr>
          <a:xfrm>
            <a:off x="7128000" y="8402400"/>
            <a:ext cx="3204000" cy="338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CELLBG"/>
          <p:cNvSpPr/>
          <p:nvPr/>
        </p:nvSpPr>
        <p:spPr>
          <a:xfrm>
            <a:off x="8856000" y="88668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8" name="CELLBG"/>
          <p:cNvSpPr/>
          <p:nvPr/>
        </p:nvSpPr>
        <p:spPr>
          <a:xfrm>
            <a:off x="8856000" y="90684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CELLBG"/>
          <p:cNvSpPr/>
          <p:nvPr/>
        </p:nvSpPr>
        <p:spPr>
          <a:xfrm>
            <a:off x="8856000" y="92700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CELLBG"/>
          <p:cNvSpPr/>
          <p:nvPr/>
        </p:nvSpPr>
        <p:spPr>
          <a:xfrm>
            <a:off x="8856000" y="94716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CELLBG"/>
          <p:cNvSpPr/>
          <p:nvPr/>
        </p:nvSpPr>
        <p:spPr>
          <a:xfrm>
            <a:off x="8856000" y="96732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0" name="CELLBG"/>
          <p:cNvSpPr/>
          <p:nvPr/>
        </p:nvSpPr>
        <p:spPr>
          <a:xfrm>
            <a:off x="8856000" y="9874799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3" name="CELLBG"/>
          <p:cNvSpPr/>
          <p:nvPr/>
        </p:nvSpPr>
        <p:spPr>
          <a:xfrm>
            <a:off x="8856000" y="10076399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6" name="CELLBG"/>
          <p:cNvSpPr/>
          <p:nvPr/>
        </p:nvSpPr>
        <p:spPr>
          <a:xfrm>
            <a:off x="8856000" y="10277999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9" name="CELLBG"/>
          <p:cNvSpPr/>
          <p:nvPr/>
        </p:nvSpPr>
        <p:spPr>
          <a:xfrm>
            <a:off x="8856000" y="10479599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2" name="CELLBG"/>
          <p:cNvSpPr/>
          <p:nvPr/>
        </p:nvSpPr>
        <p:spPr>
          <a:xfrm>
            <a:off x="8856000" y="10681199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5" name="CELLBG"/>
          <p:cNvSpPr/>
          <p:nvPr/>
        </p:nvSpPr>
        <p:spPr>
          <a:xfrm>
            <a:off x="8856000" y="10882799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8" name="CELLBG"/>
          <p:cNvSpPr/>
          <p:nvPr/>
        </p:nvSpPr>
        <p:spPr>
          <a:xfrm>
            <a:off x="8856000" y="11084399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1" name="CELLBG"/>
          <p:cNvSpPr/>
          <p:nvPr/>
        </p:nvSpPr>
        <p:spPr>
          <a:xfrm>
            <a:off x="8856000" y="11285999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4" name="CELLBG"/>
          <p:cNvSpPr/>
          <p:nvPr/>
        </p:nvSpPr>
        <p:spPr>
          <a:xfrm>
            <a:off x="8856000" y="11487599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6" name="BAND"/>
          <p:cNvSpPr/>
          <p:nvPr/>
        </p:nvSpPr>
        <p:spPr>
          <a:xfrm>
            <a:off x="7128000" y="11962800"/>
            <a:ext cx="3204000" cy="306000"/>
          </a:xfrm>
          <a:prstGeom prst="rect">
            <a:avLst/>
          </a:prstGeom>
          <a:solidFill>
            <a:srgbClr val="0E1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8" name="CARD"/>
          <p:cNvSpPr/>
          <p:nvPr/>
        </p:nvSpPr>
        <p:spPr>
          <a:xfrm>
            <a:off x="7128000" y="12340800"/>
            <a:ext cx="3204000" cy="1987199"/>
          </a:xfrm>
          <a:prstGeom prst="rect">
            <a:avLst/>
          </a:prstGeom>
          <a:solidFill>
            <a:srgbClr val="FFFFFF"/>
          </a:solidFill>
          <a:ln w="15875">
            <a:solidFill>
              <a:srgbClr val="C0392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1" name="CELLBG"/>
          <p:cNvSpPr/>
          <p:nvPr/>
        </p:nvSpPr>
        <p:spPr>
          <a:xfrm>
            <a:off x="8856000" y="128412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4" name="CELLBG"/>
          <p:cNvSpPr/>
          <p:nvPr/>
        </p:nvSpPr>
        <p:spPr>
          <a:xfrm>
            <a:off x="8856000" y="130428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7" name="CELLBG"/>
          <p:cNvSpPr/>
          <p:nvPr/>
        </p:nvSpPr>
        <p:spPr>
          <a:xfrm>
            <a:off x="8856000" y="132444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0" name="CELLBG"/>
          <p:cNvSpPr/>
          <p:nvPr/>
        </p:nvSpPr>
        <p:spPr>
          <a:xfrm>
            <a:off x="8856000" y="134460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3" name="CELLBG"/>
          <p:cNvSpPr/>
          <p:nvPr/>
        </p:nvSpPr>
        <p:spPr>
          <a:xfrm>
            <a:off x="8856000" y="136476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6" name="CELLBG"/>
          <p:cNvSpPr/>
          <p:nvPr/>
        </p:nvSpPr>
        <p:spPr>
          <a:xfrm>
            <a:off x="8856000" y="138492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9" name="CELLBG"/>
          <p:cNvSpPr/>
          <p:nvPr/>
        </p:nvSpPr>
        <p:spPr>
          <a:xfrm>
            <a:off x="8856000" y="14050800"/>
            <a:ext cx="1440000" cy="1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6E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1" name="FTR_BAND"/>
          <p:cNvSpPr/>
          <p:nvPr/>
        </p:nvSpPr>
        <p:spPr>
          <a:xfrm>
            <a:off x="0" y="14886000"/>
            <a:ext cx="10692000" cy="234000"/>
          </a:xfrm>
          <a:prstGeom prst="rect">
            <a:avLst/>
          </a:prstGeom>
          <a:solidFill>
            <a:srgbClr val="0E1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" name="PPT_SCALE_1.400"/>
          <p:cNvSpPr txBox="1"/>
          <p:nvPr/>
        </p:nvSpPr>
        <p:spPr>
          <a:xfrm>
            <a:off x="360000" y="288000"/>
            <a:ext cx="4320000" cy="216000"/>
          </a:xfrm>
          <a:prstGeom prst="rect">
            <a:avLst/>
          </a:prstGeom>
          <a:noFill/>
        </p:spPr>
        <p:txBody>
          <a:bodyPr wrap="square" anchor="t" lIns="54000" rIns="54000" tIns="21600" bIns="21600">
            <a:noAutofit/>
          </a:bodyPr>
          <a:lstStyle/>
          <a:p>
            <a:r>
              <a:rPr sz="979" b="1">
                <a:solidFill>
                  <a:srgbClr val="C9A227"/>
                </a:solidFill>
                <a:latin typeface="HY엽서M"/>
              </a:rPr>
              <a:t>MAKEONE  ·  보장분석 리포트</a:t>
            </a:r>
          </a:p>
        </p:txBody>
      </p:sp>
      <p:sp>
        <p:nvSpPr>
          <p:cNvPr id="3" name="TextBox 21"/>
          <p:cNvSpPr txBox="1"/>
          <p:nvPr/>
        </p:nvSpPr>
        <p:spPr>
          <a:xfrm>
            <a:off x="360000" y="468000"/>
            <a:ext cx="5760000" cy="54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r>
              <a:rPr sz="2520" b="1">
                <a:solidFill>
                  <a:srgbClr val="0E1E52"/>
                </a:solidFill>
                <a:latin typeface="HY엽서M"/>
              </a:rPr>
              <a:t> 님의 보장</a:t>
            </a:r>
            <a:r>
              <a:rPr sz="2520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4" name="TextBox 36"/>
          <p:cNvSpPr txBox="1"/>
          <p:nvPr/>
        </p:nvSpPr>
        <p:spPr>
          <a:xfrm>
            <a:off x="5580000" y="503999"/>
            <a:ext cx="4392000" cy="468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2520" b="0">
                <a:solidFill>
                  <a:srgbClr val="2A4A92"/>
                </a:solidFill>
                <a:latin typeface="HY엽서M"/>
              </a:rPr>
              <a:t>        년     월     일    기준</a:t>
            </a:r>
          </a:p>
        </p:txBody>
      </p:sp>
      <p:sp>
        <p:nvSpPr>
          <p:cNvPr id="5" name="TextBox 35"/>
          <p:cNvSpPr txBox="1"/>
          <p:nvPr/>
        </p:nvSpPr>
        <p:spPr>
          <a:xfrm>
            <a:off x="10008000" y="468000"/>
            <a:ext cx="180000" cy="503999"/>
          </a:xfrm>
          <a:prstGeom prst="rect">
            <a:avLst/>
          </a:prstGeom>
          <a:noFill/>
        </p:spPr>
        <p:txBody>
          <a:bodyPr wrap="square" anchor="t" lIns="54000" rIns="54000" tIns="21600" bIns="21600">
            <a:noAutofit/>
          </a:bodyPr>
          <a:lstStyle/>
          <a:p>
            <a:r>
              <a:rPr sz="2520" b="0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6" name="TextBox 29"/>
          <p:cNvSpPr txBox="1"/>
          <p:nvPr/>
        </p:nvSpPr>
        <p:spPr>
          <a:xfrm>
            <a:off x="10188000" y="468000"/>
            <a:ext cx="180000" cy="503999"/>
          </a:xfrm>
          <a:prstGeom prst="rect">
            <a:avLst/>
          </a:prstGeom>
          <a:noFill/>
        </p:spPr>
        <p:txBody>
          <a:bodyPr wrap="square" anchor="t" lIns="54000" rIns="54000" tIns="21600" bIns="21600">
            <a:noAutofit/>
          </a:bodyPr>
          <a:lstStyle/>
          <a:p>
            <a:r>
              <a:rPr sz="2520" b="0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10" name="KPI_L"/>
          <p:cNvSpPr txBox="1"/>
          <p:nvPr/>
        </p:nvSpPr>
        <p:spPr>
          <a:xfrm>
            <a:off x="503999" y="1224000"/>
            <a:ext cx="2880000" cy="413999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260" b="1">
                <a:solidFill>
                  <a:srgbClr val="4A556B"/>
                </a:solidFill>
                <a:latin typeface="HY엽서M"/>
              </a:rPr>
              <a:t>실손의료보험  ·  세대 / 가입일</a:t>
            </a:r>
          </a:p>
        </p:txBody>
      </p:sp>
      <p:sp>
        <p:nvSpPr>
          <p:cNvPr id="12" name="KPI|실손"/>
          <p:cNvSpPr txBox="1"/>
          <p:nvPr/>
        </p:nvSpPr>
        <p:spPr>
          <a:xfrm>
            <a:off x="7092000" y="1296000"/>
            <a:ext cx="3168000" cy="27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400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14" name="BAND_T"/>
          <p:cNvSpPr txBox="1"/>
          <p:nvPr/>
        </p:nvSpPr>
        <p:spPr>
          <a:xfrm>
            <a:off x="468000" y="1745999"/>
            <a:ext cx="2988000" cy="306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r>
              <a:rPr sz="1470" b="1">
                <a:solidFill>
                  <a:srgbClr val="FFFFFF"/>
                </a:solidFill>
                <a:latin typeface="HY엽서M"/>
              </a:rPr>
              <a:t>●  뇌 · 심장</a:t>
            </a:r>
          </a:p>
        </p:txBody>
      </p:sp>
      <p:sp>
        <p:nvSpPr>
          <p:cNvPr id="16" name="TextBox 40"/>
          <p:cNvSpPr txBox="1"/>
          <p:nvPr/>
        </p:nvSpPr>
        <p:spPr>
          <a:xfrm>
            <a:off x="432000" y="2178000"/>
            <a:ext cx="1922400" cy="27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r>
              <a:rPr sz="1470" b="1">
                <a:solidFill>
                  <a:srgbClr val="1E7B34"/>
                </a:solidFill>
                <a:latin typeface="HY엽서M"/>
              </a:rPr>
              <a:t>√ </a:t>
            </a:r>
            <a:r>
              <a:rPr sz="1470" b="1">
                <a:solidFill>
                  <a:srgbClr val="1E7B34"/>
                </a:solidFill>
                <a:latin typeface="HY엽서M"/>
              </a:rPr>
              <a:t>뇌 진단비</a:t>
            </a:r>
          </a:p>
        </p:txBody>
      </p:sp>
      <p:sp>
        <p:nvSpPr>
          <p:cNvPr id="17" name="SUB"/>
          <p:cNvSpPr txBox="1"/>
          <p:nvPr/>
        </p:nvSpPr>
        <p:spPr>
          <a:xfrm>
            <a:off x="432000" y="2383199"/>
            <a:ext cx="3060000" cy="180000"/>
          </a:xfrm>
          <a:prstGeom prst="rect">
            <a:avLst/>
          </a:prstGeom>
          <a:noFill/>
        </p:spPr>
        <p:txBody>
          <a:bodyPr wrap="none" anchor="t" lIns="54000" rIns="54000" tIns="21600" bIns="21600">
            <a:noAutofit/>
          </a:bodyPr>
          <a:lstStyle/>
          <a:p>
            <a:r>
              <a:rPr sz="910" b="0">
                <a:solidFill>
                  <a:srgbClr val="8A94A6"/>
                </a:solidFill>
                <a:latin typeface="HY엽서M"/>
              </a:rPr>
              <a:t>뇌혈관질환 I60~69 ⊃ 뇌졸중 ⊃ 뇌출혈</a:t>
            </a:r>
          </a:p>
        </p:txBody>
      </p:sp>
      <p:sp>
        <p:nvSpPr>
          <p:cNvPr id="21" name="TextBox 46|"/>
          <p:cNvSpPr txBox="1"/>
          <p:nvPr/>
        </p:nvSpPr>
        <p:spPr>
          <a:xfrm>
            <a:off x="1998000" y="2628000"/>
            <a:ext cx="1368000" cy="198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260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9" name="TextBox 47|"/>
          <p:cNvSpPr txBox="1"/>
          <p:nvPr/>
        </p:nvSpPr>
        <p:spPr>
          <a:xfrm>
            <a:off x="1944000" y="3420000"/>
            <a:ext cx="1296000" cy="198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260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6" name="TextBox 48|"/>
          <p:cNvSpPr txBox="1"/>
          <p:nvPr/>
        </p:nvSpPr>
        <p:spPr>
          <a:xfrm>
            <a:off x="1889999" y="4104000"/>
            <a:ext cx="1224000" cy="198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260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9" name="TextBox 41"/>
          <p:cNvSpPr txBox="1"/>
          <p:nvPr/>
        </p:nvSpPr>
        <p:spPr>
          <a:xfrm>
            <a:off x="432000" y="5022000"/>
            <a:ext cx="1922400" cy="27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r>
              <a:rPr sz="1470" b="1">
                <a:solidFill>
                  <a:srgbClr val="1E7B34"/>
                </a:solidFill>
                <a:latin typeface="HY엽서M"/>
              </a:rPr>
              <a:t>√ </a:t>
            </a:r>
            <a:r>
              <a:rPr sz="1470" b="1">
                <a:solidFill>
                  <a:srgbClr val="1E7B34"/>
                </a:solidFill>
                <a:latin typeface="HY엽서M"/>
              </a:rPr>
              <a:t>심장 진단비</a:t>
            </a:r>
          </a:p>
        </p:txBody>
      </p:sp>
      <p:sp>
        <p:nvSpPr>
          <p:cNvPr id="40" name="SUB"/>
          <p:cNvSpPr txBox="1"/>
          <p:nvPr/>
        </p:nvSpPr>
        <p:spPr>
          <a:xfrm>
            <a:off x="432000" y="5227200"/>
            <a:ext cx="3060000" cy="180000"/>
          </a:xfrm>
          <a:prstGeom prst="rect">
            <a:avLst/>
          </a:prstGeom>
          <a:noFill/>
        </p:spPr>
        <p:txBody>
          <a:bodyPr wrap="none" anchor="t" lIns="54000" rIns="54000" tIns="21600" bIns="21600">
            <a:noAutofit/>
          </a:bodyPr>
          <a:lstStyle/>
          <a:p>
            <a:r>
              <a:rPr sz="910" b="0">
                <a:solidFill>
                  <a:srgbClr val="8A94A6"/>
                </a:solidFill>
                <a:latin typeface="HY엽서M"/>
              </a:rPr>
              <a:t>심혈관질환 I20~52 ⊃ 허혈성 심장 ⊃ 급성심근경색</a:t>
            </a:r>
          </a:p>
        </p:txBody>
      </p:sp>
      <p:sp>
        <p:nvSpPr>
          <p:cNvPr id="43" name="TextBox 53"/>
          <p:cNvSpPr txBox="1"/>
          <p:nvPr/>
        </p:nvSpPr>
        <p:spPr>
          <a:xfrm>
            <a:off x="1242000" y="5472000"/>
            <a:ext cx="1080000" cy="2340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979" b="0">
                <a:solidFill>
                  <a:srgbClr val="8A94A6"/>
                </a:solidFill>
                <a:latin typeface="HY엽서M"/>
              </a:rPr>
              <a:t>심장</a:t>
            </a:r>
          </a:p>
        </p:txBody>
      </p:sp>
      <p:sp>
        <p:nvSpPr>
          <p:cNvPr id="44" name="L_TextBox 심장4종|빈맥"/>
          <p:cNvSpPr txBox="1"/>
          <p:nvPr/>
        </p:nvSpPr>
        <p:spPr>
          <a:xfrm>
            <a:off x="576000" y="5706000"/>
            <a:ext cx="1403999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050" b="0">
                <a:solidFill>
                  <a:srgbClr val="4A556B"/>
                </a:solidFill>
                <a:latin typeface="HY엽서M"/>
              </a:rPr>
              <a:t>발작성 빈맥</a:t>
            </a:r>
          </a:p>
        </p:txBody>
      </p:sp>
      <p:sp>
        <p:nvSpPr>
          <p:cNvPr id="46" name="TextBox 심장4종|빈맥"/>
          <p:cNvSpPr txBox="1"/>
          <p:nvPr/>
        </p:nvSpPr>
        <p:spPr>
          <a:xfrm>
            <a:off x="1944000" y="5720400"/>
            <a:ext cx="1440000" cy="115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97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47" name="L_TextBox 심장4종|부정맥"/>
          <p:cNvSpPr txBox="1"/>
          <p:nvPr/>
        </p:nvSpPr>
        <p:spPr>
          <a:xfrm>
            <a:off x="576000" y="5842800"/>
            <a:ext cx="1403999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050" b="0">
                <a:solidFill>
                  <a:srgbClr val="4A556B"/>
                </a:solidFill>
                <a:latin typeface="HY엽서M"/>
              </a:rPr>
              <a:t>부정맥</a:t>
            </a:r>
          </a:p>
        </p:txBody>
      </p:sp>
      <p:sp>
        <p:nvSpPr>
          <p:cNvPr id="49" name="TextBox 심장4종|부정맥"/>
          <p:cNvSpPr txBox="1"/>
          <p:nvPr/>
        </p:nvSpPr>
        <p:spPr>
          <a:xfrm>
            <a:off x="1944000" y="5857200"/>
            <a:ext cx="1440000" cy="115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97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50" name="L_TextBox 심장4종|심부전"/>
          <p:cNvSpPr txBox="1"/>
          <p:nvPr/>
        </p:nvSpPr>
        <p:spPr>
          <a:xfrm>
            <a:off x="576000" y="5979600"/>
            <a:ext cx="1403999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050" b="0">
                <a:solidFill>
                  <a:srgbClr val="4A556B"/>
                </a:solidFill>
                <a:latin typeface="HY엽서M"/>
              </a:rPr>
              <a:t>심부전</a:t>
            </a:r>
          </a:p>
        </p:txBody>
      </p:sp>
      <p:sp>
        <p:nvSpPr>
          <p:cNvPr id="52" name="TextBox 심장4종|심부전"/>
          <p:cNvSpPr txBox="1"/>
          <p:nvPr/>
        </p:nvSpPr>
        <p:spPr>
          <a:xfrm>
            <a:off x="1944000" y="5993999"/>
            <a:ext cx="1440000" cy="115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97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53" name="L_TextBox 심장4종|염증"/>
          <p:cNvSpPr txBox="1"/>
          <p:nvPr/>
        </p:nvSpPr>
        <p:spPr>
          <a:xfrm>
            <a:off x="576000" y="6116399"/>
            <a:ext cx="1403999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050" b="0">
                <a:solidFill>
                  <a:srgbClr val="4A556B"/>
                </a:solidFill>
                <a:latin typeface="HY엽서M"/>
              </a:rPr>
              <a:t>주요 심장염증</a:t>
            </a:r>
          </a:p>
        </p:txBody>
      </p:sp>
      <p:sp>
        <p:nvSpPr>
          <p:cNvPr id="55" name="TextBox 심장4종|염증"/>
          <p:cNvSpPr txBox="1"/>
          <p:nvPr/>
        </p:nvSpPr>
        <p:spPr>
          <a:xfrm>
            <a:off x="1944000" y="6130799"/>
            <a:ext cx="1440000" cy="115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97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56" name="L_TextBox 심장4종|심근병증"/>
          <p:cNvSpPr txBox="1"/>
          <p:nvPr/>
        </p:nvSpPr>
        <p:spPr>
          <a:xfrm>
            <a:off x="576000" y="6253199"/>
            <a:ext cx="1403999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050" b="0">
                <a:solidFill>
                  <a:srgbClr val="4A556B"/>
                </a:solidFill>
                <a:latin typeface="HY엽서M"/>
              </a:rPr>
              <a:t>심근병증</a:t>
            </a:r>
          </a:p>
        </p:txBody>
      </p:sp>
      <p:sp>
        <p:nvSpPr>
          <p:cNvPr id="58" name="TextBox 심장4종|심근병증"/>
          <p:cNvSpPr txBox="1"/>
          <p:nvPr/>
        </p:nvSpPr>
        <p:spPr>
          <a:xfrm>
            <a:off x="1944000" y="6267599"/>
            <a:ext cx="1440000" cy="115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97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59" name="L_TextBox 심장4종|심장판막"/>
          <p:cNvSpPr txBox="1"/>
          <p:nvPr/>
        </p:nvSpPr>
        <p:spPr>
          <a:xfrm>
            <a:off x="576000" y="6389999"/>
            <a:ext cx="1403999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050" b="0">
                <a:solidFill>
                  <a:srgbClr val="4A556B"/>
                </a:solidFill>
                <a:latin typeface="HY엽서M"/>
              </a:rPr>
              <a:t>심장판막</a:t>
            </a:r>
          </a:p>
        </p:txBody>
      </p:sp>
      <p:sp>
        <p:nvSpPr>
          <p:cNvPr id="61" name="TextBox 심장4종|심장판막"/>
          <p:cNvSpPr txBox="1"/>
          <p:nvPr/>
        </p:nvSpPr>
        <p:spPr>
          <a:xfrm>
            <a:off x="1944000" y="6404399"/>
            <a:ext cx="1440000" cy="115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97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62" name="L_TextBox 심장4종|협심증"/>
          <p:cNvSpPr txBox="1"/>
          <p:nvPr/>
        </p:nvSpPr>
        <p:spPr>
          <a:xfrm>
            <a:off x="576000" y="6526799"/>
            <a:ext cx="1403999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050" b="0">
                <a:solidFill>
                  <a:srgbClr val="4A556B"/>
                </a:solidFill>
                <a:latin typeface="HY엽서M"/>
              </a:rPr>
              <a:t>협심증</a:t>
            </a:r>
          </a:p>
        </p:txBody>
      </p:sp>
      <p:sp>
        <p:nvSpPr>
          <p:cNvPr id="64" name="TextBox 심장4종|협심증"/>
          <p:cNvSpPr txBox="1"/>
          <p:nvPr/>
        </p:nvSpPr>
        <p:spPr>
          <a:xfrm>
            <a:off x="1944000" y="6541199"/>
            <a:ext cx="1440000" cy="115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97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68" name="TextBox 54|"/>
          <p:cNvSpPr txBox="1"/>
          <p:nvPr/>
        </p:nvSpPr>
        <p:spPr>
          <a:xfrm>
            <a:off x="1944000" y="6768000"/>
            <a:ext cx="1296000" cy="198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260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73" name="TextBox 55|"/>
          <p:cNvSpPr txBox="1"/>
          <p:nvPr/>
        </p:nvSpPr>
        <p:spPr>
          <a:xfrm>
            <a:off x="1961999" y="7470000"/>
            <a:ext cx="1152000" cy="198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260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76" name="BRAIN_TX"/>
          <p:cNvSpPr txBox="1"/>
          <p:nvPr/>
        </p:nvSpPr>
        <p:spPr>
          <a:xfrm>
            <a:off x="432000" y="8298000"/>
            <a:ext cx="1922400" cy="27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r>
              <a:rPr sz="1470" b="1">
                <a:solidFill>
                  <a:srgbClr val="0E1E52"/>
                </a:solidFill>
                <a:latin typeface="HY엽서M"/>
              </a:rPr>
              <a:t>뇌 치료비</a:t>
            </a:r>
          </a:p>
        </p:txBody>
      </p:sp>
      <p:sp>
        <p:nvSpPr>
          <p:cNvPr id="77" name="SUB"/>
          <p:cNvSpPr txBox="1"/>
          <p:nvPr/>
        </p:nvSpPr>
        <p:spPr>
          <a:xfrm>
            <a:off x="432000" y="8503200"/>
            <a:ext cx="3060000" cy="180000"/>
          </a:xfrm>
          <a:prstGeom prst="rect">
            <a:avLst/>
          </a:prstGeom>
          <a:noFill/>
        </p:spPr>
        <p:txBody>
          <a:bodyPr wrap="none" anchor="t" lIns="54000" rIns="54000" tIns="21600" bIns="21600">
            <a:noAutofit/>
          </a:bodyPr>
          <a:lstStyle/>
          <a:p>
            <a:r>
              <a:rPr sz="910" b="0">
                <a:solidFill>
                  <a:srgbClr val="8A94A6"/>
                </a:solidFill>
                <a:latin typeface="HY엽서M"/>
              </a:rPr>
              <a:t>산정특례 · 혈전용해 · 2대 주요치료비</a:t>
            </a:r>
          </a:p>
        </p:txBody>
      </p:sp>
      <p:sp>
        <p:nvSpPr>
          <p:cNvPr id="78" name="L_TextBox 49|산정특례"/>
          <p:cNvSpPr txBox="1"/>
          <p:nvPr/>
        </p:nvSpPr>
        <p:spPr>
          <a:xfrm>
            <a:off x="432000" y="86940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산정특례(뇌혈관)</a:t>
            </a:r>
          </a:p>
        </p:txBody>
      </p:sp>
      <p:sp>
        <p:nvSpPr>
          <p:cNvPr id="80" name="TextBox 49|산정특례"/>
          <p:cNvSpPr txBox="1"/>
          <p:nvPr/>
        </p:nvSpPr>
        <p:spPr>
          <a:xfrm>
            <a:off x="2088000" y="87084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81" name="L_TextBox 49|혈전용해치료비"/>
          <p:cNvSpPr txBox="1"/>
          <p:nvPr/>
        </p:nvSpPr>
        <p:spPr>
          <a:xfrm>
            <a:off x="432000" y="88956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혈전용해치료비</a:t>
            </a:r>
          </a:p>
        </p:txBody>
      </p:sp>
      <p:sp>
        <p:nvSpPr>
          <p:cNvPr id="83" name="TextBox 49|혈전용해치료비"/>
          <p:cNvSpPr txBox="1"/>
          <p:nvPr/>
        </p:nvSpPr>
        <p:spPr>
          <a:xfrm>
            <a:off x="2088000" y="89100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84" name="L_TextBox 49|대주요치료비"/>
          <p:cNvSpPr txBox="1"/>
          <p:nvPr/>
        </p:nvSpPr>
        <p:spPr>
          <a:xfrm>
            <a:off x="432000" y="90972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2대주요치료비</a:t>
            </a:r>
          </a:p>
        </p:txBody>
      </p:sp>
      <p:sp>
        <p:nvSpPr>
          <p:cNvPr id="86" name="TextBox 49|대주요치료비"/>
          <p:cNvSpPr txBox="1"/>
          <p:nvPr/>
        </p:nvSpPr>
        <p:spPr>
          <a:xfrm>
            <a:off x="2088000" y="91116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88" name="HEART_TX"/>
          <p:cNvSpPr txBox="1"/>
          <p:nvPr/>
        </p:nvSpPr>
        <p:spPr>
          <a:xfrm>
            <a:off x="432000" y="9522000"/>
            <a:ext cx="1922400" cy="27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r>
              <a:rPr sz="1470" b="1">
                <a:solidFill>
                  <a:srgbClr val="0E1E52"/>
                </a:solidFill>
                <a:latin typeface="HY엽서M"/>
              </a:rPr>
              <a:t>심장 치료비</a:t>
            </a:r>
          </a:p>
        </p:txBody>
      </p:sp>
      <p:sp>
        <p:nvSpPr>
          <p:cNvPr id="89" name="SUB"/>
          <p:cNvSpPr txBox="1"/>
          <p:nvPr/>
        </p:nvSpPr>
        <p:spPr>
          <a:xfrm>
            <a:off x="432000" y="9727200"/>
            <a:ext cx="3060000" cy="180000"/>
          </a:xfrm>
          <a:prstGeom prst="rect">
            <a:avLst/>
          </a:prstGeom>
          <a:noFill/>
        </p:spPr>
        <p:txBody>
          <a:bodyPr wrap="none" anchor="t" lIns="54000" rIns="54000" tIns="21600" bIns="21600">
            <a:noAutofit/>
          </a:bodyPr>
          <a:lstStyle/>
          <a:p>
            <a:r>
              <a:rPr sz="910" b="0">
                <a:solidFill>
                  <a:srgbClr val="8A94A6"/>
                </a:solidFill>
                <a:latin typeface="HY엽서M"/>
              </a:rPr>
              <a:t>산정특례 · 혈전용해 · 2대 주요치료비</a:t>
            </a:r>
          </a:p>
        </p:txBody>
      </p:sp>
      <p:sp>
        <p:nvSpPr>
          <p:cNvPr id="90" name="L_TextBox 56|산정특례"/>
          <p:cNvSpPr txBox="1"/>
          <p:nvPr/>
        </p:nvSpPr>
        <p:spPr>
          <a:xfrm>
            <a:off x="432000" y="99180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산정특례(심장)</a:t>
            </a:r>
          </a:p>
        </p:txBody>
      </p:sp>
      <p:sp>
        <p:nvSpPr>
          <p:cNvPr id="92" name="TextBox 56|산정특례"/>
          <p:cNvSpPr txBox="1"/>
          <p:nvPr/>
        </p:nvSpPr>
        <p:spPr>
          <a:xfrm>
            <a:off x="2088000" y="99324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93" name="L_TextBox 56|혈전용해치료비"/>
          <p:cNvSpPr txBox="1"/>
          <p:nvPr/>
        </p:nvSpPr>
        <p:spPr>
          <a:xfrm>
            <a:off x="432000" y="101196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혈전용해치료비</a:t>
            </a:r>
          </a:p>
        </p:txBody>
      </p:sp>
      <p:sp>
        <p:nvSpPr>
          <p:cNvPr id="95" name="TextBox 56|혈전용해치료비"/>
          <p:cNvSpPr txBox="1"/>
          <p:nvPr/>
        </p:nvSpPr>
        <p:spPr>
          <a:xfrm>
            <a:off x="2088000" y="101340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96" name="L_TextBox 56|대주요치료비"/>
          <p:cNvSpPr txBox="1"/>
          <p:nvPr/>
        </p:nvSpPr>
        <p:spPr>
          <a:xfrm>
            <a:off x="432000" y="103212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2대주요치료비</a:t>
            </a:r>
          </a:p>
        </p:txBody>
      </p:sp>
      <p:sp>
        <p:nvSpPr>
          <p:cNvPr id="98" name="TextBox 56|대주요치료비"/>
          <p:cNvSpPr txBox="1"/>
          <p:nvPr/>
        </p:nvSpPr>
        <p:spPr>
          <a:xfrm>
            <a:off x="2088000" y="103356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100" name="BAND_T"/>
          <p:cNvSpPr txBox="1"/>
          <p:nvPr/>
        </p:nvSpPr>
        <p:spPr>
          <a:xfrm>
            <a:off x="468000" y="10764000"/>
            <a:ext cx="2988000" cy="306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r>
              <a:rPr sz="1470" b="1">
                <a:solidFill>
                  <a:srgbClr val="FFFFFF"/>
                </a:solidFill>
                <a:latin typeface="HY엽서M"/>
              </a:rPr>
              <a:t>■  운전자</a:t>
            </a:r>
          </a:p>
        </p:txBody>
      </p:sp>
      <p:sp>
        <p:nvSpPr>
          <p:cNvPr id="102" name="TextBox 89"/>
          <p:cNvSpPr txBox="1"/>
          <p:nvPr/>
        </p:nvSpPr>
        <p:spPr>
          <a:xfrm>
            <a:off x="432000" y="11196000"/>
            <a:ext cx="1922400" cy="27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r>
              <a:rPr sz="1470" b="1">
                <a:solidFill>
                  <a:srgbClr val="0E1E52"/>
                </a:solidFill>
                <a:latin typeface="HY엽서M"/>
              </a:rPr>
              <a:t>운전자</a:t>
            </a:r>
          </a:p>
        </p:txBody>
      </p:sp>
      <p:sp>
        <p:nvSpPr>
          <p:cNvPr id="103" name="SUB"/>
          <p:cNvSpPr txBox="1"/>
          <p:nvPr/>
        </p:nvSpPr>
        <p:spPr>
          <a:xfrm>
            <a:off x="432000" y="11401200"/>
            <a:ext cx="3060000" cy="180000"/>
          </a:xfrm>
          <a:prstGeom prst="rect">
            <a:avLst/>
          </a:prstGeom>
          <a:noFill/>
        </p:spPr>
        <p:txBody>
          <a:bodyPr wrap="none" anchor="t" lIns="54000" rIns="54000" tIns="21600" bIns="21600">
            <a:noAutofit/>
          </a:bodyPr>
          <a:lstStyle/>
          <a:p>
            <a:r>
              <a:rPr sz="910" b="0">
                <a:solidFill>
                  <a:srgbClr val="8A94A6"/>
                </a:solidFill>
                <a:latin typeface="HY엽서M"/>
              </a:rPr>
              <a:t>대인 · 대물 · 합의금 · 변호사 · 자부상</a:t>
            </a:r>
          </a:p>
        </p:txBody>
      </p:sp>
      <p:sp>
        <p:nvSpPr>
          <p:cNvPr id="104" name="L_TextBox 9|대인"/>
          <p:cNvSpPr txBox="1"/>
          <p:nvPr/>
        </p:nvSpPr>
        <p:spPr>
          <a:xfrm>
            <a:off x="432000" y="115920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대인</a:t>
            </a:r>
          </a:p>
        </p:txBody>
      </p:sp>
      <p:sp>
        <p:nvSpPr>
          <p:cNvPr id="106" name="TextBox 9|대인"/>
          <p:cNvSpPr txBox="1"/>
          <p:nvPr/>
        </p:nvSpPr>
        <p:spPr>
          <a:xfrm>
            <a:off x="2088000" y="116064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107" name="L_TextBox 9|대물"/>
          <p:cNvSpPr txBox="1"/>
          <p:nvPr/>
        </p:nvSpPr>
        <p:spPr>
          <a:xfrm>
            <a:off x="432000" y="117936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대물</a:t>
            </a:r>
          </a:p>
        </p:txBody>
      </p:sp>
      <p:sp>
        <p:nvSpPr>
          <p:cNvPr id="109" name="TextBox 9|대물"/>
          <p:cNvSpPr txBox="1"/>
          <p:nvPr/>
        </p:nvSpPr>
        <p:spPr>
          <a:xfrm>
            <a:off x="2088000" y="118080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110" name="L_TextBox 9|합의금"/>
          <p:cNvSpPr txBox="1"/>
          <p:nvPr/>
        </p:nvSpPr>
        <p:spPr>
          <a:xfrm>
            <a:off x="432000" y="119952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합의금</a:t>
            </a:r>
          </a:p>
        </p:txBody>
      </p:sp>
      <p:sp>
        <p:nvSpPr>
          <p:cNvPr id="112" name="TextBox 9|합의금"/>
          <p:cNvSpPr txBox="1"/>
          <p:nvPr/>
        </p:nvSpPr>
        <p:spPr>
          <a:xfrm>
            <a:off x="2088000" y="120096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113" name="L_TextBox 9|주미만"/>
          <p:cNvSpPr txBox="1"/>
          <p:nvPr/>
        </p:nvSpPr>
        <p:spPr>
          <a:xfrm>
            <a:off x="432000" y="121968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6주미만</a:t>
            </a:r>
          </a:p>
        </p:txBody>
      </p:sp>
      <p:sp>
        <p:nvSpPr>
          <p:cNvPr id="115" name="TextBox 9|주미만"/>
          <p:cNvSpPr txBox="1"/>
          <p:nvPr/>
        </p:nvSpPr>
        <p:spPr>
          <a:xfrm>
            <a:off x="2088000" y="122112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116" name="L_TextBox 9|변호사비"/>
          <p:cNvSpPr txBox="1"/>
          <p:nvPr/>
        </p:nvSpPr>
        <p:spPr>
          <a:xfrm>
            <a:off x="432000" y="123984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변호사비</a:t>
            </a:r>
          </a:p>
        </p:txBody>
      </p:sp>
      <p:sp>
        <p:nvSpPr>
          <p:cNvPr id="118" name="TextBox 9|변호사비"/>
          <p:cNvSpPr txBox="1"/>
          <p:nvPr/>
        </p:nvSpPr>
        <p:spPr>
          <a:xfrm>
            <a:off x="2088000" y="124128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119" name="L_TextBox 9|자부상"/>
          <p:cNvSpPr txBox="1"/>
          <p:nvPr/>
        </p:nvSpPr>
        <p:spPr>
          <a:xfrm>
            <a:off x="432000" y="126000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자부상</a:t>
            </a:r>
          </a:p>
        </p:txBody>
      </p:sp>
      <p:sp>
        <p:nvSpPr>
          <p:cNvPr id="121" name="TextBox 9|자부상"/>
          <p:cNvSpPr txBox="1"/>
          <p:nvPr/>
        </p:nvSpPr>
        <p:spPr>
          <a:xfrm>
            <a:off x="2088000" y="126144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123" name="BAND_T"/>
          <p:cNvSpPr txBox="1"/>
          <p:nvPr/>
        </p:nvSpPr>
        <p:spPr>
          <a:xfrm>
            <a:off x="468000" y="13089600"/>
            <a:ext cx="2988000" cy="306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r>
              <a:rPr sz="1470" b="1">
                <a:solidFill>
                  <a:srgbClr val="FFFFFF"/>
                </a:solidFill>
                <a:latin typeface="HY엽서M"/>
              </a:rPr>
              <a:t>■  화재 · 치아</a:t>
            </a:r>
          </a:p>
        </p:txBody>
      </p:sp>
      <p:sp>
        <p:nvSpPr>
          <p:cNvPr id="125" name="TextBox 85"/>
          <p:cNvSpPr txBox="1"/>
          <p:nvPr/>
        </p:nvSpPr>
        <p:spPr>
          <a:xfrm>
            <a:off x="432000" y="13521600"/>
            <a:ext cx="1922400" cy="27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r>
              <a:rPr sz="1470" b="1">
                <a:solidFill>
                  <a:srgbClr val="0E1E52"/>
                </a:solidFill>
                <a:latin typeface="HY엽서M"/>
              </a:rPr>
              <a:t>화재</a:t>
            </a:r>
            <a:r>
              <a:rPr sz="1470" b="1">
                <a:solidFill>
                  <a:srgbClr val="0E1E52"/>
                </a:solidFill>
                <a:latin typeface="HY엽서M"/>
              </a:rPr>
              <a:t>/</a:t>
            </a:r>
            <a:r>
              <a:rPr sz="1470" b="1">
                <a:solidFill>
                  <a:srgbClr val="0E1E52"/>
                </a:solidFill>
                <a:latin typeface="HY엽서M"/>
              </a:rPr>
              <a:t>치아</a:t>
            </a:r>
          </a:p>
        </p:txBody>
      </p:sp>
      <p:sp>
        <p:nvSpPr>
          <p:cNvPr id="126" name="SUB"/>
          <p:cNvSpPr txBox="1"/>
          <p:nvPr/>
        </p:nvSpPr>
        <p:spPr>
          <a:xfrm>
            <a:off x="432000" y="13726800"/>
            <a:ext cx="3060000" cy="180000"/>
          </a:xfrm>
          <a:prstGeom prst="rect">
            <a:avLst/>
          </a:prstGeom>
          <a:noFill/>
        </p:spPr>
        <p:txBody>
          <a:bodyPr wrap="none" anchor="t" lIns="54000" rIns="54000" tIns="21600" bIns="21600">
            <a:noAutofit/>
          </a:bodyPr>
          <a:lstStyle/>
          <a:p>
            <a:r>
              <a:rPr sz="910" b="0">
                <a:solidFill>
                  <a:srgbClr val="8A94A6"/>
                </a:solidFill>
                <a:latin typeface="HY엽서M"/>
              </a:rPr>
              <a:t>크라운 · 임플란트 · 기타 · 화재보험</a:t>
            </a:r>
          </a:p>
        </p:txBody>
      </p:sp>
      <p:sp>
        <p:nvSpPr>
          <p:cNvPr id="127" name="L_TextBox 13|크라운"/>
          <p:cNvSpPr txBox="1"/>
          <p:nvPr/>
        </p:nvSpPr>
        <p:spPr>
          <a:xfrm>
            <a:off x="432000" y="139176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크라운</a:t>
            </a:r>
          </a:p>
        </p:txBody>
      </p:sp>
      <p:sp>
        <p:nvSpPr>
          <p:cNvPr id="129" name="TextBox 13|크라운"/>
          <p:cNvSpPr txBox="1"/>
          <p:nvPr/>
        </p:nvSpPr>
        <p:spPr>
          <a:xfrm>
            <a:off x="2088000" y="139320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130" name="L_TextBox 13|임플란트"/>
          <p:cNvSpPr txBox="1"/>
          <p:nvPr/>
        </p:nvSpPr>
        <p:spPr>
          <a:xfrm>
            <a:off x="432000" y="141192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임플란트</a:t>
            </a:r>
          </a:p>
        </p:txBody>
      </p:sp>
      <p:sp>
        <p:nvSpPr>
          <p:cNvPr id="132" name="TextBox 13|임플란트"/>
          <p:cNvSpPr txBox="1"/>
          <p:nvPr/>
        </p:nvSpPr>
        <p:spPr>
          <a:xfrm>
            <a:off x="2088000" y="141336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133" name="L_TextBox 13|기타"/>
          <p:cNvSpPr txBox="1"/>
          <p:nvPr/>
        </p:nvSpPr>
        <p:spPr>
          <a:xfrm>
            <a:off x="432000" y="143208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기타</a:t>
            </a:r>
          </a:p>
        </p:txBody>
      </p:sp>
      <p:sp>
        <p:nvSpPr>
          <p:cNvPr id="135" name="TextBox 13|기타"/>
          <p:cNvSpPr txBox="1"/>
          <p:nvPr/>
        </p:nvSpPr>
        <p:spPr>
          <a:xfrm>
            <a:off x="2088000" y="143352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136" name="L_TextBox 13|화재보험"/>
          <p:cNvSpPr txBox="1"/>
          <p:nvPr/>
        </p:nvSpPr>
        <p:spPr>
          <a:xfrm>
            <a:off x="432000" y="145224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화재보험</a:t>
            </a:r>
          </a:p>
        </p:txBody>
      </p:sp>
      <p:sp>
        <p:nvSpPr>
          <p:cNvPr id="138" name="TextBox 13|화재보험"/>
          <p:cNvSpPr txBox="1"/>
          <p:nvPr/>
        </p:nvSpPr>
        <p:spPr>
          <a:xfrm>
            <a:off x="2088000" y="145368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140" name="BAND_T"/>
          <p:cNvSpPr txBox="1"/>
          <p:nvPr/>
        </p:nvSpPr>
        <p:spPr>
          <a:xfrm>
            <a:off x="3852000" y="1745999"/>
            <a:ext cx="2988000" cy="306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r>
              <a:rPr sz="1470" b="1">
                <a:solidFill>
                  <a:srgbClr val="FFFFFF"/>
                </a:solidFill>
                <a:latin typeface="HY엽서M"/>
              </a:rPr>
              <a:t>●  암</a:t>
            </a:r>
          </a:p>
        </p:txBody>
      </p:sp>
      <p:sp>
        <p:nvSpPr>
          <p:cNvPr id="142" name="TextBox 42"/>
          <p:cNvSpPr txBox="1"/>
          <p:nvPr/>
        </p:nvSpPr>
        <p:spPr>
          <a:xfrm>
            <a:off x="3816000" y="2178000"/>
            <a:ext cx="1922400" cy="27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r>
              <a:rPr sz="1470" b="1">
                <a:solidFill>
                  <a:srgbClr val="1E7B34"/>
                </a:solidFill>
                <a:latin typeface="HY엽서M"/>
              </a:rPr>
              <a:t>√ </a:t>
            </a:r>
            <a:r>
              <a:rPr sz="1470" b="1">
                <a:solidFill>
                  <a:srgbClr val="1E7B34"/>
                </a:solidFill>
                <a:latin typeface="HY엽서M"/>
              </a:rPr>
              <a:t>암 진단비</a:t>
            </a:r>
          </a:p>
        </p:txBody>
      </p:sp>
      <p:sp>
        <p:nvSpPr>
          <p:cNvPr id="143" name="SUB"/>
          <p:cNvSpPr txBox="1"/>
          <p:nvPr/>
        </p:nvSpPr>
        <p:spPr>
          <a:xfrm>
            <a:off x="3816000" y="2383199"/>
            <a:ext cx="3060000" cy="180000"/>
          </a:xfrm>
          <a:prstGeom prst="rect">
            <a:avLst/>
          </a:prstGeom>
          <a:noFill/>
        </p:spPr>
        <p:txBody>
          <a:bodyPr wrap="none" anchor="t" lIns="54000" rIns="54000" tIns="21600" bIns="21600">
            <a:noAutofit/>
          </a:bodyPr>
          <a:lstStyle/>
          <a:p>
            <a:r>
              <a:rPr sz="910" b="0">
                <a:solidFill>
                  <a:srgbClr val="8A94A6"/>
                </a:solidFill>
                <a:latin typeface="HY엽서M"/>
              </a:rPr>
              <a:t>암 범위 — 일반암 100% · 소액암 겹침 · 유사암 10~20%</a:t>
            </a:r>
          </a:p>
        </p:txBody>
      </p:sp>
      <p:sp>
        <p:nvSpPr>
          <p:cNvPr id="147" name="TextBox 14|일반암"/>
          <p:cNvSpPr txBox="1"/>
          <p:nvPr/>
        </p:nvSpPr>
        <p:spPr>
          <a:xfrm>
            <a:off x="5238000" y="2646000"/>
            <a:ext cx="1512000" cy="198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260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152" name="TextBox 14|고액암"/>
          <p:cNvSpPr txBox="1"/>
          <p:nvPr/>
        </p:nvSpPr>
        <p:spPr>
          <a:xfrm>
            <a:off x="5183999" y="3167999"/>
            <a:ext cx="1440000" cy="198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260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158" name="TextBox 14|소액암"/>
          <p:cNvSpPr txBox="1"/>
          <p:nvPr/>
        </p:nvSpPr>
        <p:spPr>
          <a:xfrm>
            <a:off x="5670000" y="4140000"/>
            <a:ext cx="1080000" cy="198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260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163" name="TextBox 14|유사암"/>
          <p:cNvSpPr txBox="1"/>
          <p:nvPr/>
        </p:nvSpPr>
        <p:spPr>
          <a:xfrm>
            <a:off x="5670000" y="4752000"/>
            <a:ext cx="1080000" cy="198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260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168" name="TextBox 14|통합암"/>
          <p:cNvSpPr txBox="1"/>
          <p:nvPr/>
        </p:nvSpPr>
        <p:spPr>
          <a:xfrm>
            <a:off x="5238000" y="5400000"/>
            <a:ext cx="1512000" cy="198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260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172" name="TextBox 14|통합전이암"/>
          <p:cNvSpPr txBox="1"/>
          <p:nvPr/>
        </p:nvSpPr>
        <p:spPr>
          <a:xfrm>
            <a:off x="5238000" y="5850000"/>
            <a:ext cx="1512000" cy="198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260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174" name="CANCER_TX"/>
          <p:cNvSpPr txBox="1"/>
          <p:nvPr/>
        </p:nvSpPr>
        <p:spPr>
          <a:xfrm>
            <a:off x="3816000" y="6425999"/>
            <a:ext cx="1922400" cy="27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r>
              <a:rPr sz="1470" b="1">
                <a:solidFill>
                  <a:srgbClr val="0E1E52"/>
                </a:solidFill>
                <a:latin typeface="HY엽서M"/>
              </a:rPr>
              <a:t>암 치료비</a:t>
            </a:r>
          </a:p>
        </p:txBody>
      </p:sp>
      <p:sp>
        <p:nvSpPr>
          <p:cNvPr id="175" name="SUB"/>
          <p:cNvSpPr txBox="1"/>
          <p:nvPr/>
        </p:nvSpPr>
        <p:spPr>
          <a:xfrm>
            <a:off x="3816000" y="6631199"/>
            <a:ext cx="3060000" cy="180000"/>
          </a:xfrm>
          <a:prstGeom prst="rect">
            <a:avLst/>
          </a:prstGeom>
          <a:noFill/>
        </p:spPr>
        <p:txBody>
          <a:bodyPr wrap="none" anchor="t" lIns="54000" rIns="54000" tIns="21600" bIns="21600">
            <a:noAutofit/>
          </a:bodyPr>
          <a:lstStyle/>
          <a:p>
            <a:r>
              <a:rPr sz="910" b="0">
                <a:solidFill>
                  <a:srgbClr val="8A94A6"/>
                </a:solidFill>
                <a:latin typeface="HY엽서M"/>
              </a:rPr>
              <a:t>항암 · 표적 · 양성자 · 중입자 · 로봇 · 주요치료비</a:t>
            </a:r>
          </a:p>
        </p:txBody>
      </p:sp>
      <p:sp>
        <p:nvSpPr>
          <p:cNvPr id="176" name="L_TextBox 14|항암치료"/>
          <p:cNvSpPr txBox="1"/>
          <p:nvPr/>
        </p:nvSpPr>
        <p:spPr>
          <a:xfrm>
            <a:off x="3816000" y="68220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항암치료</a:t>
            </a:r>
          </a:p>
        </p:txBody>
      </p:sp>
      <p:sp>
        <p:nvSpPr>
          <p:cNvPr id="178" name="TextBox 14|항암치료"/>
          <p:cNvSpPr txBox="1"/>
          <p:nvPr/>
        </p:nvSpPr>
        <p:spPr>
          <a:xfrm>
            <a:off x="5472000" y="6836399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179" name="L_TextBox 14|전이암항암치료"/>
          <p:cNvSpPr txBox="1"/>
          <p:nvPr/>
        </p:nvSpPr>
        <p:spPr>
          <a:xfrm>
            <a:off x="3816000" y="7030799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전이암항암치료</a:t>
            </a:r>
          </a:p>
        </p:txBody>
      </p:sp>
      <p:sp>
        <p:nvSpPr>
          <p:cNvPr id="181" name="TextBox 14|전이암항암치료"/>
          <p:cNvSpPr txBox="1"/>
          <p:nvPr/>
        </p:nvSpPr>
        <p:spPr>
          <a:xfrm>
            <a:off x="5472000" y="7045199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182" name="L_TextBox 14|표적치료"/>
          <p:cNvSpPr txBox="1"/>
          <p:nvPr/>
        </p:nvSpPr>
        <p:spPr>
          <a:xfrm>
            <a:off x="3816000" y="7239599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표적치료</a:t>
            </a:r>
          </a:p>
        </p:txBody>
      </p:sp>
      <p:sp>
        <p:nvSpPr>
          <p:cNvPr id="184" name="TextBox 14|표적치료"/>
          <p:cNvSpPr txBox="1"/>
          <p:nvPr/>
        </p:nvSpPr>
        <p:spPr>
          <a:xfrm>
            <a:off x="5472000" y="7253999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185" name="L_TextBox 14|세기"/>
          <p:cNvSpPr txBox="1"/>
          <p:nvPr/>
        </p:nvSpPr>
        <p:spPr>
          <a:xfrm>
            <a:off x="3816000" y="7448399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양성자·세기</a:t>
            </a:r>
          </a:p>
        </p:txBody>
      </p:sp>
      <p:sp>
        <p:nvSpPr>
          <p:cNvPr id="187" name="TextBox 14|세기"/>
          <p:cNvSpPr txBox="1"/>
          <p:nvPr/>
        </p:nvSpPr>
        <p:spPr>
          <a:xfrm>
            <a:off x="5472000" y="7462799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188" name="L_TextBox 14|중입자"/>
          <p:cNvSpPr txBox="1"/>
          <p:nvPr/>
        </p:nvSpPr>
        <p:spPr>
          <a:xfrm>
            <a:off x="3816000" y="7657199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중입자</a:t>
            </a:r>
          </a:p>
        </p:txBody>
      </p:sp>
      <p:sp>
        <p:nvSpPr>
          <p:cNvPr id="190" name="TextBox 14|중입자"/>
          <p:cNvSpPr txBox="1"/>
          <p:nvPr/>
        </p:nvSpPr>
        <p:spPr>
          <a:xfrm>
            <a:off x="5472000" y="7671599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191" name="L_TextBox 14|암통원비"/>
          <p:cNvSpPr txBox="1"/>
          <p:nvPr/>
        </p:nvSpPr>
        <p:spPr>
          <a:xfrm>
            <a:off x="3816000" y="7865999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암통원비</a:t>
            </a:r>
          </a:p>
        </p:txBody>
      </p:sp>
      <p:sp>
        <p:nvSpPr>
          <p:cNvPr id="193" name="TextBox 14|암통원비"/>
          <p:cNvSpPr txBox="1"/>
          <p:nvPr/>
        </p:nvSpPr>
        <p:spPr>
          <a:xfrm>
            <a:off x="5472000" y="7880399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194" name="L_TextBox 14|다빈치로봇수술비"/>
          <p:cNvSpPr txBox="1"/>
          <p:nvPr/>
        </p:nvSpPr>
        <p:spPr>
          <a:xfrm>
            <a:off x="3816000" y="8074799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다빈치로봇수술비</a:t>
            </a:r>
          </a:p>
        </p:txBody>
      </p:sp>
      <p:sp>
        <p:nvSpPr>
          <p:cNvPr id="196" name="TextBox 14|다빈치로봇수술비"/>
          <p:cNvSpPr txBox="1"/>
          <p:nvPr/>
        </p:nvSpPr>
        <p:spPr>
          <a:xfrm>
            <a:off x="5472000" y="8089199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198" name="L_TextBox 57|암주요치료비"/>
          <p:cNvSpPr txBox="1"/>
          <p:nvPr/>
        </p:nvSpPr>
        <p:spPr>
          <a:xfrm>
            <a:off x="3816000" y="8319599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암주요치료비</a:t>
            </a:r>
          </a:p>
        </p:txBody>
      </p:sp>
      <p:sp>
        <p:nvSpPr>
          <p:cNvPr id="200" name="TextBox 57|암주요치료비"/>
          <p:cNvSpPr txBox="1"/>
          <p:nvPr/>
        </p:nvSpPr>
        <p:spPr>
          <a:xfrm>
            <a:off x="5472000" y="8333999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01" name="L_TextBox 57|하이클래스"/>
          <p:cNvSpPr txBox="1"/>
          <p:nvPr/>
        </p:nvSpPr>
        <p:spPr>
          <a:xfrm>
            <a:off x="3816000" y="8528399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하이클래스(비급여)</a:t>
            </a:r>
          </a:p>
        </p:txBody>
      </p:sp>
      <p:sp>
        <p:nvSpPr>
          <p:cNvPr id="203" name="TextBox 57|하이클래스"/>
          <p:cNvSpPr txBox="1"/>
          <p:nvPr/>
        </p:nvSpPr>
        <p:spPr>
          <a:xfrm>
            <a:off x="5472000" y="8542799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04" name="L_TextBox 57|10억통장"/>
          <p:cNvSpPr txBox="1"/>
          <p:nvPr/>
        </p:nvSpPr>
        <p:spPr>
          <a:xfrm>
            <a:off x="3816000" y="8737199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10억통장</a:t>
            </a:r>
          </a:p>
        </p:txBody>
      </p:sp>
      <p:sp>
        <p:nvSpPr>
          <p:cNvPr id="206" name="TextBox 57|10억통장"/>
          <p:cNvSpPr txBox="1"/>
          <p:nvPr/>
        </p:nvSpPr>
        <p:spPr>
          <a:xfrm>
            <a:off x="5472000" y="8751599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08" name="BAND_T"/>
          <p:cNvSpPr txBox="1"/>
          <p:nvPr/>
        </p:nvSpPr>
        <p:spPr>
          <a:xfrm>
            <a:off x="3852000" y="9467999"/>
            <a:ext cx="2988000" cy="306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r>
              <a:rPr sz="1470" b="1">
                <a:solidFill>
                  <a:srgbClr val="FFFFFF"/>
                </a:solidFill>
                <a:latin typeface="HY엽서M"/>
              </a:rPr>
              <a:t>■  수술비</a:t>
            </a:r>
          </a:p>
        </p:txBody>
      </p:sp>
      <p:sp>
        <p:nvSpPr>
          <p:cNvPr id="210" name="TextBox 58"/>
          <p:cNvSpPr txBox="1"/>
          <p:nvPr/>
        </p:nvSpPr>
        <p:spPr>
          <a:xfrm>
            <a:off x="3816000" y="9899999"/>
            <a:ext cx="1922400" cy="27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r>
              <a:rPr sz="1470" b="1">
                <a:solidFill>
                  <a:srgbClr val="0E1E52"/>
                </a:solidFill>
                <a:latin typeface="HY엽서M"/>
              </a:rPr>
              <a:t>수술비</a:t>
            </a:r>
          </a:p>
        </p:txBody>
      </p:sp>
      <p:sp>
        <p:nvSpPr>
          <p:cNvPr id="211" name="SUB"/>
          <p:cNvSpPr txBox="1"/>
          <p:nvPr/>
        </p:nvSpPr>
        <p:spPr>
          <a:xfrm>
            <a:off x="3816000" y="10105199"/>
            <a:ext cx="3060000" cy="180000"/>
          </a:xfrm>
          <a:prstGeom prst="rect">
            <a:avLst/>
          </a:prstGeom>
          <a:noFill/>
        </p:spPr>
        <p:txBody>
          <a:bodyPr wrap="none" anchor="t" lIns="54000" rIns="54000" tIns="21600" bIns="21600">
            <a:noAutofit/>
          </a:bodyPr>
          <a:lstStyle/>
          <a:p>
            <a:r>
              <a:rPr sz="910" b="0">
                <a:solidFill>
                  <a:srgbClr val="8A94A6"/>
                </a:solidFill>
                <a:latin typeface="HY엽서M"/>
              </a:rPr>
              <a:t>질병 · 종수술 · 뇌혈관 · 심장</a:t>
            </a:r>
          </a:p>
        </p:txBody>
      </p:sp>
      <p:sp>
        <p:nvSpPr>
          <p:cNvPr id="212" name="L_TextBox 17|질병수술"/>
          <p:cNvSpPr txBox="1"/>
          <p:nvPr/>
        </p:nvSpPr>
        <p:spPr>
          <a:xfrm>
            <a:off x="3816000" y="10296000"/>
            <a:ext cx="1476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질병수술</a:t>
            </a:r>
          </a:p>
        </p:txBody>
      </p:sp>
      <p:sp>
        <p:nvSpPr>
          <p:cNvPr id="214" name="TextBox 17|질병수술"/>
          <p:cNvSpPr txBox="1"/>
          <p:nvPr/>
        </p:nvSpPr>
        <p:spPr>
          <a:xfrm>
            <a:off x="5256000" y="10310399"/>
            <a:ext cx="1655999" cy="151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15" name="L_TextBox 17|종합병원수술"/>
          <p:cNvSpPr txBox="1"/>
          <p:nvPr/>
        </p:nvSpPr>
        <p:spPr>
          <a:xfrm>
            <a:off x="3816000" y="10468800"/>
            <a:ext cx="1476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종합병원수술</a:t>
            </a:r>
          </a:p>
        </p:txBody>
      </p:sp>
      <p:sp>
        <p:nvSpPr>
          <p:cNvPr id="217" name="TextBox 17|종합병원수술"/>
          <p:cNvSpPr txBox="1"/>
          <p:nvPr/>
        </p:nvSpPr>
        <p:spPr>
          <a:xfrm>
            <a:off x="5256000" y="10483200"/>
            <a:ext cx="1655999" cy="151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18" name="L_TextBox 17|1~3종수술비"/>
          <p:cNvSpPr txBox="1"/>
          <p:nvPr/>
        </p:nvSpPr>
        <p:spPr>
          <a:xfrm>
            <a:off x="3816000" y="10641600"/>
            <a:ext cx="1476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1~3종수술비</a:t>
            </a:r>
          </a:p>
        </p:txBody>
      </p:sp>
      <p:sp>
        <p:nvSpPr>
          <p:cNvPr id="220" name="TextBox 17|1~3종수술비"/>
          <p:cNvSpPr txBox="1"/>
          <p:nvPr/>
        </p:nvSpPr>
        <p:spPr>
          <a:xfrm>
            <a:off x="5256000" y="10656000"/>
            <a:ext cx="1655999" cy="151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21" name="L_TextBox 17|/     /"/>
          <p:cNvSpPr txBox="1"/>
          <p:nvPr/>
        </p:nvSpPr>
        <p:spPr>
          <a:xfrm>
            <a:off x="3816000" y="10814400"/>
            <a:ext cx="1188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1~5종 수술비</a:t>
            </a:r>
          </a:p>
        </p:txBody>
      </p:sp>
      <p:sp>
        <p:nvSpPr>
          <p:cNvPr id="223" name="TextBox 17|/     /"/>
          <p:cNvSpPr txBox="1"/>
          <p:nvPr/>
        </p:nvSpPr>
        <p:spPr>
          <a:xfrm>
            <a:off x="4968000" y="10828800"/>
            <a:ext cx="1944000" cy="151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050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24" name="L_TextBox 17|1~7종 수술비"/>
          <p:cNvSpPr txBox="1"/>
          <p:nvPr/>
        </p:nvSpPr>
        <p:spPr>
          <a:xfrm>
            <a:off x="3816000" y="10987200"/>
            <a:ext cx="1476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1~7종 수술비</a:t>
            </a:r>
          </a:p>
        </p:txBody>
      </p:sp>
      <p:sp>
        <p:nvSpPr>
          <p:cNvPr id="226" name="TextBox 17|1~7종 수술비"/>
          <p:cNvSpPr txBox="1"/>
          <p:nvPr/>
        </p:nvSpPr>
        <p:spPr>
          <a:xfrm>
            <a:off x="5256000" y="11001600"/>
            <a:ext cx="1655999" cy="151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27" name="L_TextBox 17|대 수술"/>
          <p:cNvSpPr txBox="1"/>
          <p:nvPr/>
        </p:nvSpPr>
        <p:spPr>
          <a:xfrm>
            <a:off x="3816000" y="11160000"/>
            <a:ext cx="1476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____대 수술</a:t>
            </a:r>
          </a:p>
        </p:txBody>
      </p:sp>
      <p:sp>
        <p:nvSpPr>
          <p:cNvPr id="229" name="TextBox 17|대 수술"/>
          <p:cNvSpPr txBox="1"/>
          <p:nvPr/>
        </p:nvSpPr>
        <p:spPr>
          <a:xfrm>
            <a:off x="5256000" y="11174400"/>
            <a:ext cx="1655999" cy="151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30" name="L_TextBox 17|뇌혈관수술"/>
          <p:cNvSpPr txBox="1"/>
          <p:nvPr/>
        </p:nvSpPr>
        <p:spPr>
          <a:xfrm>
            <a:off x="3816000" y="11332800"/>
            <a:ext cx="1476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뇌혈관수술</a:t>
            </a:r>
          </a:p>
        </p:txBody>
      </p:sp>
      <p:sp>
        <p:nvSpPr>
          <p:cNvPr id="232" name="TextBox 17|뇌혈관수술"/>
          <p:cNvSpPr txBox="1"/>
          <p:nvPr/>
        </p:nvSpPr>
        <p:spPr>
          <a:xfrm>
            <a:off x="5256000" y="11347200"/>
            <a:ext cx="1655999" cy="151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33" name="L_TextBox 17|허혈성수술"/>
          <p:cNvSpPr txBox="1"/>
          <p:nvPr/>
        </p:nvSpPr>
        <p:spPr>
          <a:xfrm>
            <a:off x="3816000" y="11505600"/>
            <a:ext cx="1476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허혈성수술</a:t>
            </a:r>
          </a:p>
        </p:txBody>
      </p:sp>
      <p:sp>
        <p:nvSpPr>
          <p:cNvPr id="235" name="TextBox 17|허혈성수술"/>
          <p:cNvSpPr txBox="1"/>
          <p:nvPr/>
        </p:nvSpPr>
        <p:spPr>
          <a:xfrm>
            <a:off x="5256000" y="11520000"/>
            <a:ext cx="1655999" cy="151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36" name="L_TextBox 17|심장 수술"/>
          <p:cNvSpPr txBox="1"/>
          <p:nvPr/>
        </p:nvSpPr>
        <p:spPr>
          <a:xfrm>
            <a:off x="3816000" y="11678400"/>
            <a:ext cx="1476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심장 수술</a:t>
            </a:r>
          </a:p>
        </p:txBody>
      </p:sp>
      <p:sp>
        <p:nvSpPr>
          <p:cNvPr id="238" name="TextBox 17|심장 수술"/>
          <p:cNvSpPr txBox="1"/>
          <p:nvPr/>
        </p:nvSpPr>
        <p:spPr>
          <a:xfrm>
            <a:off x="5256000" y="11692799"/>
            <a:ext cx="1655999" cy="151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39" name="L_TextBox 17|5대기관수술"/>
          <p:cNvSpPr txBox="1"/>
          <p:nvPr/>
        </p:nvSpPr>
        <p:spPr>
          <a:xfrm>
            <a:off x="3816000" y="11851199"/>
            <a:ext cx="1476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5대기관수술</a:t>
            </a:r>
          </a:p>
        </p:txBody>
      </p:sp>
      <p:sp>
        <p:nvSpPr>
          <p:cNvPr id="241" name="TextBox 17|5대기관수술"/>
          <p:cNvSpPr txBox="1"/>
          <p:nvPr/>
        </p:nvSpPr>
        <p:spPr>
          <a:xfrm>
            <a:off x="5256000" y="11865599"/>
            <a:ext cx="1655999" cy="151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42" name="L_TextBox 17|대 수술#2"/>
          <p:cNvSpPr txBox="1"/>
          <p:nvPr/>
        </p:nvSpPr>
        <p:spPr>
          <a:xfrm>
            <a:off x="3816000" y="12023999"/>
            <a:ext cx="1476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____대 수술</a:t>
            </a:r>
          </a:p>
        </p:txBody>
      </p:sp>
      <p:sp>
        <p:nvSpPr>
          <p:cNvPr id="244" name="TextBox 17|대 수술#2"/>
          <p:cNvSpPr txBox="1"/>
          <p:nvPr/>
        </p:nvSpPr>
        <p:spPr>
          <a:xfrm>
            <a:off x="5256000" y="12038399"/>
            <a:ext cx="1655999" cy="151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46" name="SURG_INJ"/>
          <p:cNvSpPr txBox="1"/>
          <p:nvPr/>
        </p:nvSpPr>
        <p:spPr>
          <a:xfrm>
            <a:off x="3816000" y="12437999"/>
            <a:ext cx="1922400" cy="27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r>
              <a:rPr sz="1470" b="1">
                <a:solidFill>
                  <a:srgbClr val="0E1E52"/>
                </a:solidFill>
                <a:latin typeface="HY엽서M"/>
              </a:rPr>
              <a:t>수술비</a:t>
            </a:r>
          </a:p>
        </p:txBody>
      </p:sp>
      <p:sp>
        <p:nvSpPr>
          <p:cNvPr id="247" name="SUB"/>
          <p:cNvSpPr txBox="1"/>
          <p:nvPr/>
        </p:nvSpPr>
        <p:spPr>
          <a:xfrm>
            <a:off x="3816000" y="12643200"/>
            <a:ext cx="3060000" cy="180000"/>
          </a:xfrm>
          <a:prstGeom prst="rect">
            <a:avLst/>
          </a:prstGeom>
          <a:noFill/>
        </p:spPr>
        <p:txBody>
          <a:bodyPr wrap="none" anchor="t" lIns="54000" rIns="54000" tIns="21600" bIns="21600">
            <a:noAutofit/>
          </a:bodyPr>
          <a:lstStyle/>
          <a:p>
            <a:r>
              <a:rPr sz="910" b="0">
                <a:solidFill>
                  <a:srgbClr val="8A94A6"/>
                </a:solidFill>
                <a:latin typeface="HY엽서M"/>
              </a:rPr>
              <a:t>상해 · 종수술 · 골절 · 화상</a:t>
            </a:r>
          </a:p>
        </p:txBody>
      </p:sp>
      <p:sp>
        <p:nvSpPr>
          <p:cNvPr id="248" name="L_TextBox 19|상해수술"/>
          <p:cNvSpPr txBox="1"/>
          <p:nvPr/>
        </p:nvSpPr>
        <p:spPr>
          <a:xfrm>
            <a:off x="3816000" y="12834000"/>
            <a:ext cx="1476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상해수술</a:t>
            </a:r>
          </a:p>
        </p:txBody>
      </p:sp>
      <p:sp>
        <p:nvSpPr>
          <p:cNvPr id="250" name="TextBox 19|상해수술"/>
          <p:cNvSpPr txBox="1"/>
          <p:nvPr/>
        </p:nvSpPr>
        <p:spPr>
          <a:xfrm>
            <a:off x="5256000" y="12848400"/>
            <a:ext cx="1655999" cy="151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51" name="L_TextBox 19|종합병원수술"/>
          <p:cNvSpPr txBox="1"/>
          <p:nvPr/>
        </p:nvSpPr>
        <p:spPr>
          <a:xfrm>
            <a:off x="3816000" y="13006799"/>
            <a:ext cx="1476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종합병원수술</a:t>
            </a:r>
          </a:p>
        </p:txBody>
      </p:sp>
      <p:sp>
        <p:nvSpPr>
          <p:cNvPr id="253" name="TextBox 19|종합병원수술"/>
          <p:cNvSpPr txBox="1"/>
          <p:nvPr/>
        </p:nvSpPr>
        <p:spPr>
          <a:xfrm>
            <a:off x="5256000" y="13021199"/>
            <a:ext cx="1655999" cy="151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54" name="L_TextBox 19|1~3종수술비"/>
          <p:cNvSpPr txBox="1"/>
          <p:nvPr/>
        </p:nvSpPr>
        <p:spPr>
          <a:xfrm>
            <a:off x="3816000" y="13179599"/>
            <a:ext cx="1476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1~3종수술비</a:t>
            </a:r>
          </a:p>
        </p:txBody>
      </p:sp>
      <p:sp>
        <p:nvSpPr>
          <p:cNvPr id="256" name="TextBox 19|1~3종수술비"/>
          <p:cNvSpPr txBox="1"/>
          <p:nvPr/>
        </p:nvSpPr>
        <p:spPr>
          <a:xfrm>
            <a:off x="5256000" y="13193999"/>
            <a:ext cx="1655999" cy="151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57" name="L_TextBox 19|/      /"/>
          <p:cNvSpPr txBox="1"/>
          <p:nvPr/>
        </p:nvSpPr>
        <p:spPr>
          <a:xfrm>
            <a:off x="3816000" y="13352399"/>
            <a:ext cx="1188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1~5종 수술비</a:t>
            </a:r>
          </a:p>
        </p:txBody>
      </p:sp>
      <p:sp>
        <p:nvSpPr>
          <p:cNvPr id="259" name="TextBox 19|/      /"/>
          <p:cNvSpPr txBox="1"/>
          <p:nvPr/>
        </p:nvSpPr>
        <p:spPr>
          <a:xfrm>
            <a:off x="4968000" y="13366799"/>
            <a:ext cx="1944000" cy="151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050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60" name="L_TextBox 19|1~7종 수술비"/>
          <p:cNvSpPr txBox="1"/>
          <p:nvPr/>
        </p:nvSpPr>
        <p:spPr>
          <a:xfrm>
            <a:off x="3816000" y="13525199"/>
            <a:ext cx="1476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1~7종 수술비</a:t>
            </a:r>
          </a:p>
        </p:txBody>
      </p:sp>
      <p:sp>
        <p:nvSpPr>
          <p:cNvPr id="262" name="TextBox 19|1~7종 수술비"/>
          <p:cNvSpPr txBox="1"/>
          <p:nvPr/>
        </p:nvSpPr>
        <p:spPr>
          <a:xfrm>
            <a:off x="5256000" y="13539599"/>
            <a:ext cx="1655999" cy="151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63" name="L_TextBox 19|골절수술"/>
          <p:cNvSpPr txBox="1"/>
          <p:nvPr/>
        </p:nvSpPr>
        <p:spPr>
          <a:xfrm>
            <a:off x="3816000" y="13697999"/>
            <a:ext cx="1476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골절수술</a:t>
            </a:r>
          </a:p>
        </p:txBody>
      </p:sp>
      <p:sp>
        <p:nvSpPr>
          <p:cNvPr id="265" name="TextBox 19|골절수술"/>
          <p:cNvSpPr txBox="1"/>
          <p:nvPr/>
        </p:nvSpPr>
        <p:spPr>
          <a:xfrm>
            <a:off x="5256000" y="13712399"/>
            <a:ext cx="1655999" cy="151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66" name="L_TextBox 19|대골절수술"/>
          <p:cNvSpPr txBox="1"/>
          <p:nvPr/>
        </p:nvSpPr>
        <p:spPr>
          <a:xfrm>
            <a:off x="3816000" y="13870799"/>
            <a:ext cx="1476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5대골절수술</a:t>
            </a:r>
          </a:p>
        </p:txBody>
      </p:sp>
      <p:sp>
        <p:nvSpPr>
          <p:cNvPr id="268" name="TextBox 19|대골절수술"/>
          <p:cNvSpPr txBox="1"/>
          <p:nvPr/>
        </p:nvSpPr>
        <p:spPr>
          <a:xfrm>
            <a:off x="5256000" y="13885199"/>
            <a:ext cx="1655999" cy="151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69" name="L_TextBox 19|화상수술"/>
          <p:cNvSpPr txBox="1"/>
          <p:nvPr/>
        </p:nvSpPr>
        <p:spPr>
          <a:xfrm>
            <a:off x="3816000" y="14043599"/>
            <a:ext cx="1476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화상수술</a:t>
            </a:r>
          </a:p>
        </p:txBody>
      </p:sp>
      <p:sp>
        <p:nvSpPr>
          <p:cNvPr id="271" name="TextBox 19|화상수술"/>
          <p:cNvSpPr txBox="1"/>
          <p:nvPr/>
        </p:nvSpPr>
        <p:spPr>
          <a:xfrm>
            <a:off x="5256000" y="14057999"/>
            <a:ext cx="1655999" cy="151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72" name="L_TextBox 19|중대상해수술"/>
          <p:cNvSpPr txBox="1"/>
          <p:nvPr/>
        </p:nvSpPr>
        <p:spPr>
          <a:xfrm>
            <a:off x="3816000" y="14216399"/>
            <a:ext cx="1476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중대상해수술</a:t>
            </a:r>
          </a:p>
        </p:txBody>
      </p:sp>
      <p:sp>
        <p:nvSpPr>
          <p:cNvPr id="274" name="TextBox 19|중대상해수술"/>
          <p:cNvSpPr txBox="1"/>
          <p:nvPr/>
        </p:nvSpPr>
        <p:spPr>
          <a:xfrm>
            <a:off x="5256000" y="14230799"/>
            <a:ext cx="1655999" cy="151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75" name="L_TextBox 19|창상봉합수술"/>
          <p:cNvSpPr txBox="1"/>
          <p:nvPr/>
        </p:nvSpPr>
        <p:spPr>
          <a:xfrm>
            <a:off x="3816000" y="14389199"/>
            <a:ext cx="1476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창상봉합수술</a:t>
            </a:r>
          </a:p>
        </p:txBody>
      </p:sp>
      <p:sp>
        <p:nvSpPr>
          <p:cNvPr id="277" name="TextBox 19|창상봉합수술"/>
          <p:cNvSpPr txBox="1"/>
          <p:nvPr/>
        </p:nvSpPr>
        <p:spPr>
          <a:xfrm>
            <a:off x="5256000" y="14403599"/>
            <a:ext cx="1655999" cy="151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78" name="L_TextBox 19|수술"/>
          <p:cNvSpPr txBox="1"/>
          <p:nvPr/>
        </p:nvSpPr>
        <p:spPr>
          <a:xfrm>
            <a:off x="3816000" y="14561999"/>
            <a:ext cx="1476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________수술</a:t>
            </a:r>
          </a:p>
        </p:txBody>
      </p:sp>
      <p:sp>
        <p:nvSpPr>
          <p:cNvPr id="280" name="TextBox 19|수술"/>
          <p:cNvSpPr txBox="1"/>
          <p:nvPr/>
        </p:nvSpPr>
        <p:spPr>
          <a:xfrm>
            <a:off x="5256000" y="14576399"/>
            <a:ext cx="1655999" cy="1512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82" name="BAND_T"/>
          <p:cNvSpPr txBox="1"/>
          <p:nvPr/>
        </p:nvSpPr>
        <p:spPr>
          <a:xfrm>
            <a:off x="7236000" y="1745999"/>
            <a:ext cx="2988000" cy="306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r>
              <a:rPr sz="1470" b="1">
                <a:solidFill>
                  <a:srgbClr val="FFFFFF"/>
                </a:solidFill>
                <a:latin typeface="HY엽서M"/>
              </a:rPr>
              <a:t>■  상해 · 후유장해 · 사망</a:t>
            </a:r>
          </a:p>
        </p:txBody>
      </p:sp>
      <p:sp>
        <p:nvSpPr>
          <p:cNvPr id="284" name="TextBox 60"/>
          <p:cNvSpPr txBox="1"/>
          <p:nvPr/>
        </p:nvSpPr>
        <p:spPr>
          <a:xfrm>
            <a:off x="7200000" y="2178000"/>
            <a:ext cx="1922400" cy="27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r>
              <a:rPr sz="1470" b="1">
                <a:solidFill>
                  <a:srgbClr val="0E1E52"/>
                </a:solidFill>
                <a:latin typeface="HY엽서M"/>
              </a:rPr>
              <a:t>상해</a:t>
            </a:r>
            <a:r>
              <a:rPr sz="1470" b="1">
                <a:solidFill>
                  <a:srgbClr val="0E1E52"/>
                </a:solidFill>
                <a:latin typeface="HY엽서M"/>
              </a:rPr>
              <a:t>/</a:t>
            </a:r>
            <a:r>
              <a:rPr sz="1470" b="1">
                <a:solidFill>
                  <a:srgbClr val="0E1E52"/>
                </a:solidFill>
                <a:latin typeface="HY엽서M"/>
              </a:rPr>
              <a:t>기타</a:t>
            </a:r>
          </a:p>
        </p:txBody>
      </p:sp>
      <p:sp>
        <p:nvSpPr>
          <p:cNvPr id="285" name="SUB"/>
          <p:cNvSpPr txBox="1"/>
          <p:nvPr/>
        </p:nvSpPr>
        <p:spPr>
          <a:xfrm>
            <a:off x="7200000" y="2383199"/>
            <a:ext cx="3060000" cy="180000"/>
          </a:xfrm>
          <a:prstGeom prst="rect">
            <a:avLst/>
          </a:prstGeom>
          <a:noFill/>
        </p:spPr>
        <p:txBody>
          <a:bodyPr wrap="none" anchor="t" lIns="54000" rIns="54000" tIns="21600" bIns="21600">
            <a:noAutofit/>
          </a:bodyPr>
          <a:lstStyle/>
          <a:p>
            <a:r>
              <a:rPr sz="910" b="0">
                <a:solidFill>
                  <a:srgbClr val="8A94A6"/>
                </a:solidFill>
                <a:latin typeface="HY엽서M"/>
              </a:rPr>
              <a:t>골절 · 화상 · 깁스 · 응급실 · 일상배상</a:t>
            </a:r>
          </a:p>
        </p:txBody>
      </p:sp>
      <p:sp>
        <p:nvSpPr>
          <p:cNvPr id="286" name="L_TextBox 7|골절(치아포함)"/>
          <p:cNvSpPr txBox="1"/>
          <p:nvPr/>
        </p:nvSpPr>
        <p:spPr>
          <a:xfrm>
            <a:off x="7200000" y="25740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골절(치아포함)</a:t>
            </a:r>
          </a:p>
        </p:txBody>
      </p:sp>
      <p:sp>
        <p:nvSpPr>
          <p:cNvPr id="288" name="TextBox 7|골절(치아포함)"/>
          <p:cNvSpPr txBox="1"/>
          <p:nvPr/>
        </p:nvSpPr>
        <p:spPr>
          <a:xfrm>
            <a:off x="8856000" y="25884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89" name="L_TextBox 7|골절(치아제외)"/>
          <p:cNvSpPr txBox="1"/>
          <p:nvPr/>
        </p:nvSpPr>
        <p:spPr>
          <a:xfrm>
            <a:off x="7200000" y="2775599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골절(치아제외)</a:t>
            </a:r>
          </a:p>
        </p:txBody>
      </p:sp>
      <p:sp>
        <p:nvSpPr>
          <p:cNvPr id="291" name="TextBox 7|골절(치아제외)"/>
          <p:cNvSpPr txBox="1"/>
          <p:nvPr/>
        </p:nvSpPr>
        <p:spPr>
          <a:xfrm>
            <a:off x="8856000" y="2789999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92" name="L_TextBox 7|대골절"/>
          <p:cNvSpPr txBox="1"/>
          <p:nvPr/>
        </p:nvSpPr>
        <p:spPr>
          <a:xfrm>
            <a:off x="7200000" y="29772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5대골절</a:t>
            </a:r>
          </a:p>
        </p:txBody>
      </p:sp>
      <p:sp>
        <p:nvSpPr>
          <p:cNvPr id="294" name="TextBox 7|대골절"/>
          <p:cNvSpPr txBox="1"/>
          <p:nvPr/>
        </p:nvSpPr>
        <p:spPr>
          <a:xfrm>
            <a:off x="8856000" y="2991599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95" name="L_TextBox 7|화상"/>
          <p:cNvSpPr txBox="1"/>
          <p:nvPr/>
        </p:nvSpPr>
        <p:spPr>
          <a:xfrm>
            <a:off x="7200000" y="31788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화상</a:t>
            </a:r>
          </a:p>
        </p:txBody>
      </p:sp>
      <p:sp>
        <p:nvSpPr>
          <p:cNvPr id="297" name="TextBox 7|화상"/>
          <p:cNvSpPr txBox="1"/>
          <p:nvPr/>
        </p:nvSpPr>
        <p:spPr>
          <a:xfrm>
            <a:off x="8856000" y="3193199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298" name="L_TextBox 7|중대화상"/>
          <p:cNvSpPr txBox="1"/>
          <p:nvPr/>
        </p:nvSpPr>
        <p:spPr>
          <a:xfrm>
            <a:off x="7200000" y="33804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중대화상</a:t>
            </a:r>
          </a:p>
        </p:txBody>
      </p:sp>
      <p:sp>
        <p:nvSpPr>
          <p:cNvPr id="300" name="TextBox 7|중대화상"/>
          <p:cNvSpPr txBox="1"/>
          <p:nvPr/>
        </p:nvSpPr>
        <p:spPr>
          <a:xfrm>
            <a:off x="8856000" y="33948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01" name="L_TextBox 7|반깁스"/>
          <p:cNvSpPr txBox="1"/>
          <p:nvPr/>
        </p:nvSpPr>
        <p:spPr>
          <a:xfrm>
            <a:off x="7200000" y="35820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반깁스</a:t>
            </a:r>
          </a:p>
        </p:txBody>
      </p:sp>
      <p:sp>
        <p:nvSpPr>
          <p:cNvPr id="303" name="TextBox 7|반깁스"/>
          <p:cNvSpPr txBox="1"/>
          <p:nvPr/>
        </p:nvSpPr>
        <p:spPr>
          <a:xfrm>
            <a:off x="8856000" y="35964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04" name="L_TextBox 7|깁스"/>
          <p:cNvSpPr txBox="1"/>
          <p:nvPr/>
        </p:nvSpPr>
        <p:spPr>
          <a:xfrm>
            <a:off x="7200000" y="37836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깁스</a:t>
            </a:r>
          </a:p>
        </p:txBody>
      </p:sp>
      <p:sp>
        <p:nvSpPr>
          <p:cNvPr id="306" name="TextBox 7|깁스"/>
          <p:cNvSpPr txBox="1"/>
          <p:nvPr/>
        </p:nvSpPr>
        <p:spPr>
          <a:xfrm>
            <a:off x="8856000" y="37980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07" name="L_TextBox 7|응급실"/>
          <p:cNvSpPr txBox="1"/>
          <p:nvPr/>
        </p:nvSpPr>
        <p:spPr>
          <a:xfrm>
            <a:off x="7200000" y="39852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응급실</a:t>
            </a:r>
          </a:p>
        </p:txBody>
      </p:sp>
      <p:sp>
        <p:nvSpPr>
          <p:cNvPr id="309" name="TextBox 7|응급실"/>
          <p:cNvSpPr txBox="1"/>
          <p:nvPr/>
        </p:nvSpPr>
        <p:spPr>
          <a:xfrm>
            <a:off x="8856000" y="39996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10" name="L_TextBox 7|독감비"/>
          <p:cNvSpPr txBox="1"/>
          <p:nvPr/>
        </p:nvSpPr>
        <p:spPr>
          <a:xfrm>
            <a:off x="7200000" y="41868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독감비</a:t>
            </a:r>
          </a:p>
        </p:txBody>
      </p:sp>
      <p:sp>
        <p:nvSpPr>
          <p:cNvPr id="312" name="TextBox 7|독감비"/>
          <p:cNvSpPr txBox="1"/>
          <p:nvPr/>
        </p:nvSpPr>
        <p:spPr>
          <a:xfrm>
            <a:off x="8856000" y="42012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13" name="L_TextBox 5|일상배상책임"/>
          <p:cNvSpPr txBox="1"/>
          <p:nvPr/>
        </p:nvSpPr>
        <p:spPr>
          <a:xfrm>
            <a:off x="7200000" y="43884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일상배상책임</a:t>
            </a:r>
          </a:p>
        </p:txBody>
      </p:sp>
      <p:sp>
        <p:nvSpPr>
          <p:cNvPr id="315" name="TextBox 5|일상배상책임"/>
          <p:cNvSpPr txBox="1"/>
          <p:nvPr/>
        </p:nvSpPr>
        <p:spPr>
          <a:xfrm>
            <a:off x="8856000" y="44028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17" name="TextBox 91"/>
          <p:cNvSpPr txBox="1"/>
          <p:nvPr/>
        </p:nvSpPr>
        <p:spPr>
          <a:xfrm>
            <a:off x="7200000" y="4860000"/>
            <a:ext cx="1922400" cy="27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r>
              <a:rPr sz="1470" b="1">
                <a:solidFill>
                  <a:srgbClr val="0E1E52"/>
                </a:solidFill>
                <a:latin typeface="HY엽서M"/>
              </a:rPr>
              <a:t>후유장해</a:t>
            </a:r>
          </a:p>
        </p:txBody>
      </p:sp>
      <p:sp>
        <p:nvSpPr>
          <p:cNvPr id="318" name="SUB"/>
          <p:cNvSpPr txBox="1"/>
          <p:nvPr/>
        </p:nvSpPr>
        <p:spPr>
          <a:xfrm>
            <a:off x="7200000" y="5065200"/>
            <a:ext cx="3060000" cy="180000"/>
          </a:xfrm>
          <a:prstGeom prst="rect">
            <a:avLst/>
          </a:prstGeom>
          <a:noFill/>
        </p:spPr>
        <p:txBody>
          <a:bodyPr wrap="none" anchor="t" lIns="54000" rIns="54000" tIns="21600" bIns="21600">
            <a:noAutofit/>
          </a:bodyPr>
          <a:lstStyle/>
          <a:p>
            <a:r>
              <a:rPr sz="910" b="0">
                <a:solidFill>
                  <a:srgbClr val="8A94A6"/>
                </a:solidFill>
                <a:latin typeface="HY엽서M"/>
              </a:rPr>
              <a:t>상해 · 질병 각 3% · 80%</a:t>
            </a:r>
          </a:p>
        </p:txBody>
      </p:sp>
      <p:sp>
        <p:nvSpPr>
          <p:cNvPr id="319" name="L_TextBox 8|질병 3%"/>
          <p:cNvSpPr txBox="1"/>
          <p:nvPr/>
        </p:nvSpPr>
        <p:spPr>
          <a:xfrm>
            <a:off x="7200000" y="52560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질병 3%</a:t>
            </a:r>
          </a:p>
        </p:txBody>
      </p:sp>
      <p:sp>
        <p:nvSpPr>
          <p:cNvPr id="321" name="TextBox 8|질병 3%"/>
          <p:cNvSpPr txBox="1"/>
          <p:nvPr/>
        </p:nvSpPr>
        <p:spPr>
          <a:xfrm>
            <a:off x="8856000" y="52704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22" name="L_TextBox 8|질병 80%"/>
          <p:cNvSpPr txBox="1"/>
          <p:nvPr/>
        </p:nvSpPr>
        <p:spPr>
          <a:xfrm>
            <a:off x="7200000" y="54576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질병 80%</a:t>
            </a:r>
          </a:p>
        </p:txBody>
      </p:sp>
      <p:sp>
        <p:nvSpPr>
          <p:cNvPr id="324" name="TextBox 8|질병 80%"/>
          <p:cNvSpPr txBox="1"/>
          <p:nvPr/>
        </p:nvSpPr>
        <p:spPr>
          <a:xfrm>
            <a:off x="8856000" y="54720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25" name="L_TextBox 8|상해3%"/>
          <p:cNvSpPr txBox="1"/>
          <p:nvPr/>
        </p:nvSpPr>
        <p:spPr>
          <a:xfrm>
            <a:off x="7200000" y="56592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상해 3%</a:t>
            </a:r>
          </a:p>
        </p:txBody>
      </p:sp>
      <p:sp>
        <p:nvSpPr>
          <p:cNvPr id="327" name="TextBox 8|상해3%"/>
          <p:cNvSpPr txBox="1"/>
          <p:nvPr/>
        </p:nvSpPr>
        <p:spPr>
          <a:xfrm>
            <a:off x="8856000" y="56736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28" name="L_TextBox 8|상해 80%"/>
          <p:cNvSpPr txBox="1"/>
          <p:nvPr/>
        </p:nvSpPr>
        <p:spPr>
          <a:xfrm>
            <a:off x="7200000" y="58608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상해 80%</a:t>
            </a:r>
          </a:p>
        </p:txBody>
      </p:sp>
      <p:sp>
        <p:nvSpPr>
          <p:cNvPr id="330" name="TextBox 8|상해 80%"/>
          <p:cNvSpPr txBox="1"/>
          <p:nvPr/>
        </p:nvSpPr>
        <p:spPr>
          <a:xfrm>
            <a:off x="8856000" y="58752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31" name="L_TextBox 8|교통후유장해"/>
          <p:cNvSpPr txBox="1"/>
          <p:nvPr/>
        </p:nvSpPr>
        <p:spPr>
          <a:xfrm>
            <a:off x="7200000" y="60624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교통후유장해(%)</a:t>
            </a:r>
          </a:p>
        </p:txBody>
      </p:sp>
      <p:sp>
        <p:nvSpPr>
          <p:cNvPr id="333" name="TextBox 8|교통후유장해"/>
          <p:cNvSpPr txBox="1"/>
          <p:nvPr/>
        </p:nvSpPr>
        <p:spPr>
          <a:xfrm>
            <a:off x="8856000" y="60768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35" name="TextBox 66"/>
          <p:cNvSpPr txBox="1"/>
          <p:nvPr/>
        </p:nvSpPr>
        <p:spPr>
          <a:xfrm>
            <a:off x="7200000" y="6534000"/>
            <a:ext cx="1922400" cy="27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r>
              <a:rPr sz="1470" b="1">
                <a:solidFill>
                  <a:srgbClr val="0E1E52"/>
                </a:solidFill>
                <a:latin typeface="HY엽서M"/>
              </a:rPr>
              <a:t>사망</a:t>
            </a:r>
          </a:p>
        </p:txBody>
      </p:sp>
      <p:sp>
        <p:nvSpPr>
          <p:cNvPr id="336" name="SUB"/>
          <p:cNvSpPr txBox="1"/>
          <p:nvPr/>
        </p:nvSpPr>
        <p:spPr>
          <a:xfrm>
            <a:off x="7200000" y="6739200"/>
            <a:ext cx="3060000" cy="180000"/>
          </a:xfrm>
          <a:prstGeom prst="rect">
            <a:avLst/>
          </a:prstGeom>
          <a:noFill/>
        </p:spPr>
        <p:txBody>
          <a:bodyPr wrap="none" anchor="t" lIns="54000" rIns="54000" tIns="21600" bIns="21600">
            <a:noAutofit/>
          </a:bodyPr>
          <a:lstStyle/>
          <a:p>
            <a:r>
              <a:rPr sz="910" b="0">
                <a:solidFill>
                  <a:srgbClr val="8A94A6"/>
                </a:solidFill>
                <a:latin typeface="HY엽서M"/>
              </a:rPr>
              <a:t>질병 · 상해 · 종신</a:t>
            </a:r>
          </a:p>
        </p:txBody>
      </p:sp>
      <p:sp>
        <p:nvSpPr>
          <p:cNvPr id="337" name="L_TextBox 10|세"/>
          <p:cNvSpPr txBox="1"/>
          <p:nvPr/>
        </p:nvSpPr>
        <p:spPr>
          <a:xfrm>
            <a:off x="7200000" y="69300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질병사망 - ___세</a:t>
            </a:r>
          </a:p>
        </p:txBody>
      </p:sp>
      <p:sp>
        <p:nvSpPr>
          <p:cNvPr id="339" name="TextBox 10|세"/>
          <p:cNvSpPr txBox="1"/>
          <p:nvPr/>
        </p:nvSpPr>
        <p:spPr>
          <a:xfrm>
            <a:off x="8856000" y="69444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40" name="L_TextBox 10|80세"/>
          <p:cNvSpPr txBox="1"/>
          <p:nvPr/>
        </p:nvSpPr>
        <p:spPr>
          <a:xfrm>
            <a:off x="7200000" y="71316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질병사망 80세</a:t>
            </a:r>
          </a:p>
        </p:txBody>
      </p:sp>
      <p:sp>
        <p:nvSpPr>
          <p:cNvPr id="342" name="TextBox 10|80세"/>
          <p:cNvSpPr txBox="1"/>
          <p:nvPr/>
        </p:nvSpPr>
        <p:spPr>
          <a:xfrm>
            <a:off x="8856000" y="71460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43" name="L_TextBox 10|종신"/>
          <p:cNvSpPr txBox="1"/>
          <p:nvPr/>
        </p:nvSpPr>
        <p:spPr>
          <a:xfrm>
            <a:off x="7200000" y="73332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질병사망 종신</a:t>
            </a:r>
          </a:p>
        </p:txBody>
      </p:sp>
      <p:sp>
        <p:nvSpPr>
          <p:cNvPr id="345" name="TextBox 10|종신"/>
          <p:cNvSpPr txBox="1"/>
          <p:nvPr/>
        </p:nvSpPr>
        <p:spPr>
          <a:xfrm>
            <a:off x="8856000" y="73476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46" name="L_TextBox 11|상해사망"/>
          <p:cNvSpPr txBox="1"/>
          <p:nvPr/>
        </p:nvSpPr>
        <p:spPr>
          <a:xfrm>
            <a:off x="7200000" y="75348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상해사망</a:t>
            </a:r>
          </a:p>
        </p:txBody>
      </p:sp>
      <p:sp>
        <p:nvSpPr>
          <p:cNvPr id="348" name="TextBox 11|상해사망"/>
          <p:cNvSpPr txBox="1"/>
          <p:nvPr/>
        </p:nvSpPr>
        <p:spPr>
          <a:xfrm>
            <a:off x="8856000" y="75492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50" name="BAND_T"/>
          <p:cNvSpPr txBox="1"/>
          <p:nvPr/>
        </p:nvSpPr>
        <p:spPr>
          <a:xfrm>
            <a:off x="7236000" y="8024400"/>
            <a:ext cx="2988000" cy="306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r>
              <a:rPr sz="1470" b="1">
                <a:solidFill>
                  <a:srgbClr val="FFFFFF"/>
                </a:solidFill>
                <a:latin typeface="HY엽서M"/>
              </a:rPr>
              <a:t>■  입원 · 간병</a:t>
            </a:r>
          </a:p>
        </p:txBody>
      </p:sp>
      <p:sp>
        <p:nvSpPr>
          <p:cNvPr id="352" name="TextBox 61"/>
          <p:cNvSpPr txBox="1"/>
          <p:nvPr/>
        </p:nvSpPr>
        <p:spPr>
          <a:xfrm>
            <a:off x="7200000" y="8456400"/>
            <a:ext cx="1922400" cy="27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r>
              <a:rPr sz="1470" b="1">
                <a:solidFill>
                  <a:srgbClr val="0E1E52"/>
                </a:solidFill>
                <a:latin typeface="HY엽서M"/>
              </a:rPr>
              <a:t>입원</a:t>
            </a:r>
            <a:r>
              <a:rPr sz="1470" b="1">
                <a:solidFill>
                  <a:srgbClr val="0E1E52"/>
                </a:solidFill>
                <a:latin typeface="HY엽서M"/>
              </a:rPr>
              <a:t>/</a:t>
            </a:r>
            <a:r>
              <a:rPr sz="1470" b="1">
                <a:solidFill>
                  <a:srgbClr val="0E1E52"/>
                </a:solidFill>
                <a:latin typeface="HY엽서M"/>
              </a:rPr>
              <a:t>간병</a:t>
            </a:r>
          </a:p>
        </p:txBody>
      </p:sp>
      <p:sp>
        <p:nvSpPr>
          <p:cNvPr id="353" name="SUB"/>
          <p:cNvSpPr txBox="1"/>
          <p:nvPr/>
        </p:nvSpPr>
        <p:spPr>
          <a:xfrm>
            <a:off x="7200000" y="8661600"/>
            <a:ext cx="3060000" cy="180000"/>
          </a:xfrm>
          <a:prstGeom prst="rect">
            <a:avLst/>
          </a:prstGeom>
          <a:noFill/>
        </p:spPr>
        <p:txBody>
          <a:bodyPr wrap="none" anchor="t" lIns="54000" rIns="54000" tIns="21600" bIns="21600">
            <a:noAutofit/>
          </a:bodyPr>
          <a:lstStyle/>
          <a:p>
            <a:r>
              <a:rPr sz="910" b="0">
                <a:solidFill>
                  <a:srgbClr val="8A94A6"/>
                </a:solidFill>
                <a:latin typeface="HY엽서M"/>
              </a:rPr>
              <a:t>일당 · 중환자실 · 1인실 · 간병인</a:t>
            </a:r>
          </a:p>
        </p:txBody>
      </p:sp>
      <p:sp>
        <p:nvSpPr>
          <p:cNvPr id="354" name="L_TextBox 22|질병일당"/>
          <p:cNvSpPr txBox="1"/>
          <p:nvPr/>
        </p:nvSpPr>
        <p:spPr>
          <a:xfrm>
            <a:off x="7200000" y="88524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질병일당</a:t>
            </a:r>
          </a:p>
        </p:txBody>
      </p:sp>
      <p:sp>
        <p:nvSpPr>
          <p:cNvPr id="356" name="TextBox 22|질병일당"/>
          <p:cNvSpPr txBox="1"/>
          <p:nvPr/>
        </p:nvSpPr>
        <p:spPr>
          <a:xfrm>
            <a:off x="8856000" y="88668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57" name="L_TextBox 22|질병종합병원일당"/>
          <p:cNvSpPr txBox="1"/>
          <p:nvPr/>
        </p:nvSpPr>
        <p:spPr>
          <a:xfrm>
            <a:off x="7200000" y="90540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질병종합병원일당</a:t>
            </a:r>
          </a:p>
        </p:txBody>
      </p:sp>
      <p:sp>
        <p:nvSpPr>
          <p:cNvPr id="359" name="TextBox 22|질병종합병원일당"/>
          <p:cNvSpPr txBox="1"/>
          <p:nvPr/>
        </p:nvSpPr>
        <p:spPr>
          <a:xfrm>
            <a:off x="8856000" y="90684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60" name="L_TextBox 22|상해일당"/>
          <p:cNvSpPr txBox="1"/>
          <p:nvPr/>
        </p:nvSpPr>
        <p:spPr>
          <a:xfrm>
            <a:off x="7200000" y="92556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상해일당</a:t>
            </a:r>
          </a:p>
        </p:txBody>
      </p:sp>
      <p:sp>
        <p:nvSpPr>
          <p:cNvPr id="362" name="TextBox 22|상해일당"/>
          <p:cNvSpPr txBox="1"/>
          <p:nvPr/>
        </p:nvSpPr>
        <p:spPr>
          <a:xfrm>
            <a:off x="8856000" y="92700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63" name="L_TextBox 22|상해종합병원일당"/>
          <p:cNvSpPr txBox="1"/>
          <p:nvPr/>
        </p:nvSpPr>
        <p:spPr>
          <a:xfrm>
            <a:off x="7200000" y="94572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상해종합병원일당</a:t>
            </a:r>
          </a:p>
        </p:txBody>
      </p:sp>
      <p:sp>
        <p:nvSpPr>
          <p:cNvPr id="365" name="TextBox 22|상해종합병원일당"/>
          <p:cNvSpPr txBox="1"/>
          <p:nvPr/>
        </p:nvSpPr>
        <p:spPr>
          <a:xfrm>
            <a:off x="8856000" y="94716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66" name="L_TextBox 22|질병중환자실"/>
          <p:cNvSpPr txBox="1"/>
          <p:nvPr/>
        </p:nvSpPr>
        <p:spPr>
          <a:xfrm>
            <a:off x="7200000" y="96588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질병중환자실</a:t>
            </a:r>
          </a:p>
        </p:txBody>
      </p:sp>
      <p:sp>
        <p:nvSpPr>
          <p:cNvPr id="368" name="TextBox 22|질병중환자실"/>
          <p:cNvSpPr txBox="1"/>
          <p:nvPr/>
        </p:nvSpPr>
        <p:spPr>
          <a:xfrm>
            <a:off x="8856000" y="96732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69" name="L_TextBox 22|상해중환자실"/>
          <p:cNvSpPr txBox="1"/>
          <p:nvPr/>
        </p:nvSpPr>
        <p:spPr>
          <a:xfrm>
            <a:off x="7200000" y="9860399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상해중환자실</a:t>
            </a:r>
          </a:p>
        </p:txBody>
      </p:sp>
      <p:sp>
        <p:nvSpPr>
          <p:cNvPr id="371" name="TextBox 22|상해중환자실"/>
          <p:cNvSpPr txBox="1"/>
          <p:nvPr/>
        </p:nvSpPr>
        <p:spPr>
          <a:xfrm>
            <a:off x="8856000" y="9874799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72" name="L_TextBox 22|인실 상급병원일당"/>
          <p:cNvSpPr txBox="1"/>
          <p:nvPr/>
        </p:nvSpPr>
        <p:spPr>
          <a:xfrm>
            <a:off x="7200000" y="10061999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1인실 상급병원일당</a:t>
            </a:r>
          </a:p>
        </p:txBody>
      </p:sp>
      <p:sp>
        <p:nvSpPr>
          <p:cNvPr id="374" name="TextBox 22|인실 상급병원일당"/>
          <p:cNvSpPr txBox="1"/>
          <p:nvPr/>
        </p:nvSpPr>
        <p:spPr>
          <a:xfrm>
            <a:off x="8856000" y="10076399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75" name="L_TextBox 22|인실 종합병원일당"/>
          <p:cNvSpPr txBox="1"/>
          <p:nvPr/>
        </p:nvSpPr>
        <p:spPr>
          <a:xfrm>
            <a:off x="7200000" y="10263599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1인실 종합병원일당</a:t>
            </a:r>
          </a:p>
        </p:txBody>
      </p:sp>
      <p:sp>
        <p:nvSpPr>
          <p:cNvPr id="377" name="TextBox 22|인실 종합병원일당"/>
          <p:cNvSpPr txBox="1"/>
          <p:nvPr/>
        </p:nvSpPr>
        <p:spPr>
          <a:xfrm>
            <a:off x="8856000" y="10277999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78" name="L_TextBox 22|암일당"/>
          <p:cNvSpPr txBox="1"/>
          <p:nvPr/>
        </p:nvSpPr>
        <p:spPr>
          <a:xfrm>
            <a:off x="7200000" y="10465199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암일당</a:t>
            </a:r>
          </a:p>
        </p:txBody>
      </p:sp>
      <p:sp>
        <p:nvSpPr>
          <p:cNvPr id="380" name="TextBox 22|암일당"/>
          <p:cNvSpPr txBox="1"/>
          <p:nvPr/>
        </p:nvSpPr>
        <p:spPr>
          <a:xfrm>
            <a:off x="8856000" y="10479599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81" name="L_TextBox 22|일당"/>
          <p:cNvSpPr txBox="1"/>
          <p:nvPr/>
        </p:nvSpPr>
        <p:spPr>
          <a:xfrm>
            <a:off x="7200000" y="10666799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_______일당</a:t>
            </a:r>
          </a:p>
        </p:txBody>
      </p:sp>
      <p:sp>
        <p:nvSpPr>
          <p:cNvPr id="383" name="TextBox 22|일당"/>
          <p:cNvSpPr txBox="1"/>
          <p:nvPr/>
        </p:nvSpPr>
        <p:spPr>
          <a:xfrm>
            <a:off x="8856000" y="10681199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84" name="L_TextBox 22|간병인 사용일당"/>
          <p:cNvSpPr txBox="1"/>
          <p:nvPr/>
        </p:nvSpPr>
        <p:spPr>
          <a:xfrm>
            <a:off x="7200000" y="10868399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간병인 사용일당</a:t>
            </a:r>
          </a:p>
        </p:txBody>
      </p:sp>
      <p:sp>
        <p:nvSpPr>
          <p:cNvPr id="386" name="TextBox 22|간병인 사용일당"/>
          <p:cNvSpPr txBox="1"/>
          <p:nvPr/>
        </p:nvSpPr>
        <p:spPr>
          <a:xfrm>
            <a:off x="8856000" y="10882799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87" name="L_TextBox 22|요양병원 간병인"/>
          <p:cNvSpPr txBox="1"/>
          <p:nvPr/>
        </p:nvSpPr>
        <p:spPr>
          <a:xfrm>
            <a:off x="7200000" y="11069999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요양병원 간병인</a:t>
            </a:r>
          </a:p>
        </p:txBody>
      </p:sp>
      <p:sp>
        <p:nvSpPr>
          <p:cNvPr id="389" name="TextBox 22|요양병원 간병인"/>
          <p:cNvSpPr txBox="1"/>
          <p:nvPr/>
        </p:nvSpPr>
        <p:spPr>
          <a:xfrm>
            <a:off x="8856000" y="11084399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90" name="L_TextBox 22|간호통합병동일당"/>
          <p:cNvSpPr txBox="1"/>
          <p:nvPr/>
        </p:nvSpPr>
        <p:spPr>
          <a:xfrm>
            <a:off x="7200000" y="11271599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간호통합병동일당</a:t>
            </a:r>
          </a:p>
        </p:txBody>
      </p:sp>
      <p:sp>
        <p:nvSpPr>
          <p:cNvPr id="392" name="TextBox 22|간호통합병동일당"/>
          <p:cNvSpPr txBox="1"/>
          <p:nvPr/>
        </p:nvSpPr>
        <p:spPr>
          <a:xfrm>
            <a:off x="8856000" y="11285999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93" name="L_TextBox 22|간병인지원일당"/>
          <p:cNvSpPr txBox="1"/>
          <p:nvPr/>
        </p:nvSpPr>
        <p:spPr>
          <a:xfrm>
            <a:off x="7200000" y="11473199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간병인지원일당</a:t>
            </a:r>
          </a:p>
        </p:txBody>
      </p:sp>
      <p:sp>
        <p:nvSpPr>
          <p:cNvPr id="395" name="TextBox 22|간병인지원일당"/>
          <p:cNvSpPr txBox="1"/>
          <p:nvPr/>
        </p:nvSpPr>
        <p:spPr>
          <a:xfrm>
            <a:off x="8856000" y="11487599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397" name="BAND_T"/>
          <p:cNvSpPr txBox="1"/>
          <p:nvPr/>
        </p:nvSpPr>
        <p:spPr>
          <a:xfrm>
            <a:off x="7236000" y="11962800"/>
            <a:ext cx="2988000" cy="306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r>
              <a:rPr sz="1470" b="1">
                <a:solidFill>
                  <a:srgbClr val="FFFFFF"/>
                </a:solidFill>
                <a:latin typeface="HY엽서M"/>
              </a:rPr>
              <a:t>■  실손</a:t>
            </a:r>
          </a:p>
        </p:txBody>
      </p:sp>
      <p:sp>
        <p:nvSpPr>
          <p:cNvPr id="399" name="TextBox 59"/>
          <p:cNvSpPr txBox="1"/>
          <p:nvPr/>
        </p:nvSpPr>
        <p:spPr>
          <a:xfrm>
            <a:off x="7200000" y="12376800"/>
            <a:ext cx="3060000" cy="468000"/>
          </a:xfrm>
          <a:prstGeom prst="rect">
            <a:avLst/>
          </a:prstGeom>
          <a:noFill/>
        </p:spPr>
        <p:txBody>
          <a:bodyPr wrap="none" anchor="t" lIns="54000" rIns="54000" tIns="21600" bIns="21600">
            <a:noAutofit/>
          </a:bodyPr>
          <a:lstStyle/>
          <a:p>
            <a:r>
              <a:rPr sz="1470" b="1">
                <a:solidFill>
                  <a:srgbClr val="0E1E52"/>
                </a:solidFill>
                <a:latin typeface="HY엽서M"/>
              </a:rPr>
              <a:t>실손</a:t>
            </a:r>
          </a:p>
          <a:p>
            <a:r>
              <a:rPr sz="910" b="0">
                <a:solidFill>
                  <a:srgbClr val="8A94A6"/>
                </a:solidFill>
                <a:latin typeface="HY엽서M"/>
              </a:rPr>
              <a:t>(</a:t>
            </a:r>
            <a:r>
              <a:rPr sz="910" b="0">
                <a:solidFill>
                  <a:srgbClr val="8A94A6"/>
                </a:solidFill>
                <a:latin typeface="HY엽서M"/>
              </a:rPr>
              <a:t>가입일:</a:t>
            </a:r>
            <a:r>
              <a:rPr sz="910" b="0">
                <a:solidFill>
                  <a:srgbClr val="8A94A6"/>
                </a:solidFill>
                <a:latin typeface="HY엽서M"/>
              </a:rPr>
              <a:t>___________)</a:t>
            </a:r>
          </a:p>
        </p:txBody>
      </p:sp>
      <p:sp>
        <p:nvSpPr>
          <p:cNvPr id="400" name="L_TextBox 6|입원"/>
          <p:cNvSpPr txBox="1"/>
          <p:nvPr/>
        </p:nvSpPr>
        <p:spPr>
          <a:xfrm>
            <a:off x="7200000" y="128268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입원</a:t>
            </a:r>
          </a:p>
        </p:txBody>
      </p:sp>
      <p:sp>
        <p:nvSpPr>
          <p:cNvPr id="402" name="TextBox 6|입원"/>
          <p:cNvSpPr txBox="1"/>
          <p:nvPr/>
        </p:nvSpPr>
        <p:spPr>
          <a:xfrm>
            <a:off x="8856000" y="128412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403" name="L_TextBox 6|통원"/>
          <p:cNvSpPr txBox="1"/>
          <p:nvPr/>
        </p:nvSpPr>
        <p:spPr>
          <a:xfrm>
            <a:off x="7200000" y="130284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통원</a:t>
            </a:r>
          </a:p>
        </p:txBody>
      </p:sp>
      <p:sp>
        <p:nvSpPr>
          <p:cNvPr id="405" name="TextBox 6|통원"/>
          <p:cNvSpPr txBox="1"/>
          <p:nvPr/>
        </p:nvSpPr>
        <p:spPr>
          <a:xfrm>
            <a:off x="8856000" y="130428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406" name="L_TextBox 6|약"/>
          <p:cNvSpPr txBox="1"/>
          <p:nvPr/>
        </p:nvSpPr>
        <p:spPr>
          <a:xfrm>
            <a:off x="7200000" y="132300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약</a:t>
            </a:r>
          </a:p>
        </p:txBody>
      </p:sp>
      <p:sp>
        <p:nvSpPr>
          <p:cNvPr id="408" name="TextBox 6|약"/>
          <p:cNvSpPr txBox="1"/>
          <p:nvPr/>
        </p:nvSpPr>
        <p:spPr>
          <a:xfrm>
            <a:off x="8856000" y="132444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409" name="L_TextBox 6|MRI"/>
          <p:cNvSpPr txBox="1"/>
          <p:nvPr/>
        </p:nvSpPr>
        <p:spPr>
          <a:xfrm>
            <a:off x="7200000" y="134316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MRI</a:t>
            </a:r>
          </a:p>
        </p:txBody>
      </p:sp>
      <p:sp>
        <p:nvSpPr>
          <p:cNvPr id="411" name="TextBox 6|MRI"/>
          <p:cNvSpPr txBox="1"/>
          <p:nvPr/>
        </p:nvSpPr>
        <p:spPr>
          <a:xfrm>
            <a:off x="8856000" y="134460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412" name="L_TextBox 6|도수치료"/>
          <p:cNvSpPr txBox="1"/>
          <p:nvPr/>
        </p:nvSpPr>
        <p:spPr>
          <a:xfrm>
            <a:off x="7200000" y="136332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도수치료</a:t>
            </a:r>
          </a:p>
        </p:txBody>
      </p:sp>
      <p:sp>
        <p:nvSpPr>
          <p:cNvPr id="414" name="TextBox 6|도수치료"/>
          <p:cNvSpPr txBox="1"/>
          <p:nvPr/>
        </p:nvSpPr>
        <p:spPr>
          <a:xfrm>
            <a:off x="8856000" y="136476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415" name="L_TextBox 6|비급여주사"/>
          <p:cNvSpPr txBox="1"/>
          <p:nvPr/>
        </p:nvSpPr>
        <p:spPr>
          <a:xfrm>
            <a:off x="7200000" y="138348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비급여주사</a:t>
            </a:r>
          </a:p>
        </p:txBody>
      </p:sp>
      <p:sp>
        <p:nvSpPr>
          <p:cNvPr id="417" name="TextBox 6|비급여주사"/>
          <p:cNvSpPr txBox="1"/>
          <p:nvPr/>
        </p:nvSpPr>
        <p:spPr>
          <a:xfrm>
            <a:off x="8856000" y="138492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418" name="L_TextBox 6|상해의료비"/>
          <p:cNvSpPr txBox="1"/>
          <p:nvPr/>
        </p:nvSpPr>
        <p:spPr>
          <a:xfrm>
            <a:off x="7200000" y="14036400"/>
            <a:ext cx="1692000" cy="208800"/>
          </a:xfrm>
          <a:prstGeom prst="rect">
            <a:avLst/>
          </a:prstGeom>
          <a:noFill/>
        </p:spPr>
        <p:txBody>
          <a:bodyPr wrap="none" anchor="ctr" lIns="18000" rIns="18000" tIns="21600" bIns="21600">
            <a:noAutofit/>
          </a:bodyPr>
          <a:lstStyle/>
          <a:p>
            <a:r>
              <a:rPr sz="1400" b="0">
                <a:solidFill>
                  <a:srgbClr val="4A556B"/>
                </a:solidFill>
                <a:latin typeface="HY엽서M"/>
              </a:rPr>
              <a:t>상해의료비</a:t>
            </a:r>
          </a:p>
        </p:txBody>
      </p:sp>
      <p:sp>
        <p:nvSpPr>
          <p:cNvPr id="420" name="TextBox 6|상해의료비"/>
          <p:cNvSpPr txBox="1"/>
          <p:nvPr/>
        </p:nvSpPr>
        <p:spPr>
          <a:xfrm>
            <a:off x="8856000" y="14050800"/>
            <a:ext cx="1440000" cy="180000"/>
          </a:xfrm>
          <a:prstGeom prst="rect">
            <a:avLst/>
          </a:prstGeom>
          <a:noFill/>
        </p:spPr>
        <p:txBody>
          <a:bodyPr wrap="none" anchor="ctr" lIns="54000" rIns="54000" tIns="21600" bIns="21600">
            <a:noAutofit/>
          </a:bodyPr>
          <a:lstStyle/>
          <a:p>
            <a:pPr algn="r"/>
            <a:r>
              <a:rPr sz="1189" b="1">
                <a:solidFill>
                  <a:srgbClr val="0E1E52"/>
                </a:solidFill>
                <a:latin typeface="HY엽서M"/>
              </a:rPr>
              <a:t/>
            </a:r>
          </a:p>
        </p:txBody>
      </p:sp>
      <p:sp>
        <p:nvSpPr>
          <p:cNvPr id="422" name="FTR_BRAND"/>
          <p:cNvSpPr txBox="1"/>
          <p:nvPr/>
        </p:nvSpPr>
        <p:spPr>
          <a:xfrm>
            <a:off x="360000" y="14886000"/>
            <a:ext cx="4320000" cy="234000"/>
          </a:xfrm>
          <a:prstGeom prst="rect">
            <a:avLst/>
          </a:prstGeom>
          <a:noFill/>
        </p:spPr>
        <p:txBody>
          <a:bodyPr wrap="square" anchor="ctr" lIns="54000" rIns="54000" tIns="21600" bIns="21600">
            <a:noAutofit/>
          </a:bodyPr>
          <a:lstStyle/>
          <a:p>
            <a:r>
              <a:rPr sz="979" b="1">
                <a:solidFill>
                  <a:srgbClr val="FFFFFF"/>
                </a:solidFill>
                <a:latin typeface="HY엽서M"/>
              </a:rPr>
              <a:t>MAKEONE 보장분석 자동화</a:t>
            </a:r>
          </a:p>
        </p:txBody>
      </p:sp>
      <p:sp>
        <p:nvSpPr>
          <p:cNvPr id="423" name="TextBox 38"/>
          <p:cNvSpPr txBox="1"/>
          <p:nvPr/>
        </p:nvSpPr>
        <p:spPr>
          <a:xfrm>
            <a:off x="4320000" y="14886000"/>
            <a:ext cx="6012000" cy="234000"/>
          </a:xfrm>
          <a:prstGeom prst="rect">
            <a:avLst/>
          </a:prstGeom>
          <a:noFill/>
        </p:spPr>
        <p:txBody>
          <a:bodyPr wrap="square" anchor="ctr" lIns="54000" rIns="54000" tIns="21600" bIns="21600">
            <a:noAutofit/>
          </a:bodyPr>
          <a:lstStyle/>
          <a:p>
            <a:pPr algn="r"/>
            <a:r>
              <a:rPr sz="979" b="0">
                <a:solidFill>
                  <a:srgbClr val="C9D0E0"/>
                </a:solidFill>
                <a:latin typeface="HY엽서M"/>
              </a:rPr>
              <a:t>참고용 입니다</a:t>
            </a:r>
            <a:r>
              <a:rPr sz="979" b="0">
                <a:solidFill>
                  <a:srgbClr val="C9D0E0"/>
                </a:solidFill>
                <a:latin typeface="HY엽서M"/>
              </a:rPr>
              <a:t> </a:t>
            </a:r>
            <a:r>
              <a:rPr sz="979" b="0">
                <a:solidFill>
                  <a:srgbClr val="C9D0E0"/>
                </a:solidFill>
                <a:latin typeface="HY엽서M"/>
              </a:rPr>
              <a:t>자세한건</a:t>
            </a:r>
            <a:r>
              <a:rPr sz="979" b="0">
                <a:solidFill>
                  <a:srgbClr val="C9D0E0"/>
                </a:solidFill>
                <a:latin typeface="HY엽서M"/>
              </a:rPr>
              <a:t> 증권을 확인해주세요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