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0" r:id="rId7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1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DECC7-735D-B6C5-D2A5-1F5B0C68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C2FDA2-0B68-2096-41D9-F8F7F61E58A2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r>
              <a:t>질병 3% : 미가입</a:t>
            </a:r>
          </a:p>
          <a:p>
            <a:r>
              <a:t>질병 80% : 미가입</a:t>
            </a:r>
          </a:p>
          <a:p>
            <a:r>
              <a:t>상해3% : 미가입</a:t>
            </a:r>
          </a:p>
          <a:p>
            <a:r>
              <a:t>상해 80% : 미가입</a:t>
            </a:r>
          </a:p>
          <a:p>
            <a:r>
              <a:t>교통후유장해(       %)  </a:t>
            </a:r>
          </a:p>
          <a:p/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26F667-2D02-695E-AC54-46B14A5985B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r>
              <a:t>대인 : 7천만</a:t>
            </a:r>
          </a:p>
          <a:p>
            <a:r>
              <a:t>대물 : 1500만</a:t>
            </a:r>
          </a:p>
          <a:p>
            <a:r>
              <a:t>합의금 : 5억2천만</a:t>
            </a:r>
          </a:p>
          <a:p>
            <a:r>
              <a:t>6주미만 : 미가입</a:t>
            </a:r>
          </a:p>
          <a:p>
            <a:r>
              <a:t>변호사비 : 1억5천만</a:t>
            </a:r>
          </a:p>
          <a:p>
            <a:r>
              <a:t>자부상 : 60만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28FDE7-C4C5-8E25-3012-E077B793D30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r>
              <a:t>치매 : 미가입</a:t>
            </a:r>
          </a:p>
          <a:p>
            <a:r>
              <a:t>재가 : 미가입</a:t>
            </a:r>
          </a:p>
          <a:p>
            <a:r>
              <a:t>노치원 : 미가입</a:t>
            </a:r>
          </a:p>
          <a:p>
            <a:r>
              <a:t>시설 : 미가입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914357-0451-DD17-472A-EF06157D782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r>
              <a:t>크라운 : 미가입</a:t>
            </a:r>
          </a:p>
          <a:p>
            <a:r>
              <a:t>임플란트 : 미가입</a:t>
            </a:r>
          </a:p>
          <a:p>
            <a:r>
              <a:t>기타 : 미가입</a:t>
            </a:r>
          </a:p>
          <a:p>
            <a:r>
              <a:t>화재보험 : 미가입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CA35EEA-8312-BEDB-774D-FD4B2B58D0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C9D36AB3-E1D7-75A1-2C8D-D4D0145CCA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89D81F1E-1556-18FD-DEBA-F813E0382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97CA36D-CBB3-80E6-8AEF-1C8BFD17A7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2FD594E-B013-DD31-0E52-25AB3F0336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2C030499-E2D2-1D81-C7E7-231F64BCF5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D11BC3D-8A1B-7AED-E7C6-61D3099C8E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4129930-DD9F-1B53-A93B-B2FC7E7508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4043DC-09C1-0428-6614-E5678311FF6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8640" y="273471"/>
              <a:ext cx="3383280" cy="40011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t>*님의 보장</a:t>
              </a: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8A05753-FEF4-1DCB-0E99-3EBA3A61CEB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BB05DC9-9210-ECB4-1A30-38557D5A25B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1BDB802-1FE5-E3BF-42A0-4AD513D9D7E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7C4F98-7A2D-D03B-D6FB-D03ACFAE5C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endParaRPr/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344EA8C-0AB9-C8FB-BA1E-03F2BB233E7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47A09FF-F512-DD16-7826-9DCC4A03355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endParaRPr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0D2384A-7101-10EF-F8C6-4ECF2A8A2F5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1D41D44-7284-00C7-0B81-73CA9B29FFF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normAutofit/>
            </a:bodyPr>
            <a:lstStyle/>
            <a:p>
              <a:pPr algn="ctr"/>
              <a:r>
                <a:rPr lang="ko-KR" altLang="en-US" sz="1050" b="1" dirty="0">
                  <a:solidFill>
                    <a:srgbClr val="000000"/>
                  </a:solidFill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solidFill>
                    <a:srgbClr val="000000"/>
                  </a:solidFill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solidFill>
                    <a:srgbClr val="000000"/>
                  </a:solidFill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solidFill>
                    <a:srgbClr val="000000"/>
                  </a:solidFill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solidFill>
                    <a:srgbClr val="000000"/>
                  </a:solidFill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0BEC2C4-A928-2D53-E884-FE81197833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911659E-AA37-7F9B-6F1F-2F0F6C6B89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14B4EA-0A1C-3F2F-88D5-1B0D8EA33F5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A190480A-1589-488D-5AB5-D9428E4489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F27CF28-3E9D-8A88-107B-8305C79AF1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73824E3-DA8F-737D-2DFC-3F1F85A655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CFF8121-BECC-19F2-5CA0-B53D1D7374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100" dirty="0">
                  <a:solidFill>
                    <a:srgbClr val="00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B1C38A1-318B-2107-E365-632958A4F3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100" dirty="0" err="1">
                  <a:solidFill>
                    <a:srgbClr val="00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8AB0CD3-DEC6-0584-01DB-D57A832D2E3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norm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</a:rPr>
                <a:t>1천만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C6BF93B-C425-2D61-38E9-227F31C582B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r>
                <a:t>산정특례(뇌혈관) : 미가입</a:t>
              </a:r>
            </a:p>
            <a:p>
              <a:r>
                <a:t>혈전용해치료비 : 미가입</a:t>
              </a:r>
            </a:p>
            <a:p>
              <a:r>
                <a:t>2대주요치료비 : 미가입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BC1592A-DF89-CADE-EFDF-CE138E111D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100" dirty="0">
                  <a:solidFill>
                    <a:srgbClr val="00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9933AF8-76F8-B973-27D9-A470D40A6A6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100" dirty="0">
                  <a:solidFill>
                    <a:srgbClr val="00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89A88E0-9FA2-A350-A272-919E533ED326}"/>
                </a:ext>
              </a:extLst>
            </p:cNvPr>
            <p:cNvSpPr txBox="1">
              <a:spLocks/>
            </p:cNvSpPr>
            <p:nvPr/>
          </p:nvSpPr>
          <p:spPr>
            <a:xfrm>
              <a:off x="4431742" y="2426118"/>
              <a:ext cx="1398848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100" dirty="0">
                  <a:solidFill>
                    <a:srgbClr val="00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급성심근경색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B573A61-1897-AC49-72EF-B2D07214A1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r>
                <a:t>산정특례(심장) : 미가입</a:t>
              </a:r>
            </a:p>
            <a:p>
              <a:r>
                <a:t>혈전용해치료비 : 미가입</a:t>
              </a:r>
            </a:p>
            <a:p>
              <a:r>
                <a:t>2대주요치료비 : 미가입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199A641-F049-F8E2-8EA4-67462256927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r>
                <a:t>암주요(고액) : 미가입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EA1928A-5AB0-C965-DD83-18259794E2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21CFFEA-C8DF-6CD5-211E-6EABD11471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t>실손</a:t>
              </a:r>
            </a:p>
            <a:p>
              <a:r>
                <a:t>(가입일  : 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2437064-05CD-A12A-8D47-AB9DD9F0CAA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873DA0F-68D2-9BD5-B8AD-3AF7153E96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DB960B48-9B44-D986-1952-E9EC04991E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89DDF1B-EC29-2485-FD46-0BDC771E78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C1A9F02C-D5C6-8A06-EFAC-512917281B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0FB2B8AB-3033-77D4-40D9-7926A040F5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BD9C0190-BCB4-C9ED-2842-DF93310C9B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4CF05697-CCA4-11EE-3BCC-8D08B484C5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ABB4DB7-2BCB-DA1A-D77A-F5A0B45E12D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888733E9-8321-B544-91CA-C6DAB57880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6170892-9306-DD15-A1F7-37B3C24275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07C0F807-09B9-F971-3674-D39B3CAE33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257A13C-BE9C-C00D-8A34-3F713AE897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7406B274-7473-033E-7F89-34232DEAE0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FCEB890-E3BA-0651-6093-B086D110AF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58768B5E-78C2-C297-235A-6817AA94B6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rm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2A66E5A-5C2F-0A18-2FF2-7383B98078B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B3933CB5-16A9-3FAE-C4BE-8D4E2D227985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C797D6-F2D4-3B42-60E7-B9D3A2976F6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r>
                <a:t>일상배상책임 : 2억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D7F020-D00A-BC54-FCB5-876844155D1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r>
                <a:t>입원 : 미가입</a:t>
              </a:r>
            </a:p>
            <a:p>
              <a:r>
                <a:t>통원 : 미가입</a:t>
              </a:r>
            </a:p>
            <a:p>
              <a:r>
                <a:t>MRI : 미가입</a:t>
              </a:r>
            </a:p>
            <a:p>
              <a:r>
                <a:t>도수치료 : 미가입</a:t>
              </a:r>
            </a:p>
            <a:p>
              <a:r>
                <a:t>비급여주사 : 미가입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17AFE1-E0D4-0D03-FB8F-81B5CE9F8163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696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r>
                <a:t>골절 : 142만</a:t>
              </a:r>
            </a:p>
            <a:p>
              <a:r>
                <a:t>5대골절 : 미가입</a:t>
              </a:r>
            </a:p>
            <a:p>
              <a:r>
                <a:t>화상 : 미가입</a:t>
              </a:r>
            </a:p>
            <a:p>
              <a:r>
                <a:t>중대화상 : 미가입</a:t>
              </a:r>
            </a:p>
            <a:p>
              <a:r>
                <a:t>반깁스 : 미가입</a:t>
              </a:r>
            </a:p>
            <a:p>
              <a:r>
                <a:t>깁스 : 130만</a:t>
              </a:r>
            </a:p>
            <a:p>
              <a:r>
                <a:t>응급실 : 82만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720DDF-C6C9-866A-0B6F-2735A76F6B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r>
                <a:t>질병사망</a:t>
              </a:r>
            </a:p>
            <a:p>
              <a:r>
                <a:t>- ___세 : 2억</a:t>
              </a:r>
            </a:p>
            <a:p>
              <a:r>
                <a:t>80세 : 미가입</a:t>
              </a:r>
            </a:p>
            <a:p>
              <a:r>
                <a:t>종신 : 9999만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3BF30E-84AC-C171-2CC0-48E55CAA073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r>
                <a:t>상해사망 : 8억2천만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31A0F5-0D30-BC94-3945-66E68C34B35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r>
                <a:t>암진단비 : 1억7천만</a:t>
              </a:r>
            </a:p>
            <a:p>
              <a:r>
                <a:t>유사암 : 미가입</a:t>
              </a:r>
            </a:p>
            <a:p>
              <a:r>
                <a:t>통합암 : 미가입</a:t>
              </a:r>
            </a:p>
            <a:p>
              <a:r>
                <a:t>전이암 : 8100만</a:t>
              </a:r>
            </a:p>
            <a:p/>
            <a:p>
              <a:r>
                <a:t>항암치료 : 1억3천만</a:t>
              </a:r>
            </a:p>
            <a:p>
              <a:r>
                <a:t>표적/양성자.세기 : 미가입</a:t>
              </a:r>
            </a:p>
            <a:p>
              <a:r>
                <a:t>암통원비 : 미가입</a:t>
              </a:r>
            </a:p>
            <a:p>
              <a:r>
                <a:t>다빈치 : 미가입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EC12340-EF7A-8426-32B9-EF912AA4C4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62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r>
                <a:t>질병수술 : 110만</a:t>
              </a:r>
            </a:p>
            <a:p>
              <a:r>
                <a:t>1~5종 수술비</a:t>
              </a:r>
            </a:p>
            <a:p>
              <a:r>
                <a:t>( 미가입 )</a:t>
              </a:r>
            </a:p>
            <a:p>
              <a:r>
                <a:t>119대 수술 : 미가입</a:t>
              </a:r>
            </a:p>
            <a:p>
              <a:r>
                <a:t>뇌혈관수술 : 1200만</a:t>
              </a:r>
            </a:p>
            <a:p>
              <a:r>
                <a:t>허혈성수술 : 미가입</a:t>
              </a:r>
            </a:p>
            <a:p>
              <a:r>
                <a:t>심장 수술 : </a:t>
              </a:r>
            </a:p>
            <a:p>
              <a:r>
                <a:t>5대기관수술 : </a:t>
              </a:r>
            </a:p>
            <a:p>
              <a:r>
                <a:t>7대 수술 : </a:t>
              </a:r>
            </a:p>
            <a:p>
              <a:r>
                <a:t>______수술 :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7CD4289-6CBB-8572-BFB1-8329F4CC7E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r>
                <a:t>상해수술 : 580만</a:t>
              </a:r>
            </a:p>
            <a:p>
              <a:r>
                <a:t>종합병원수술 : 미가입</a:t>
              </a:r>
            </a:p>
            <a:p>
              <a:r>
                <a:t>1~5종 수술비</a:t>
              </a:r>
            </a:p>
            <a:p>
              <a:r>
                <a:t>( 미가입 )</a:t>
              </a:r>
            </a:p>
            <a:p>
              <a:r>
                <a:t>골절수술 : 미가입</a:t>
              </a:r>
            </a:p>
            <a:p>
              <a:r>
                <a:t>5대골절수술 : 미가입</a:t>
              </a:r>
            </a:p>
            <a:p>
              <a:r>
                <a:t>화상수술 : 미가입</a:t>
              </a:r>
            </a:p>
            <a:p>
              <a:r>
                <a:t>중대상해수술 : 580만</a:t>
              </a:r>
            </a:p>
            <a:p>
              <a:r>
                <a:t>창상봉합수술 : 미가입</a:t>
              </a:r>
            </a:p>
            <a:p>
              <a:r>
                <a:t>________수술 :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ACACAF9-54D6-2C8B-7298-8C1D617CCAE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rmAutofit/>
            </a:bodyPr>
            <a:lstStyle/>
            <a:p>
              <a:r>
                <a:t>질병일당 : 미가입</a:t>
              </a:r>
            </a:p>
            <a:p>
              <a:r>
                <a:t>상해일당 : 미가입</a:t>
              </a:r>
            </a:p>
            <a:p>
              <a:r>
                <a:t>질병/상해중환자실 : 미가입</a:t>
              </a:r>
            </a:p>
            <a:p>
              <a:r>
                <a:t>1인실 상급병원일당 : 미가입</a:t>
              </a:r>
            </a:p>
            <a:p>
              <a:r>
                <a:t>1인실 종합병원일당 : 미가입</a:t>
              </a:r>
            </a:p>
            <a:p>
              <a:r>
                <a:t>암일당 : 미가입</a:t>
              </a:r>
            </a:p>
            <a:p>
              <a:r>
                <a:t> </a:t>
              </a:r>
            </a:p>
            <a:p>
              <a:r>
                <a:t>간병인일당 : 4만</a:t>
              </a:r>
            </a:p>
            <a:p>
              <a:r>
                <a:t>간호통합병동일당 : 미가입</a:t>
              </a:r>
            </a:p>
          </p:txBody>
        </p:sp>
      </p:grpSp>
      <p:sp>
        <p:nvSpPr>
          <p:cNvPr id="94" name="TextBox 93"/>
          <p:cNvSpPr txBox="1"/>
          <p:nvPr/>
        </p:nvSpPr>
        <p:spPr>
          <a:xfrm>
            <a:off x="1346301" y="2256860"/>
            <a:ext cx="1032655" cy="169277"/>
          </a:xfrm>
          <a:prstGeom prst="rect">
            <a:avLst/>
          </a:prstGeom>
          <a:noFill/>
        </p:spPr>
        <p:txBody>
          <a:bodyPr wrap="none" tIns="0" bIns="0" anchor="ctr">
            <a:normAutofit/>
          </a:bodyPr>
          <a:lstStyle/>
          <a:p>
            <a:pPr algn="ctr"/>
            <a:r>
              <a:rPr sz="1200" b="1">
                <a:solidFill>
                  <a:srgbClr val="222222"/>
                </a:solidFill>
              </a:rPr>
              <a:t>1천만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46301" y="2706624"/>
            <a:ext cx="1032655" cy="274320"/>
          </a:xfrm>
          <a:prstGeom prst="rect">
            <a:avLst/>
          </a:prstGeom>
          <a:noFill/>
        </p:spPr>
        <p:txBody>
          <a:bodyPr wrap="none" tIns="0" bIns="0" anchor="ctr">
            <a:normAutofit/>
          </a:bodyPr>
          <a:lstStyle/>
          <a:p>
            <a:pPr algn="ctr"/>
            <a:r>
              <a:rPr sz="1200" b="1">
                <a:solidFill>
                  <a:srgbClr val="0000FF"/>
                </a:solidFill>
              </a:rPr>
              <a:t>1억4천만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73870" y="2711076"/>
            <a:ext cx="551754" cy="169277"/>
          </a:xfrm>
          <a:prstGeom prst="rect">
            <a:avLst/>
          </a:prstGeom>
          <a:noFill/>
        </p:spPr>
        <p:txBody>
          <a:bodyPr wrap="none" tIns="0" bIns="0" anchor="ctr">
            <a:normAutofit/>
          </a:bodyPr>
          <a:lstStyle/>
          <a:p>
            <a:pPr algn="ctr"/>
            <a:r>
              <a:rPr sz="1200" b="1">
                <a:solidFill>
                  <a:srgbClr val="0000FF"/>
                </a:solidFill>
              </a:rPr>
              <a:t>2억9천만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98082" y="269033"/>
            <a:ext cx="2465740" cy="3693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2026년 06월 03일 기준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189069-36D9-3C53-DA8B-84C784DEBBB1}"/>
              </a:ext>
            </a:extLst>
          </p:cNvPr>
          <p:cNvSpPr txBox="1"/>
          <p:nvPr/>
        </p:nvSpPr>
        <p:spPr>
          <a:xfrm>
            <a:off x="3551650" y="1530257"/>
            <a:ext cx="3194099" cy="43088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t>협심증/심부전 등 : 미가입</a:t>
            </a:r>
          </a:p>
          <a:p>
            <a:r>
              <a:t>부정맥 : 미가입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44CD51-E444-A204-4159-4135AFAB79BC}"/>
              </a:ext>
            </a:extLst>
          </p:cNvPr>
          <p:cNvSpPr txBox="1"/>
          <p:nvPr/>
        </p:nvSpPr>
        <p:spPr>
          <a:xfrm>
            <a:off x="1303680" y="1733296"/>
            <a:ext cx="728084" cy="184666"/>
          </a:xfrm>
          <a:prstGeom prst="rect">
            <a:avLst/>
          </a:prstGeom>
          <a:noFill/>
        </p:spPr>
        <p:txBody>
          <a:bodyPr wrap="none" tIns="0" bIns="0" anchor="ctr">
            <a:normAutofit/>
          </a:bodyPr>
          <a:lstStyle/>
          <a:p>
            <a:pPr algn="ctr"/>
            <a:r>
              <a:rPr sz="1200" b="1">
                <a:solidFill>
                  <a:srgbClr val="222222"/>
                </a:solidFill>
              </a:rPr>
              <a:t>9300만</a:t>
            </a:r>
          </a:p>
        </p:txBody>
      </p:sp>
    </p:spTree>
    <p:extLst>
      <p:ext uri="{BB962C8B-B14F-4D97-AF65-F5344CB8AC3E}">
        <p14:creationId xmlns:p14="http://schemas.microsoft.com/office/powerpoint/2010/main" val="60623127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943600" cy="899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보장분석 메모 — 값 확인 필요 (*)</a:t>
            </a:r>
          </a:p>
          <a:p>
            <a:r>
              <a:t>● [계약 갱신/비갱신 판정] No.1 THE롯데손보(운전자): 계약10년·납입10년→납입≈만기=갱신 형태이나 운전자보험 상품 특성상 비갱신 확정형으로 판단. 담보명에 갱신 표기 없음. 비갱신 처리.</a:t>
            </a:r>
          </a:p>
          <a:p>
            <a:r>
              <a:t>● [계약 갱신/비갱신] No.2 롯데손보(종신): 만기2075·납입20년(140/240)→생보 종신, 일반사망(종신)=9999만원, 30만원은 질병사망 특약. 비갱신.</a:t>
            </a:r>
          </a:p>
          <a:p>
            <a:r>
              <a:t>● [계약 갱신/비갱신] No.3 롯데손보(건강-비갱신): 만기9999·납입30년→비갱신.</a:t>
            </a:r>
          </a:p>
          <a:p>
            <a:r>
              <a:t>● [계약 갱신/비갱신] No.4,5 롯데손보(건강NEW): 만기9999·납입10년/7년→비갱신.</a:t>
            </a:r>
          </a:p>
          <a:p>
            <a:r>
              <a:t>● [계약 갱신/비갱신] No.6 (GA): 만기2076·납입20년→비갱신.</a:t>
            </a:r>
          </a:p>
          <a:p>
            <a:r>
              <a:t>● [계약 갱신/비갱신] No.7 let:smile 4060: 만기2066·납입20년→비갱신. 단, 담보 중 실손·갱신형 개별 담보는 renew:true 처리 필요 — 해당 상품 실손 담보 존재 여부 분석지에서 미확인, let:smile 상품 내 실손담보 있을 경우 별도 확인 필요.</a:t>
            </a:r>
          </a:p>
          <a:p>
            <a:r>
              <a:t>● [계약 갱신/비갱신] No.8 1004.2: 만기2076·납입46년→비갱신.</a:t>
            </a:r>
          </a:p>
          <a:p>
            <a:r>
              <a:t>● [계약 갱신/비갱신] No.9 Super s0904: 만기2076·납입67년→비갱신. 내부 실손담보(5,000/30만원)는 1세대 실손(가입2009.07)→renew:true 처리.</a:t>
            </a:r>
          </a:p>
          <a:p>
            <a:r>
              <a:t>● [계약 갱신/비갱신] No.10 KB 5.10.10: 만기2066·납입20년→비갱신.</a:t>
            </a:r>
          </a:p>
          <a:p>
            <a:r>
              <a:t>● [계약 갱신/비갱신] No.11 DB생명 2510: 만기2045·납입20년→비갱신(종신보험, 생보).</a:t>
            </a:r>
          </a:p>
          <a:p>
            <a:r>
              <a:t>● [계약 갱신/비갱신] No.12,13 Chubb 3대질병(갱신형)3종2구: 상품명에 갱신형 명시→갱신. 담보 전체 renew:true.</a:t>
            </a:r>
          </a:p>
          <a:p>
            <a:r>
              <a:t>● [계약 갱신/비갱신] No.14 Chubb 1904(R/50세): 만기2030·납입10년→납입≈만기(갱신형 R표기)→갱신. renew:true.</a:t>
            </a:r>
          </a:p>
          <a:p>
            <a:r>
              <a:t>● [Chubb 3대질병 3종2구 담보 분류] 분석지 상 '일반암진단비(3,000/5,000만)', '급성심근경색진단비(3,000/5,000만)', '뇌출혈진단비(3,000/5,000만)', '유사암진단비(250만)' 확인. Chubb 3대질병보장보험은 암·뇌출혈·급성심근경색 3가지 보장 상품(뇌졸중·허혈성심장질환 미포함). 3종은 체증형으로 가입금액이 단계별 증가하는 구조. 약관확인: 체증3 정확한 체증율 및 지급기준 증권 확인 요망.</a:t>
            </a:r>
          </a:p>
          <a:p>
            <a:r>
              <a:t>● [Chubb 1904 R/50세 담보] 분석지에서 담보명이 한글 깨짐으로 불명확. 보험료 36,370원, 10년납, 갱신형(R표기) 구조. 담보별 지급금액이 0~13만원 소액이며 교통사고처리/입원일당 등 다수 포함으로 보임. 약관확인: Chubb 1904 R/50세 정확한 담보 구성 증권으로 확인 필요.</a:t>
            </a:r>
          </a:p>
          <a:p>
            <a:r>
              <a:t>● [DB생명 2510 종신] 분석지 상 사망보험금 2,000만원, 후유장해1,000만원, 일반암(3-100%)1,000만원, 80%이상후유장해(5%씩5년)6,000만원, 50%이상후유장해100만원, 수술비 30/20만원, 1-5종수술비 20~1000만원, 질병입원 5만/상해입원 3만 등 확인. 생명보험 2510은 종신보험으로 사망=일반사망(종신).</a:t>
            </a:r>
          </a:p>
          <a:p>
            <a:r>
              <a:t>● [Super s0904 실손] 가입일 2009.07.29→1세대 실손(~2009.09 기준), 질병5000/상해5000 및 질병통원30/상해통원30. renew:true 적용.</a:t>
            </a:r>
          </a:p>
          <a:p>
            <a:r>
              <a:t>● [let:smile 4060 2604 담보] 매우 다양한 담보 포함: 일반암1,000만, 전이암8,000만, 고액항암치료13,000만, 뇌혈관계통수술1,000만, 급성심근경색2,000만, 허혈심장1,000만(법인산정특례형으로 보임), 상해후유장해(3-100%)1,000만, 질병후유장해(3-100%)(갱신형)1,000만 포함. 갱신형 후유장해 담보는 renew:true 처리. 암수술/입원일당 등 다수 담보 포함.</a:t>
            </a:r>
          </a:p>
          <a:p>
            <a:r>
              <a:t>● [일반암 합계 집계] 총 가입금액: let:smile(ci6)5,000 + 롯데비갱신(ci2)300 + Super s0904(ci8)3,000 + KB5.10.10(ci9)1,000 = 9,300만원. 권장 10,000만원 대비 약간 부족.</a:t>
            </a:r>
          </a:p>
          <a:p>
            <a:r>
              <a:t>● [뇌혈관/뇌출혈 합계] 뇌혈관진단비: ci2(300)+ci3(6,000)+ci5(1,000)+ci7(1,000)+ci9(1,000)=9,300만원. 뇌출혈진단비: ci0(1,000)+Chubb ci11(3,000)+ci12(5,000)+ci13(5,000)=14,000만원(갱신 포함). 권장 5,000만원 대비 충분하나 갱신형 다수 포함.</a:t>
            </a:r>
          </a:p>
          <a:p>
            <a:r>
              <a:t>● [심장 담보 분류] 분석지에서 '허혈성심장질환진단비'와 '급성심근경색진단비' 별도 기재. let:smile 4060(ci6)의 '허혈성심장(1,000만)' → 허혈성심장질환진단비 분류. '심장질환수술비(900만)' 확인.</a:t>
            </a:r>
          </a:p>
          <a:p>
            <a:r>
              <a:t>● [DB생명 2510 종신 사망담보] 생보 종신보험이므로 사망=일반사망(종신). 분석지에서 사망보험금 2,000만원 확인.</a:t>
            </a:r>
          </a:p>
          <a:p>
            <a:r>
              <a:t>● [DB 여행자보험 별도계약] 25페이지에 DB 여행자보험(2022.09.17~2022.09.18, 보험료0원) 계약 1건이 있으나 이미 종료된 단기 여행자보험으로 보유계약 목록에서 제외(만료된 계약).</a:t>
            </a:r>
          </a:p>
          <a:p>
            <a:r>
              <a:t>● [let:smile 4060 갱신형 후유장해] '(3~100%)(갱신형)' 후유장해 담보가 별도 존재. renew:true 처리. 비갱신 후유장해와 분리.</a:t>
            </a:r>
          </a:p>
          <a:p>
            <a:r>
              <a:t>● [수술비 1-5종] KB 5.10.10 1~5종 질병수술비(1종20/2종50/3종200/4종500/5종500), 상해수술비(1종20/2종50/3종200/4종500/5종1000). 법칙에 따라 종별 최대값=5종 질병500만, 5종 상해1,000만 택1. DB 2510 1-5종(1종20/2종50/3종100/4종200/5종1000)=5종 1,000만. Super s0904 5종30만.</a:t>
            </a:r>
          </a:p>
          <a:p>
            <a:r>
              <a:t>● [약관확인 필요] DB생명 2510: 주계약 사망보험금 2,000만원인데 체증형 가능성 있음(상품명 2510에서 '25년 10월' 출시 추정). 정확한 주계약 구성 및 체증 여부 증권 확인 요망.</a:t>
            </a:r>
          </a:p>
          <a:p>
            <a:r>
              <a:t>● [약관확인 필요] let:smile 4060 2604: 뇌혈관계통수술비(1,000만), 심장질환수술비(900만) — 수술 범위 및 지급기준(1-5종 vs 별도 정의) 약관 확인 요망.</a:t>
            </a:r>
          </a:p>
          <a:p>
            <a:r>
              <a:t>● [실손 현황] Super s0904(1세대 실손, 가입2009.07) 외 별도 실손 미가입 확인. 4세대 실손 신규 가입 권장.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2659</TotalTime>
  <Words>370</Words>
  <Application>Microsoft Office PowerPoint</Application>
  <PresentationFormat>A4 용지(210x297mm)</PresentationFormat>
  <Paragraphs>111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은혜 최</dc:creator>
  <cp:lastModifiedBy>은혜 최</cp:lastModifiedBy>
  <cp:revision>54</cp:revision>
  <cp:lastPrinted>2026-05-22T03:54:25Z</cp:lastPrinted>
  <dcterms:created xsi:type="dcterms:W3CDTF">2025-05-17T14:02:33Z</dcterms:created>
  <dcterms:modified xsi:type="dcterms:W3CDTF">2026-06-02T13:23:58Z</dcterms:modified>
</cp:coreProperties>
</file>