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9" r:id="rId2"/>
    <p:sldId id="270" r:id="rId7"/>
  </p:sldIdLst>
  <p:sldSz cx="6858000" cy="9906000" type="A4"/>
  <p:notesSz cx="10018713" cy="144478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319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61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89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776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066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86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82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5138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901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620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103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77582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5F825C-5304-4128-8698-8A30172550A0}" type="datetimeFigureOut">
              <a:rPr lang="ko-KR" altLang="en-US" smtClean="0"/>
              <a:t>2026-06-02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1199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DECC7-735D-B6C5-D2A5-1F5B0C687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6C2FDA2-0B68-2096-41D9-F8F7F61E58A2}"/>
              </a:ext>
            </a:extLst>
          </p:cNvPr>
          <p:cNvSpPr txBox="1"/>
          <p:nvPr/>
        </p:nvSpPr>
        <p:spPr>
          <a:xfrm>
            <a:off x="5184929" y="5466003"/>
            <a:ext cx="2520000" cy="115416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normAutofit/>
          </a:bodyPr>
          <a:lstStyle/>
          <a:p>
            <a:r>
              <a:t>질병 3%  : </a:t>
            </a:r>
          </a:p>
          <a:p>
            <a:r>
              <a:t>질병 80%  : </a:t>
            </a:r>
          </a:p>
          <a:p>
            <a:r>
              <a:t>상해3%  : </a:t>
            </a:r>
          </a:p>
          <a:p>
            <a:r>
              <a:t>상해 80%  : </a:t>
            </a:r>
          </a:p>
          <a:p>
            <a:r>
              <a:t>교통후유장해(       %)  </a:t>
            </a:r>
          </a:p>
          <a:p/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26F667-2D02-695E-AC54-46B14A5985BA}"/>
              </a:ext>
            </a:extLst>
          </p:cNvPr>
          <p:cNvSpPr txBox="1"/>
          <p:nvPr/>
        </p:nvSpPr>
        <p:spPr>
          <a:xfrm>
            <a:off x="5166687" y="3424651"/>
            <a:ext cx="2520000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normAutofit/>
          </a:bodyPr>
          <a:lstStyle/>
          <a:p>
            <a:r>
              <a:t>대인  : </a:t>
            </a:r>
          </a:p>
          <a:p>
            <a:r>
              <a:t>대물  : </a:t>
            </a:r>
          </a:p>
          <a:p>
            <a:r>
              <a:t>합의금  : </a:t>
            </a:r>
          </a:p>
          <a:p>
            <a:r>
              <a:t>6주미만  : </a:t>
            </a:r>
          </a:p>
          <a:p>
            <a:r>
              <a:t>변호사비  : </a:t>
            </a:r>
          </a:p>
          <a:p>
            <a:r>
              <a:t>자부상  :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28FDE7-C4C5-8E25-3012-E077B793D301}"/>
              </a:ext>
            </a:extLst>
          </p:cNvPr>
          <p:cNvSpPr txBox="1"/>
          <p:nvPr/>
        </p:nvSpPr>
        <p:spPr>
          <a:xfrm>
            <a:off x="5184929" y="7034542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normAutofit/>
          </a:bodyPr>
          <a:lstStyle/>
          <a:p>
            <a:r>
              <a:t>치매  : </a:t>
            </a:r>
          </a:p>
          <a:p>
            <a:r>
              <a:t>재가  : </a:t>
            </a:r>
          </a:p>
          <a:p>
            <a:r>
              <a:t>노치원  : </a:t>
            </a:r>
          </a:p>
          <a:p>
            <a:r>
              <a:t>시설  :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914357-0451-DD17-472A-EF06157D782B}"/>
              </a:ext>
            </a:extLst>
          </p:cNvPr>
          <p:cNvSpPr txBox="1"/>
          <p:nvPr/>
        </p:nvSpPr>
        <p:spPr>
          <a:xfrm>
            <a:off x="5201746" y="8687219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normAutofit/>
          </a:bodyPr>
          <a:lstStyle/>
          <a:p>
            <a:r>
              <a:t>크라운  : </a:t>
            </a:r>
          </a:p>
          <a:p>
            <a:r>
              <a:t>임플란트  : </a:t>
            </a:r>
          </a:p>
          <a:p>
            <a:r>
              <a:t>기타  : </a:t>
            </a:r>
          </a:p>
          <a:p>
            <a:r>
              <a:t>화재보험  : 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CA35EEA-8312-BEDB-774D-FD4B2B58D0E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279278" y="251326"/>
            <a:ext cx="7533753" cy="9654674"/>
            <a:chOff x="-279278" y="251326"/>
            <a:chExt cx="7533753" cy="9654674"/>
          </a:xfrm>
        </p:grpSpPr>
        <p:sp>
          <p:nvSpPr>
            <p:cNvPr id="78" name="타원 77">
              <a:extLst>
                <a:ext uri="{FF2B5EF4-FFF2-40B4-BE49-F238E27FC236}">
                  <a16:creationId xmlns:a16="http://schemas.microsoft.com/office/drawing/2014/main" id="{C9D36AB3-E1D7-75A1-2C8D-D4D0145CCAC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09187" y="1309754"/>
              <a:ext cx="3059982" cy="1662799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 w="952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rm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89D81F1E-1556-18FD-DEBA-F813E0382AD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902120" y="1926040"/>
              <a:ext cx="2493161" cy="1013923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rm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897CA36D-CBB3-80E6-8AEF-1C8BFD17A76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344258" y="2416853"/>
              <a:ext cx="1620085" cy="53308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952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rm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42FD594E-B013-DD31-0E52-25AB3F03362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7575" y="804134"/>
              <a:ext cx="3275703" cy="222765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rm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2C030499-E2D2-1D81-C7E7-231F64BCF55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4508" y="3086207"/>
              <a:ext cx="3275703" cy="222765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rm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2D11BC3D-8A1B-7AED-E7C6-61D3099C8E3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510849" y="3055383"/>
              <a:ext cx="1614696" cy="207735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rm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4129930-DD9F-1B53-A93B-B2FC7E75080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498450" y="5176730"/>
              <a:ext cx="1627094" cy="150163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rm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54043DC-09C1-0428-6614-E5678311FF62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48640" y="273471"/>
              <a:ext cx="3383280" cy="400110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ko-KR" altLang="en-US" sz="2000" dirty="0">
                  <a:solidFill>
                    <a:srgbClr val="00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허정원님의 보장</a:t>
              </a:r>
            </a:p>
          </p:txBody>
        </p: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78A05753-FEF4-1DCB-0E99-3EBA3A61CEB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234901" y="677039"/>
              <a:ext cx="3194098" cy="0"/>
            </a:xfrm>
            <a:prstGeom prst="line">
              <a:avLst/>
            </a:prstGeom>
            <a:ln w="38100">
              <a:solidFill>
                <a:srgbClr val="00206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4BB05DC9-9210-ECB4-1A30-38557D5A25B5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524956" y="635963"/>
              <a:ext cx="390466" cy="0"/>
            </a:xfrm>
            <a:prstGeom prst="line">
              <a:avLst/>
            </a:prstGeom>
            <a:ln w="38100">
              <a:solidFill>
                <a:srgbClr val="00206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직선 연결선 28">
              <a:extLst>
                <a:ext uri="{FF2B5EF4-FFF2-40B4-BE49-F238E27FC236}">
                  <a16:creationId xmlns:a16="http://schemas.microsoft.com/office/drawing/2014/main" id="{71BDB802-1FE5-E3BF-42A0-4AD513D9D7E0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5231847" y="630456"/>
              <a:ext cx="376995" cy="0"/>
            </a:xfrm>
            <a:prstGeom prst="line">
              <a:avLst/>
            </a:prstGeom>
            <a:ln w="38100">
              <a:solidFill>
                <a:srgbClr val="00206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17C4F98-7A2D-D03B-D6FB-D03ACFAE5C9F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590015" y="258278"/>
              <a:ext cx="1664460" cy="461665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endParaRPr/>
            </a:p>
          </p:txBody>
        </p: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2344EA8C-0AB9-C8FB-BA1E-03F2BB233E7F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3841883" y="630456"/>
              <a:ext cx="410599" cy="0"/>
            </a:xfrm>
            <a:prstGeom prst="line">
              <a:avLst/>
            </a:prstGeom>
            <a:ln w="38100">
              <a:solidFill>
                <a:srgbClr val="00206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47A09FF-F512-DD16-7826-9DCC4A03355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811991" y="270329"/>
              <a:ext cx="461370" cy="461665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endParaRPr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0D2384A-7101-10EF-F8C6-4ECF2A8A2F55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103592" y="251326"/>
              <a:ext cx="656301" cy="400110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1D41D44-7284-00C7-0B81-73CA9B29FFF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16544" y="9644390"/>
              <a:ext cx="303616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normAutofit/>
            </a:bodyPr>
            <a:lstStyle/>
            <a:p>
              <a:pPr algn="ctr"/>
              <a:r>
                <a:rPr lang="ko-KR" altLang="en-US" sz="1050" b="1" dirty="0">
                  <a:solidFill>
                    <a:srgbClr val="000000"/>
                  </a:solidFill>
                  <a:latin typeface="HY엽서L" panose="02030600000101010101" pitchFamily="18" charset="-127"/>
                  <a:ea typeface="HY엽서L" panose="02030600000101010101" pitchFamily="18" charset="-127"/>
                </a:rPr>
                <a:t>참고용 입니다</a:t>
              </a:r>
              <a:r>
                <a:rPr lang="en-US" altLang="ko-KR" sz="1050" b="1" dirty="0">
                  <a:latin typeface="HY엽서L" panose="02030600000101010101" pitchFamily="18" charset="-127"/>
                  <a:ea typeface="HY엽서L" panose="02030600000101010101" pitchFamily="18" charset="-127"/>
                </a:rPr>
                <a:t> </a:t>
              </a:r>
              <a:r>
                <a:rPr lang="ko-KR" altLang="en-US" sz="1050" b="1" dirty="0" err="1">
                  <a:solidFill>
                    <a:srgbClr val="000000"/>
                  </a:solidFill>
                  <a:latin typeface="HY엽서L" panose="02030600000101010101" pitchFamily="18" charset="-127"/>
                  <a:ea typeface="HY엽서L" panose="02030600000101010101" pitchFamily="18" charset="-127"/>
                </a:rPr>
                <a:t>자세한건</a:t>
              </a:r>
              <a:r>
                <a:rPr lang="ko-KR" altLang="en-US" sz="1050" b="1" dirty="0">
                  <a:solidFill>
                    <a:srgbClr val="000000"/>
                  </a:solidFill>
                  <a:latin typeface="HY엽서L" panose="02030600000101010101" pitchFamily="18" charset="-127"/>
                  <a:ea typeface="HY엽서L" panose="02030600000101010101" pitchFamily="18" charset="-127"/>
                </a:rPr>
                <a:t> 증권을 확</a:t>
              </a:r>
              <a:r>
                <a:rPr lang="ko-KR" altLang="en-US" sz="1100" b="1" dirty="0">
                  <a:solidFill>
                    <a:srgbClr val="000000"/>
                  </a:solidFill>
                  <a:latin typeface="HY엽서L" panose="02030600000101010101" pitchFamily="18" charset="-127"/>
                  <a:ea typeface="HY엽서L" panose="02030600000101010101" pitchFamily="18" charset="-127"/>
                </a:rPr>
                <a:t>인해주세</a:t>
              </a:r>
              <a:r>
                <a:rPr lang="ko-KR" altLang="en-US" sz="1050" b="1" dirty="0">
                  <a:solidFill>
                    <a:srgbClr val="000000"/>
                  </a:solidFill>
                  <a:latin typeface="HY엽서L" panose="02030600000101010101" pitchFamily="18" charset="-127"/>
                  <a:ea typeface="HY엽서L" panose="02030600000101010101" pitchFamily="18" charset="-127"/>
                </a:rPr>
                <a:t>요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0BEC2C4-A928-2D53-E884-FE811978336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9537" y="829475"/>
              <a:ext cx="542734" cy="307777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ko-KR" altLang="en-US" sz="1400" dirty="0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뇌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911659E-AA37-7F9B-6F1F-2F0F6C6B894A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98082" y="751984"/>
              <a:ext cx="542734" cy="307777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ko-KR" altLang="en-US" sz="1400" dirty="0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심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314B4EA-0A1C-3F2F-88D5-1B0D8EA33F55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56018" y="3086207"/>
              <a:ext cx="542734" cy="307777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ko-KR" altLang="en-US" sz="1400" dirty="0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암</a:t>
              </a: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A190480A-1589-488D-5AB5-D9428E44897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95113" y="1381143"/>
              <a:ext cx="3059982" cy="167424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 w="952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rm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FF27CF28-3E9D-8A88-107B-8305C79AF1D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88046" y="1997428"/>
              <a:ext cx="2493161" cy="1013923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rm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273824E3-DA8F-737D-2DFC-3F1F85A655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30184" y="2488241"/>
              <a:ext cx="1620085" cy="53308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952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rm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CFF8121-BECC-19F2-5CA0-B53D1D73742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91879" y="1388396"/>
              <a:ext cx="615654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rmAutofit/>
            </a:bodyPr>
            <a:lstStyle/>
            <a:p>
              <a:pPr algn="ctr"/>
              <a:r>
                <a:rPr lang="ko-KR" altLang="en-US" sz="1100" dirty="0">
                  <a:solidFill>
                    <a:srgbClr val="00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뇌혈관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B1C38A1-318B-2107-E365-632958A4F3C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437599" y="1986061"/>
              <a:ext cx="615654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rmAutofit/>
            </a:bodyPr>
            <a:lstStyle/>
            <a:p>
              <a:pPr algn="ctr"/>
              <a:r>
                <a:rPr lang="ko-KR" altLang="en-US" sz="1100" dirty="0" err="1">
                  <a:solidFill>
                    <a:srgbClr val="00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뇌졸증</a:t>
              </a:r>
              <a:endPara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B8AB0CD3-DEC6-0584-01DB-D57A832D2E3A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437599" y="2464614"/>
              <a:ext cx="615654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rmAutofit/>
            </a:bodyPr>
            <a:lstStyle/>
            <a:p>
              <a:pPr algn="ctr"/>
              <a:r>
                <a:rPr lang="ko-KR" altLang="en-US" sz="1100" dirty="0">
                  <a:solidFill>
                    <a:srgbClr val="00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뇌출혈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C6BF93B-C425-2D61-38E9-227F31C582B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67850" y="838506"/>
              <a:ext cx="2520000" cy="5539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rmAutofit/>
            </a:bodyPr>
            <a:lstStyle/>
            <a:p>
              <a:r>
                <a:t>산정특례(뇌혈관)  : </a:t>
              </a:r>
            </a:p>
            <a:p>
              <a:r>
                <a:t>혈전용해치료비  : </a:t>
              </a:r>
            </a:p>
            <a:p>
              <a:r>
                <a:t>2대주요치료비  : 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BC1592A-DF89-CADE-EFDF-CE138E111D8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802137" y="1267865"/>
              <a:ext cx="615654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rmAutofit/>
            </a:bodyPr>
            <a:lstStyle/>
            <a:p>
              <a:pPr algn="ctr"/>
              <a:r>
                <a:rPr lang="ko-KR" altLang="en-US" sz="1100" dirty="0">
                  <a:solidFill>
                    <a:srgbClr val="00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심장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9933AF8-76F8-B973-27D9-A470D40A6A67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811991" y="1915239"/>
              <a:ext cx="615654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rmAutofit/>
            </a:bodyPr>
            <a:lstStyle/>
            <a:p>
              <a:pPr algn="ctr"/>
              <a:r>
                <a:rPr lang="ko-KR" altLang="en-US" sz="1100" dirty="0">
                  <a:solidFill>
                    <a:srgbClr val="00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허혈성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89A88E0-9FA2-A350-A272-919E533ED326}"/>
                </a:ext>
              </a:extLst>
            </p:cNvPr>
            <p:cNvSpPr txBox="1">
              <a:spLocks/>
            </p:cNvSpPr>
            <p:nvPr/>
          </p:nvSpPr>
          <p:spPr>
            <a:xfrm>
              <a:off x="4431742" y="2426118"/>
              <a:ext cx="1398848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rmAutofit/>
            </a:bodyPr>
            <a:lstStyle/>
            <a:p>
              <a:pPr algn="ctr"/>
              <a:r>
                <a:rPr lang="ko-KR" altLang="en-US" sz="1100" dirty="0">
                  <a:solidFill>
                    <a:srgbClr val="00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급성심근경색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9B573A61-1897-AC49-72EF-B2D07214A1E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969449" y="777630"/>
              <a:ext cx="2520000" cy="5539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rmAutofit/>
            </a:bodyPr>
            <a:lstStyle/>
            <a:p>
              <a:r>
                <a:t>산정특례(심장)  : </a:t>
              </a:r>
            </a:p>
            <a:p>
              <a:r>
                <a:t>혈전용해치료비  : </a:t>
              </a:r>
            </a:p>
            <a:p>
              <a:r>
                <a:t>2대주요치료비  : 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2199A641-F049-F8E2-8EA4-674622569272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16544" y="4986714"/>
              <a:ext cx="344823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rmAutofit/>
            </a:bodyPr>
            <a:lstStyle/>
            <a:p>
              <a:r>
                <a:t>암주요(고액)  : 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6EA1928A-5AB0-C965-DD83-18259794E212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-279278" y="5368281"/>
              <a:ext cx="2065468" cy="307777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pPr algn="ctr"/>
              <a:r>
                <a:rPr lang="ko-KR" altLang="en-US" sz="1400" dirty="0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수술비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121CFFEA-C8DF-6CD5-211E-6EABD11471E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562513" y="5184252"/>
              <a:ext cx="1941269" cy="469359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t>실손</a:t>
              </a:r>
            </a:p>
            <a:p>
              <a:r>
                <a:t>(가입일  : 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82437064-05CD-A12A-8D47-AB9DD9F0CAA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331293" y="3070784"/>
              <a:ext cx="2065468" cy="307777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pPr algn="ctr"/>
              <a:r>
                <a:rPr lang="ko-KR" altLang="en-US" sz="1400" dirty="0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상해</a:t>
              </a:r>
              <a:r>
                <a:rPr lang="en-US" altLang="ko-KR" sz="1400" dirty="0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/</a:t>
              </a:r>
              <a:r>
                <a:rPr lang="ko-KR" altLang="en-US" sz="1400" dirty="0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기타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873DA0F-68D2-9BD5-B8AD-3AF7153E9690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-279278" y="7650355"/>
              <a:ext cx="2286811" cy="307777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pPr algn="ctr"/>
              <a:r>
                <a:rPr lang="ko-KR" altLang="en-US" sz="1400" dirty="0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입원</a:t>
              </a:r>
              <a:r>
                <a:rPr lang="en-US" altLang="ko-KR" sz="1400" dirty="0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/</a:t>
              </a:r>
              <a:r>
                <a:rPr lang="ko-KR" altLang="en-US" sz="1400" dirty="0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간병</a:t>
              </a:r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DB960B48-9B44-D986-1952-E9EC04991EF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172531" y="5176730"/>
              <a:ext cx="1627094" cy="150163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rm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E89DDF1B-EC29-2485-FD46-0BDC771E78D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98082" y="6740140"/>
              <a:ext cx="1276472" cy="307777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pPr algn="ctr"/>
              <a:r>
                <a:rPr lang="ko-KR" altLang="en-US" sz="1400" dirty="0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사망</a:t>
              </a:r>
            </a:p>
          </p:txBody>
        </p:sp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C1A9F02C-D5C6-8A06-EFAC-512917281B1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494733" y="744896"/>
              <a:ext cx="3275703" cy="222765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rm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0FB2B8AB-3033-77D4-40D9-7926A040F51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1466" y="5368281"/>
              <a:ext cx="3275703" cy="222765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rm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BD9C0190-BCB4-C9ED-2842-DF93310C9B9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6201" y="7652515"/>
              <a:ext cx="3275703" cy="199135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rm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4CF05697-CCA4-11EE-3BCC-8D08B484C5C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513906" y="6729878"/>
              <a:ext cx="1627094" cy="150163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rm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4ABB4DB7-2BCB-DA1A-D77A-F5A0B45E12D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35448" y="6729878"/>
              <a:ext cx="1276472" cy="307777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pPr algn="ctr"/>
              <a:r>
                <a:rPr lang="ko-KR" altLang="en-US" sz="1400" dirty="0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재가</a:t>
              </a:r>
              <a:r>
                <a:rPr lang="en-US" altLang="ko-KR" sz="1400" dirty="0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/</a:t>
              </a:r>
              <a:r>
                <a:rPr lang="ko-KR" altLang="en-US" sz="1400" dirty="0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치매</a:t>
              </a:r>
            </a:p>
          </p:txBody>
        </p:sp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888733E9-8321-B544-91CA-C6DAB578808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187987" y="6729878"/>
              <a:ext cx="1627094" cy="150163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rm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6170892-9306-DD15-A1F7-37B3C24275CA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16886" y="8294762"/>
              <a:ext cx="1276472" cy="307777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pPr algn="ctr"/>
              <a:r>
                <a:rPr lang="ko-KR" altLang="en-US" sz="1400" dirty="0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화재</a:t>
              </a:r>
              <a:r>
                <a:rPr lang="en-US" altLang="ko-KR" sz="1400" dirty="0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/</a:t>
              </a:r>
              <a:r>
                <a:rPr lang="ko-KR" altLang="en-US" sz="1400" dirty="0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치아</a:t>
              </a:r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07C0F807-09B9-F971-3674-D39B3CAE330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510848" y="8294762"/>
              <a:ext cx="1627094" cy="150163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rm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B257A13C-BE9C-C00D-8A34-3F713AE8972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14523" y="8284010"/>
              <a:ext cx="1276472" cy="307777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pPr algn="ctr"/>
              <a:r>
                <a:rPr lang="ko-KR" altLang="en-US" sz="1400" dirty="0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연금</a:t>
              </a:r>
              <a:r>
                <a:rPr lang="en-US" altLang="ko-KR" sz="1400" dirty="0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/</a:t>
              </a:r>
              <a:r>
                <a:rPr lang="ko-KR" altLang="en-US" sz="1400" dirty="0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저축</a:t>
              </a:r>
            </a:p>
          </p:txBody>
        </p:sp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7406B274-7473-033E-7F89-34232DEAE0E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184929" y="8294762"/>
              <a:ext cx="1627094" cy="150163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rm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4FCEB890-E3BA-0651-6093-B086D110AFD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26107" y="3084755"/>
              <a:ext cx="1276472" cy="307777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pPr algn="ctr"/>
              <a:r>
                <a:rPr lang="ko-KR" altLang="en-US" sz="1400" dirty="0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운전자</a:t>
              </a:r>
            </a:p>
          </p:txBody>
        </p:sp>
        <p:sp>
          <p:nvSpPr>
            <p:cNvPr id="91" name="사각형: 둥근 모서리 90">
              <a:extLst>
                <a:ext uri="{FF2B5EF4-FFF2-40B4-BE49-F238E27FC236}">
                  <a16:creationId xmlns:a16="http://schemas.microsoft.com/office/drawing/2014/main" id="{58768B5E-78C2-C297-235A-6817AA94B6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172531" y="3064710"/>
              <a:ext cx="1627094" cy="204876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>
              <a:norm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92A66E5A-5C2F-0A18-2FF2-7383B98078B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26107" y="5166472"/>
              <a:ext cx="1276472" cy="307777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pPr algn="ctr"/>
              <a:r>
                <a:rPr lang="ko-KR" altLang="en-US" sz="1400" dirty="0" err="1">
                  <a:solidFill>
                    <a:srgbClr val="FF0000"/>
                  </a:solidFill>
                  <a:latin typeface="HY엽서M" panose="02030600000101010101" pitchFamily="18" charset="-127"/>
                  <a:ea typeface="HY엽서M" panose="02030600000101010101" pitchFamily="18" charset="-127"/>
                </a:rPr>
                <a:t>후유장해</a:t>
              </a:r>
              <a:endPara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endParaRPr>
            </a:p>
          </p:txBody>
        </p:sp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B3933CB5-16A9-3FAE-C4BE-8D4E2D227985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81" idx="0"/>
              <a:endCxn id="81" idx="2"/>
            </p:cNvCxnSpPr>
            <p:nvPr/>
          </p:nvCxnSpPr>
          <p:spPr>
            <a:xfrm>
              <a:off x="1719318" y="5368281"/>
              <a:ext cx="0" cy="2227658"/>
            </a:xfrm>
            <a:prstGeom prst="line">
              <a:avLst/>
            </a:prstGeom>
            <a:ln w="3175">
              <a:solidFill>
                <a:srgbClr val="92D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C797D6-F2D4-3B42-60E7-B9D3A2976F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535890" y="4748864"/>
              <a:ext cx="25200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rmAutofit/>
            </a:bodyPr>
            <a:lstStyle/>
            <a:p>
              <a:r>
                <a:t>일상배상책임  : 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2D7F020-D00A-BC54-FCB5-876844155D17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531857" y="5608253"/>
              <a:ext cx="2520000" cy="101566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rmAutofit/>
            </a:bodyPr>
            <a:lstStyle/>
            <a:p>
              <a:r>
                <a:t>입원  : </a:t>
              </a:r>
            </a:p>
            <a:p>
              <a:r>
                <a:t>통원  : </a:t>
              </a:r>
            </a:p>
            <a:p>
              <a:r>
                <a:t>MRI  : </a:t>
              </a:r>
            </a:p>
            <a:p>
              <a:r>
                <a:t>도수치료  : </a:t>
              </a:r>
            </a:p>
            <a:p>
              <a:r>
                <a:t>비급여주사  : 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517AFE1-E0D4-0D03-FB8F-81B5CE9F8163}"/>
                </a:ext>
              </a:extLst>
            </p:cNvPr>
            <p:cNvSpPr txBox="1">
              <a:spLocks/>
            </p:cNvSpPr>
            <p:nvPr/>
          </p:nvSpPr>
          <p:spPr>
            <a:xfrm>
              <a:off x="3551991" y="3392764"/>
              <a:ext cx="1439004" cy="136960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rmAutofit/>
            </a:bodyPr>
            <a:lstStyle/>
            <a:p>
              <a:r>
                <a:t>골절  : </a:t>
              </a:r>
            </a:p>
            <a:p>
              <a:r>
                <a:t>5대골절  : </a:t>
              </a:r>
            </a:p>
            <a:p>
              <a:r>
                <a:t>화상  : </a:t>
              </a:r>
            </a:p>
            <a:p>
              <a:r>
                <a:t>중대화상  : </a:t>
              </a:r>
            </a:p>
            <a:p>
              <a:r>
                <a:t>반깁스  : </a:t>
              </a:r>
            </a:p>
            <a:p>
              <a:r>
                <a:t>깁스  : </a:t>
              </a:r>
            </a:p>
            <a:p>
              <a:r>
                <a:t>응급실  : 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B720DDF-C6C9-866A-0B6F-2735A76F6BB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531857" y="7017107"/>
              <a:ext cx="2520000" cy="83099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rmAutofit/>
            </a:bodyPr>
            <a:lstStyle/>
            <a:p>
              <a:r>
                <a:t>질병사망</a:t>
              </a:r>
            </a:p>
            <a:p>
              <a:r>
                <a:t>- ___세  : </a:t>
              </a:r>
            </a:p>
            <a:p>
              <a:r>
                <a:t>80세  : </a:t>
              </a:r>
            </a:p>
            <a:p>
              <a:r>
                <a:t>종신  : 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23BF30E-84AC-C171-2CC0-48E55CAA073A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531857" y="7841460"/>
              <a:ext cx="25200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rmAutofit/>
            </a:bodyPr>
            <a:lstStyle/>
            <a:p>
              <a:r>
                <a:t>상해사망  : 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631A0F5-0D30-BC94-3945-66E68C34B357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2211" y="3342373"/>
              <a:ext cx="3155500" cy="17543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rmAutofit/>
            </a:bodyPr>
            <a:lstStyle/>
            <a:p>
              <a:r>
                <a:t>암진단비  : </a:t>
              </a:r>
            </a:p>
            <a:p>
              <a:r>
                <a:t>유사암  : </a:t>
              </a:r>
            </a:p>
            <a:p>
              <a:r>
                <a:t>통합암  : </a:t>
              </a:r>
            </a:p>
            <a:p>
              <a:r>
                <a:t>전이암  : </a:t>
              </a:r>
            </a:p>
            <a:p/>
            <a:p>
              <a:r>
                <a:t>항암치료  : </a:t>
              </a:r>
            </a:p>
            <a:p>
              <a:r>
                <a:t>표적/양성자.세기  : </a:t>
              </a:r>
            </a:p>
            <a:p>
              <a:r>
                <a:t>암통원비  : </a:t>
              </a:r>
            </a:p>
            <a:p>
              <a:r>
                <a:t>다빈치  : 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EC12340-EF7A-8426-32B9-EF912AA4C42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9959" y="5649932"/>
              <a:ext cx="1621742" cy="18620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rmAutofit/>
            </a:bodyPr>
            <a:lstStyle/>
            <a:p>
              <a:r>
                <a:t>질병수술  : </a:t>
              </a:r>
            </a:p>
            <a:p>
              <a:r>
                <a:t>1~5종 수술비</a:t>
              </a:r>
            </a:p>
            <a:p>
              <a:r>
                <a:t>( 미가입 )</a:t>
              </a:r>
            </a:p>
            <a:p>
              <a:r>
                <a:t>119대 수술  : </a:t>
              </a:r>
            </a:p>
            <a:p>
              <a:r>
                <a:t>뇌혈관수술  : </a:t>
              </a:r>
            </a:p>
            <a:p>
              <a:r>
                <a:t>허혈성수술  : </a:t>
              </a:r>
            </a:p>
            <a:p>
              <a:r>
                <a:t>심장 수술  : </a:t>
              </a:r>
            </a:p>
            <a:p>
              <a:r>
                <a:t>5대기관수술  : </a:t>
              </a:r>
            </a:p>
            <a:p>
              <a:r>
                <a:t>7대 수술  : </a:t>
              </a:r>
            </a:p>
            <a:p>
              <a:r>
                <a:t>______수술  : 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7CD4289-6CBB-8572-BFB1-8329F4CC7ECA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729621" y="5691134"/>
              <a:ext cx="1621742" cy="187743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rmAutofit/>
            </a:bodyPr>
            <a:lstStyle/>
            <a:p>
              <a:r>
                <a:t>상해수술  : </a:t>
              </a:r>
            </a:p>
            <a:p>
              <a:r>
                <a:t>종합병원수술  : </a:t>
              </a:r>
            </a:p>
            <a:p>
              <a:r>
                <a:t>1~5종 수술비</a:t>
              </a:r>
            </a:p>
            <a:p>
              <a:r>
                <a:t>( 미가입 )</a:t>
              </a:r>
            </a:p>
            <a:p>
              <a:r>
                <a:t>골절수술  : </a:t>
              </a:r>
            </a:p>
            <a:p>
              <a:r>
                <a:t>5대골절수술  : </a:t>
              </a:r>
            </a:p>
            <a:p>
              <a:r>
                <a:t>화상수술  : </a:t>
              </a:r>
            </a:p>
            <a:p>
              <a:r>
                <a:t>중대상해수술  : </a:t>
              </a:r>
            </a:p>
            <a:p>
              <a:r>
                <a:t>창상봉합수술  : </a:t>
              </a:r>
            </a:p>
            <a:p>
              <a:r>
                <a:t>________수술  : 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ACACAF9-54D6-2C8B-7298-8C1D617CCAE0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22009" y="7875924"/>
              <a:ext cx="3197963" cy="175432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rmAutofit/>
            </a:bodyPr>
            <a:lstStyle/>
            <a:p>
              <a:r>
                <a:t>질병일당  : </a:t>
              </a:r>
            </a:p>
            <a:p>
              <a:r>
                <a:t>상해일당  : </a:t>
              </a:r>
            </a:p>
            <a:p>
              <a:r>
                <a:t>질병/상해중환자실  : </a:t>
              </a:r>
            </a:p>
            <a:p>
              <a:r>
                <a:t>1인실 상급병원일당  : </a:t>
              </a:r>
            </a:p>
            <a:p>
              <a:r>
                <a:t>1인실 종합병원일당  : </a:t>
              </a:r>
            </a:p>
            <a:p>
              <a:r>
                <a:t>암일당  : </a:t>
              </a:r>
            </a:p>
            <a:p>
              <a:r>
                <a:t> </a:t>
              </a:r>
            </a:p>
            <a:p>
              <a:r>
                <a:t>간병인일당  : </a:t>
              </a:r>
            </a:p>
            <a:p>
              <a:r>
                <a:t>간호통합병동일당  : </a:t>
              </a:r>
            </a:p>
          </p:txBody>
        </p:sp>
      </p:grpSp>
      <p:sp>
        <p:nvSpPr>
          <p:cNvPr id="94" name="TextBox 93"/>
          <p:cNvSpPr txBox="1"/>
          <p:nvPr/>
        </p:nvSpPr>
        <p:spPr>
          <a:xfrm>
            <a:off x="1346301" y="2256860"/>
            <a:ext cx="1032655" cy="169277"/>
          </a:xfrm>
          <a:prstGeom prst="rect">
            <a:avLst/>
          </a:prstGeom>
          <a:noFill/>
        </p:spPr>
        <p:txBody>
          <a:bodyPr wrap="square" tIns="0" bIns="0">
            <a:normAutofit/>
          </a:bodyPr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1346301" y="2706624"/>
            <a:ext cx="1032655" cy="274320"/>
          </a:xfrm>
          <a:prstGeom prst="rect">
            <a:avLst/>
          </a:prstGeom>
          <a:noFill/>
        </p:spPr>
        <p:txBody>
          <a:bodyPr wrap="square" tIns="0" bIns="0">
            <a:normAutofit/>
          </a:bodyPr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4873870" y="2711076"/>
            <a:ext cx="551754" cy="169277"/>
          </a:xfrm>
          <a:prstGeom prst="rect">
            <a:avLst/>
          </a:prstGeom>
          <a:noFill/>
        </p:spPr>
        <p:txBody>
          <a:bodyPr wrap="square" tIns="0" bIns="0">
            <a:normAutofit/>
          </a:bodyPr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3698082" y="269033"/>
            <a:ext cx="2465740" cy="3693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b="1" dirty="0">
                <a:solidFill>
                  <a:srgbClr val="000000"/>
                </a:solidFill>
              </a:rPr>
              <a:t>2026년 05월 28일 기준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189069-36D9-3C53-DA8B-84C784DEBBB1}"/>
              </a:ext>
            </a:extLst>
          </p:cNvPr>
          <p:cNvSpPr txBox="1"/>
          <p:nvPr/>
        </p:nvSpPr>
        <p:spPr>
          <a:xfrm>
            <a:off x="3551650" y="1530257"/>
            <a:ext cx="3194099" cy="430887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t>협심증/심부전 등  : </a:t>
            </a:r>
          </a:p>
          <a:p>
            <a:r>
              <a:t>부정맥  :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44CD51-E444-A204-4159-4135AFAB79BC}"/>
              </a:ext>
            </a:extLst>
          </p:cNvPr>
          <p:cNvSpPr txBox="1"/>
          <p:nvPr/>
        </p:nvSpPr>
        <p:spPr>
          <a:xfrm>
            <a:off x="1303680" y="1733296"/>
            <a:ext cx="728084" cy="184666"/>
          </a:xfrm>
          <a:prstGeom prst="rect">
            <a:avLst/>
          </a:prstGeom>
          <a:noFill/>
        </p:spPr>
        <p:txBody>
          <a:bodyPr wrap="square" tIns="0" bIns="0"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606231273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5943600" cy="899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보장분석 메모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2659</TotalTime>
  <Words>370</Words>
  <Application>Microsoft Office PowerPoint</Application>
  <PresentationFormat>A4 용지(210x297mm)</PresentationFormat>
  <Paragraphs>111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HY엽서L</vt:lpstr>
      <vt:lpstr>HY엽서M</vt:lpstr>
      <vt:lpstr>Aptos</vt:lpstr>
      <vt:lpstr>Aptos Display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은혜 최</dc:creator>
  <cp:lastModifiedBy>은혜 최</cp:lastModifiedBy>
  <cp:revision>54</cp:revision>
  <cp:lastPrinted>2026-05-22T03:54:25Z</cp:lastPrinted>
  <dcterms:created xsi:type="dcterms:W3CDTF">2025-05-17T14:02:33Z</dcterms:created>
  <dcterms:modified xsi:type="dcterms:W3CDTF">2026-06-02T13:23:58Z</dcterms:modified>
</cp:coreProperties>
</file>