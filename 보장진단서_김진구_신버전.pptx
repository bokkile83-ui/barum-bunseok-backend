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548640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 A K E O N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3152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보장 진단서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206240"/>
            <a:ext cx="237744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27432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보유 계약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18304"/>
            <a:ext cx="27432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4480560"/>
            <a:ext cx="27432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월 납입보험료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718304"/>
            <a:ext cx="27432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324,470 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480560"/>
            <a:ext cx="27432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갱신 / 비갱신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718304"/>
            <a:ext cx="2743200" cy="3840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 /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737040"/>
            <a:ext cx="731520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MAKEONE · 보장분석 자동화 리포트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0692000" cy="27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54864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68580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28960" y="128016"/>
            <a:ext cx="1097280" cy="4023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65920" y="566928"/>
            <a:ext cx="2560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보장 현황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170432"/>
            <a:ext cx="1234440" cy="6766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170432"/>
            <a:ext cx="123444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사망·후유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18488" y="1170432"/>
            <a:ext cx="3749039" cy="676656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64208" y="1170432"/>
            <a:ext cx="365760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상해사망 2억9,200만   일반사망 8,200만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중대한CI적용 5,000만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22976" y="1170432"/>
            <a:ext cx="1234440" cy="6766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22976" y="1170432"/>
            <a:ext cx="123444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416" y="1170432"/>
            <a:ext cx="3749039" cy="676656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03136" y="1170432"/>
            <a:ext cx="365760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일반암 5,000만   유사암(갑.기.경.제) 4,000만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중대한 암 3,200만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1956816"/>
            <a:ext cx="1234440" cy="6766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1956816"/>
            <a:ext cx="123444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뇌혈관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18488" y="1956816"/>
            <a:ext cx="3749039" cy="676656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64208" y="1956816"/>
            <a:ext cx="365760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중대한 뇌졸증 3,200만   뇌혈관진단비 1,000만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2976" y="1956816"/>
            <a:ext cx="1234440" cy="6766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22976" y="1956816"/>
            <a:ext cx="123444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심장 (＋빈맥)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57416" y="1956816"/>
            <a:ext cx="3749039" cy="676656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1956816"/>
            <a:ext cx="365760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중대한 급성심근 3,200만   허혈성 진단비 2,000만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부정맥 1,000만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2743200"/>
            <a:ext cx="1234440" cy="6766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2743200"/>
            <a:ext cx="123444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수술비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18488" y="2743200"/>
            <a:ext cx="3749039" cy="676656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64208" y="2743200"/>
            <a:ext cx="365760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뇌혈관수술비 2,000만   허혈성수술비 2,000만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상해수술비 50만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22976" y="2743200"/>
            <a:ext cx="1234440" cy="6766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22976" y="2743200"/>
            <a:ext cx="123444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운전자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57416" y="2743200"/>
            <a:ext cx="3749039" cy="676656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03136" y="2743200"/>
            <a:ext cx="365760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합의금 1억   대인 3,000만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변호사 2,000만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3529584"/>
            <a:ext cx="1234440" cy="6766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3529584"/>
            <a:ext cx="123444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입원·일당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18488" y="3529584"/>
            <a:ext cx="3749039" cy="676656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64208" y="3529584"/>
            <a:ext cx="365760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상해중환자실 10만   상해일당 2만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22976" y="3529584"/>
            <a:ext cx="1234440" cy="6766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22976" y="3529584"/>
            <a:ext cx="123444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실손·일배책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57416" y="3529584"/>
            <a:ext cx="3749039" cy="676656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03136" y="3529584"/>
            <a:ext cx="365760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입원 3,000만   통원 10만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약값 5만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4315968"/>
            <a:ext cx="1234440" cy="6766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4315968"/>
            <a:ext cx="123444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골절·화상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18488" y="4315968"/>
            <a:ext cx="3749039" cy="676656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64208" y="4315968"/>
            <a:ext cx="365760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5대골절진단비 100만   골절(치아파절포함) 30만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깁스진단비 30만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22976" y="4315968"/>
            <a:ext cx="1234440" cy="67665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22976" y="4315968"/>
            <a:ext cx="123444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응급실·독감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57416" y="4315968"/>
            <a:ext cx="3749039" cy="676656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03136" y="4315968"/>
            <a:ext cx="3657600" cy="67665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응급실(응급) 3만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7212528"/>
            <a:ext cx="10692000" cy="34747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68640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· 1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0692000" cy="27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54864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68580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28960" y="128016"/>
            <a:ext cx="1097280" cy="4023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65920" y="566928"/>
            <a:ext cx="2560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AI 진단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1556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85FA5"/>
                </a:solidFill>
                <a:latin typeface="맑은 고딕"/>
                <a:ea typeface="맑은 고딕"/>
                <a:cs typeface="맑은 고딕"/>
              </a:rPr>
              <a:t>갱신형 — 보험료 인상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11556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비갱신형 — 만기까지 고정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463040"/>
            <a:ext cx="4709160" cy="402336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32918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애손보 참좋은운전자+보험2101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1463040"/>
            <a:ext cx="12344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185FA5"/>
                </a:solidFill>
                <a:latin typeface="맑은 고딕"/>
                <a:ea typeface="맑은 고딕"/>
                <a:cs typeface="맑은 고딕"/>
              </a:rPr>
              <a:t>20,380원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463040"/>
            <a:ext cx="4709160" cy="402336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68112" y="1463040"/>
            <a:ext cx="32918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교보생명 무배당교보큰사랑 CI 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463040"/>
            <a:ext cx="12344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80,070원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1920240"/>
            <a:ext cx="4709160" cy="402336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68112" y="1920240"/>
            <a:ext cx="32918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도야새며 （무） 수호천사알들한통합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920240"/>
            <a:ext cx="12344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70,800원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2377440"/>
            <a:ext cx="4709160" cy="402336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68112" y="2377440"/>
            <a:ext cx="32918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동양생명 （무）수호천사내가만드는보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377440"/>
            <a:ext cx="12344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47,064원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2834640"/>
            <a:ext cx="4709160" cy="402336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68112" y="2834640"/>
            <a:ext cx="32918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동양생명 （무）수호천사 NEW 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834640"/>
            <a:ext cx="12344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31,625원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3291840"/>
            <a:ext cx="4709160" cy="402336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68112" y="3291840"/>
            <a:ext cx="32918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흥국화재 무배당 행복을 多주는 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291840"/>
            <a:ext cx="123444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74,531원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800600"/>
            <a:ext cx="457200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보유 강점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74920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사망·후유 — 충족률 100% — 핵심담보 보유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94376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암 — 충족률 100% — 핵심담보 보유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513832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심장 — 충족률 100% — 핵심담보 보유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733288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수술비 — 충족률 100% — 핵심담보 보유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4800600"/>
            <a:ext cx="457200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보장 공백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8112" y="5074920"/>
            <a:ext cx="45720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· 주요 공백 없음 — 핵심담보 균형이 양호합니다.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7212528"/>
            <a:ext cx="10692000" cy="34747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68640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· 2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0692000" cy="27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54864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68580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28960" y="128016"/>
            <a:ext cx="1097280" cy="4023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65920" y="566928"/>
            <a:ext cx="2560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핵심 보장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97280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CI 선지급 분석  CRITICAL ILLNESS · PRE-PAYMENT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26464"/>
            <a:ext cx="992390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572768"/>
            <a:ext cx="1554480" cy="292608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572768"/>
            <a:ext cx="1554480" cy="292608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선지급 80% 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20240"/>
            <a:ext cx="950328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CI 주계약 사망보험금 4,000만. 중대질병 진단 시 80% 선지급, 잔여 20%(800만)는 사망 시 지급된다.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286000"/>
            <a:ext cx="448056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40864"/>
            <a:ext cx="42062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선지급 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23744"/>
            <a:ext cx="4206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3,200만 · 진단 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0368" y="2286000"/>
            <a:ext cx="4480560" cy="566928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340864"/>
            <a:ext cx="420624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잔여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523744"/>
            <a:ext cx="42062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800만 · 사망 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26080"/>
            <a:ext cx="2926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962656"/>
            <a:ext cx="292608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ci암진단비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145536"/>
            <a:ext cx="29260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94176" y="2926080"/>
            <a:ext cx="2926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4176" y="2962656"/>
            <a:ext cx="292608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ci뇌졸증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4176" y="3145536"/>
            <a:ext cx="29260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21424" y="2926080"/>
            <a:ext cx="2926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1424" y="2962656"/>
            <a:ext cx="292608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ci급성심근경색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3145536"/>
            <a:ext cx="29260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3,200만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29584"/>
            <a:ext cx="9503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■ CI 선지급형 — 중대질병 진단 시 사망보험금 일부를 미리 받아 치료비로 쓰고, 사망 시 잔여분이 지급된다. 선지급률은 50% 또는 80%만 존재한다.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3977639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주요 치료비 정리  TREATMENT BENEFITS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288535"/>
            <a:ext cx="181051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343399"/>
            <a:ext cx="181051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암주요치료비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562855"/>
            <a:ext cx="181051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40864" y="4288535"/>
            <a:ext cx="181051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40864" y="4343399"/>
            <a:ext cx="181051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비급여주요치료비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40864" y="4562855"/>
            <a:ext cx="181051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4288535"/>
            <a:ext cx="181051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4343399"/>
            <a:ext cx="181051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순환계주요치료비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562855"/>
            <a:ext cx="181051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54496" y="4288535"/>
            <a:ext cx="181051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54496" y="4343399"/>
            <a:ext cx="181051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산정특례(뇌혈관)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4496" y="4562855"/>
            <a:ext cx="181051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11312" y="4288535"/>
            <a:ext cx="181051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11312" y="4343399"/>
            <a:ext cx="1810512" cy="2194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1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산정특례(심장)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1312" y="4562855"/>
            <a:ext cx="1810512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5074919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보장 진단 코멘트  SUMMARY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" y="5367527"/>
            <a:ext cx="9923904" cy="82296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5440679"/>
            <a:ext cx="9503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김진구 고객님은 보유 6건 · 월 324,470원의 보장을 운용하고 있습니다. CI 선지급형 보유로 중대질병 진단 시 진단자금이 즉시 지급되며, 진단 후에도 잔여 사망보장 800만이 유지됩니다. 보강이 필요한 공백 영역은 0개입니다.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7212528"/>
            <a:ext cx="10692000" cy="34747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4048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68640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· 3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0692000" cy="27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54864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68580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28960" y="128016"/>
            <a:ext cx="1097280" cy="4023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65920" y="566928"/>
            <a:ext cx="2560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부위별 충족률</a:t>
            </a:r>
          </a:p>
        </p:txBody>
      </p:sp>
      <p:pic>
        <p:nvPicPr>
          <p:cNvPr id="8" name="Picture 7" descr="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1563624"/>
            <a:ext cx="914400" cy="256032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67128"/>
            <a:ext cx="1463040" cy="219456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암</a:t>
            </a:r>
          </a:p>
        </p:txBody>
      </p:sp>
      <p:pic>
        <p:nvPicPr>
          <p:cNvPr id="11" name="Picture 10" descr="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23444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60320" y="1563624"/>
            <a:ext cx="914400" cy="256032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167128"/>
            <a:ext cx="1463040" cy="219456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운전자</a:t>
            </a:r>
          </a:p>
        </p:txBody>
      </p:sp>
      <p:pic>
        <p:nvPicPr>
          <p:cNvPr id="14" name="Picture 13" descr="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9" y="1234440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26279" y="1563624"/>
            <a:ext cx="914400" cy="256032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2167128"/>
            <a:ext cx="1463040" cy="219456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실손·배상</a:t>
            </a:r>
          </a:p>
        </p:txBody>
      </p:sp>
      <p:pic>
        <p:nvPicPr>
          <p:cNvPr id="17" name="Picture 16" descr="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3444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92240" y="1563624"/>
            <a:ext cx="914400" cy="256032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67128"/>
            <a:ext cx="1463040" cy="219456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수술비</a:t>
            </a:r>
          </a:p>
        </p:txBody>
      </p:sp>
      <p:pic>
        <p:nvPicPr>
          <p:cNvPr id="20" name="Picture 19" descr="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234440"/>
            <a:ext cx="914400" cy="914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58200" y="1563624"/>
            <a:ext cx="914400" cy="256032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84%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167128"/>
            <a:ext cx="1463040" cy="219456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뇌혈관</a:t>
            </a:r>
          </a:p>
        </p:txBody>
      </p:sp>
      <p:pic>
        <p:nvPicPr>
          <p:cNvPr id="23" name="Picture 22" descr="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97480"/>
            <a:ext cx="914400" cy="914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4360" y="3026664"/>
            <a:ext cx="914400" cy="256032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3630168"/>
            <a:ext cx="1463040" cy="219456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사망·후유</a:t>
            </a:r>
          </a:p>
        </p:txBody>
      </p:sp>
      <p:pic>
        <p:nvPicPr>
          <p:cNvPr id="26" name="Picture 25" descr="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697480"/>
            <a:ext cx="914400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560320" y="3026664"/>
            <a:ext cx="914400" cy="256032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630168"/>
            <a:ext cx="1463040" cy="219456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골절·화상</a:t>
            </a:r>
          </a:p>
        </p:txBody>
      </p:sp>
      <p:pic>
        <p:nvPicPr>
          <p:cNvPr id="29" name="Picture 28" descr="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9" y="2697480"/>
            <a:ext cx="914400" cy="914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26279" y="3026664"/>
            <a:ext cx="914400" cy="256032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59" y="3630168"/>
            <a:ext cx="1463040" cy="219456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심장</a:t>
            </a:r>
          </a:p>
        </p:txBody>
      </p:sp>
      <p:pic>
        <p:nvPicPr>
          <p:cNvPr id="32" name="Picture 31" descr="g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697480"/>
            <a:ext cx="914400" cy="914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92240" y="3026664"/>
            <a:ext cx="914400" cy="256032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67%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630168"/>
            <a:ext cx="1463040" cy="219456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입원·일당</a:t>
            </a:r>
          </a:p>
        </p:txBody>
      </p:sp>
      <p:pic>
        <p:nvPicPr>
          <p:cNvPr id="35" name="Picture 34" descr="g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697480"/>
            <a:ext cx="914400" cy="9144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458200" y="3026664"/>
            <a:ext cx="914400" cy="256032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3630168"/>
            <a:ext cx="1463040" cy="219456"/>
          </a:xfrm>
          <a:prstGeom prst="rect">
            <a:avLst/>
          </a:prstGeom>
          <a:noFill/>
        </p:spPr>
        <p:txBody>
          <a:bodyPr wrap="none" anchor="t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응급실·독감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4572000"/>
            <a:ext cx="548640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충족률 산정 근거   보유 ÷ 40대 권장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4864608"/>
            <a:ext cx="146304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" y="4864608"/>
            <a:ext cx="146304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47088" y="4864608"/>
            <a:ext cx="118872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47088" y="4864608"/>
            <a:ext cx="118872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35808" y="4864608"/>
            <a:ext cx="118872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35808" y="4864608"/>
            <a:ext cx="118872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권장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24528" y="4864608"/>
            <a:ext cx="86868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24528" y="4864608"/>
            <a:ext cx="86868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충족률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" y="5102352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5102352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47088" y="5102352"/>
            <a:ext cx="118872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47088" y="510235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1억2,310만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35808" y="5102352"/>
            <a:ext cx="118872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35808" y="510235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24528" y="510235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24528" y="5102352"/>
            <a:ext cx="86868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" y="5285232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285232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운전자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47088" y="5285232"/>
            <a:ext cx="118872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47088" y="528523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5개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35808" y="5285232"/>
            <a:ext cx="118872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35808" y="528523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24528" y="5285232"/>
            <a:ext cx="86868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24528" y="5285232"/>
            <a:ext cx="86868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4048" y="5468112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4048" y="5468112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실손·배상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47088" y="5468112"/>
            <a:ext cx="118872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47088" y="546811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35808" y="5468112"/>
            <a:ext cx="118872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35808" y="546811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24528" y="546811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24528" y="5468112"/>
            <a:ext cx="86868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" y="5650992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4048" y="5650992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수술비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47088" y="5650992"/>
            <a:ext cx="118872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847088" y="565099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6개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35808" y="5650992"/>
            <a:ext cx="118872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35808" y="565099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24528" y="5650992"/>
            <a:ext cx="86868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24528" y="5650992"/>
            <a:ext cx="86868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4048" y="5833872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4048" y="5833872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뇌혈관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47088" y="5833872"/>
            <a:ext cx="118872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847088" y="583387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4,200만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35808" y="5833872"/>
            <a:ext cx="118872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35808" y="583387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5,000만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24528" y="583387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224528" y="5833872"/>
            <a:ext cx="86868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84%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394960" y="4864608"/>
            <a:ext cx="146304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94960" y="4864608"/>
            <a:ext cx="146304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858000" y="4864608"/>
            <a:ext cx="118872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858000" y="4864608"/>
            <a:ext cx="118872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보유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046720" y="4864608"/>
            <a:ext cx="118872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046720" y="4864608"/>
            <a:ext cx="118872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권장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35440" y="4864608"/>
            <a:ext cx="86868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235440" y="4864608"/>
            <a:ext cx="86868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충족률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394960" y="5102352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394960" y="5102352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사망·후유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858000" y="5102352"/>
            <a:ext cx="118872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858000" y="510235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4억3,310만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046720" y="5102352"/>
            <a:ext cx="118872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46720" y="510235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1억5,000만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235440" y="510235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235440" y="5102352"/>
            <a:ext cx="86868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394960" y="5285232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394960" y="5285232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골절·화상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858000" y="5285232"/>
            <a:ext cx="118872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858000" y="528523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046720" y="5285232"/>
            <a:ext cx="118872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046720" y="528523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235440" y="5285232"/>
            <a:ext cx="86868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235440" y="5285232"/>
            <a:ext cx="86868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394960" y="5468112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394960" y="5468112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심장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858000" y="5468112"/>
            <a:ext cx="118872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858000" y="546811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6,200만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46720" y="5468112"/>
            <a:ext cx="118872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046720" y="546811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3,000만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235440" y="546811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235440" y="5468112"/>
            <a:ext cx="86868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D7A4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394960" y="5650992"/>
            <a:ext cx="146304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394960" y="5650992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입원·일당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858000" y="5650992"/>
            <a:ext cx="118872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858000" y="565099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46720" y="5650992"/>
            <a:ext cx="118872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46720" y="565099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235440" y="5650992"/>
            <a:ext cx="868680" cy="1828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235440" y="5650992"/>
            <a:ext cx="86868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67%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394960" y="5833872"/>
            <a:ext cx="146304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394960" y="5833872"/>
            <a:ext cx="146304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응급실·독감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858000" y="5833872"/>
            <a:ext cx="118872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858000" y="583387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1개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046720" y="5833872"/>
            <a:ext cx="118872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046720" y="5833872"/>
            <a:ext cx="118872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2개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235440" y="5833872"/>
            <a:ext cx="8686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235440" y="5833872"/>
            <a:ext cx="868680" cy="18288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50%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84048" y="6035040"/>
            <a:ext cx="9923904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■ 운전자 리모델링 권유</a:t>
            </a:r>
          </a:p>
          <a:p>
            <a:pPr algn="l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2022년 보행자보호의무·처벌 강화로 옛 운전자보험은 담보가 부족합니다. 미달 항목 — 합의금(기준 2억): 보유 10,000만 / 6주미만 합의금(기준 1천만): 미보유 / 변호사선임(기준 5천만): 보유 2,000만. 최신 기준으로 재가입(리모델링)을 권유드립니다.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0" y="7212528"/>
            <a:ext cx="10692000" cy="34747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84048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668640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· 4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0692000" cy="27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54864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68580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28960" y="128016"/>
            <a:ext cx="1097280" cy="4023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65920" y="566928"/>
            <a:ext cx="2560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담보별 보장범위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97280"/>
            <a:ext cx="457200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뇌 — 질병코드별 커버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389888"/>
            <a:ext cx="228600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389888"/>
            <a:ext cx="228600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질병 (코드)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389888"/>
            <a:ext cx="109728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1389888"/>
            <a:ext cx="109728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뇌혈관진단비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67328" y="1389888"/>
            <a:ext cx="77724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1389888"/>
            <a:ext cx="77724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순환계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4568" y="1389888"/>
            <a:ext cx="77724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89888"/>
            <a:ext cx="77724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산정특례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1627632"/>
            <a:ext cx="22860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1627632"/>
            <a:ext cx="22860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뇌출혈  I60~62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70048" y="1627632"/>
            <a:ext cx="109728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0048" y="1627632"/>
            <a:ext cx="109728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67328" y="1627632"/>
            <a:ext cx="77724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8" y="16276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44568" y="1627632"/>
            <a:ext cx="77724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16276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1856232"/>
            <a:ext cx="228600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1856232"/>
            <a:ext cx="22860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뇌졸증·뇌경색  I63·65·66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1856232"/>
            <a:ext cx="109728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70048" y="1856232"/>
            <a:ext cx="109728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67328" y="1856232"/>
            <a:ext cx="77724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67328" y="18562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44568" y="1856232"/>
            <a:ext cx="77724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4568" y="18562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" y="2084832"/>
            <a:ext cx="22860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2084832"/>
            <a:ext cx="22860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기타 뇌혈관질환  I64·67~69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70048" y="2084832"/>
            <a:ext cx="109728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70048" y="2084832"/>
            <a:ext cx="109728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67328" y="2084832"/>
            <a:ext cx="77724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67328" y="20848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44568" y="2084832"/>
            <a:ext cx="77724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44568" y="20848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2313432"/>
            <a:ext cx="228600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" y="2313432"/>
            <a:ext cx="22860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뇌동맥류·정맥류  I71·72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70048" y="2313432"/>
            <a:ext cx="109728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70048" y="2313432"/>
            <a:ext cx="109728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67328" y="2313432"/>
            <a:ext cx="77724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67328" y="23134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44568" y="2313432"/>
            <a:ext cx="77724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44568" y="23134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" y="2542032"/>
            <a:ext cx="22860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2542032"/>
            <a:ext cx="22860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선천 뇌혈관기형  Q28.0~28.3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70048" y="2542032"/>
            <a:ext cx="109728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70048" y="2542032"/>
            <a:ext cx="109728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67328" y="2542032"/>
            <a:ext cx="77724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67328" y="25420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44568" y="2542032"/>
            <a:ext cx="77724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44568" y="25420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" y="2770632"/>
            <a:ext cx="228600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4048" y="2770632"/>
            <a:ext cx="22860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외상성 뇌출혈  S06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70048" y="2770632"/>
            <a:ext cx="109728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70048" y="2770632"/>
            <a:ext cx="109728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67328" y="2770632"/>
            <a:ext cx="77724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67328" y="27706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44568" y="2770632"/>
            <a:ext cx="77724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44568" y="27706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" y="310896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· 외상성 뇌출혈(S06) = 뇌혈관진단비 미보장 → 산정특례 축only</a:t>
            </a:r>
          </a:p>
          <a:p>
            <a:pPr algn="l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· 산정특례 = 진단 기반 별개 담보축 · 지급조건 [확인]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94960" y="1097280"/>
            <a:ext cx="457200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심장 — 질병코드별 커버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94960" y="1389888"/>
            <a:ext cx="192024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94960" y="1389888"/>
            <a:ext cx="192024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질병 (코드)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0" y="1389888"/>
            <a:ext cx="96012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0" y="1389888"/>
            <a:ext cx="96012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허혈성진단비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75320" y="1389888"/>
            <a:ext cx="77724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75320" y="1389888"/>
            <a:ext cx="77724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심장(특정)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52560" y="1389888"/>
            <a:ext cx="68580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52560" y="1389888"/>
            <a:ext cx="68580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순환계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38360" y="1389888"/>
            <a:ext cx="685800" cy="23774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38360" y="1389888"/>
            <a:ext cx="685800" cy="237744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산정특례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94960" y="1627632"/>
            <a:ext cx="192024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94960" y="1627632"/>
            <a:ext cx="1920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급성심근경색  I21~23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00" y="1627632"/>
            <a:ext cx="96012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15200" y="1627632"/>
            <a:ext cx="96012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75320" y="1627632"/>
            <a:ext cx="77724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75320" y="16276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52560" y="1627632"/>
            <a:ext cx="6858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52560" y="1627632"/>
            <a:ext cx="6858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738360" y="1627632"/>
            <a:ext cx="6858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738360" y="1627632"/>
            <a:ext cx="6858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394960" y="1856232"/>
            <a:ext cx="192024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94960" y="1856232"/>
            <a:ext cx="1920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협심증  I20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315200" y="1856232"/>
            <a:ext cx="96012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15200" y="1856232"/>
            <a:ext cx="96012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275320" y="1856232"/>
            <a:ext cx="77724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75320" y="18562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052560" y="1856232"/>
            <a:ext cx="68580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052560" y="1856232"/>
            <a:ext cx="6858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738360" y="1856232"/>
            <a:ext cx="68580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738360" y="1856232"/>
            <a:ext cx="6858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394960" y="2084832"/>
            <a:ext cx="192024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94960" y="2084832"/>
            <a:ext cx="1920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기타·만성 허혈  I24·25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15200" y="2084832"/>
            <a:ext cx="96012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315200" y="2084832"/>
            <a:ext cx="96012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75320" y="2084832"/>
            <a:ext cx="77724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75320" y="20848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052560" y="2084832"/>
            <a:ext cx="6858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052560" y="2084832"/>
            <a:ext cx="6858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738360" y="2084832"/>
            <a:ext cx="6858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738360" y="2084832"/>
            <a:ext cx="6858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94960" y="2313432"/>
            <a:ext cx="192024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394960" y="2313432"/>
            <a:ext cx="1920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심장판막  I05·I34~37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315200" y="2313432"/>
            <a:ext cx="96012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315200" y="2313432"/>
            <a:ext cx="96012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75320" y="2313432"/>
            <a:ext cx="77724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75320" y="23134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52560" y="2313432"/>
            <a:ext cx="68580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052560" y="2313432"/>
            <a:ext cx="6858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738360" y="2313432"/>
            <a:ext cx="68580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738360" y="2313432"/>
            <a:ext cx="6858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394960" y="2542032"/>
            <a:ext cx="192024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394960" y="2542032"/>
            <a:ext cx="1920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심근·심내막 염증  I30~33·I40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315200" y="2542032"/>
            <a:ext cx="96012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315200" y="2542032"/>
            <a:ext cx="96012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275320" y="2542032"/>
            <a:ext cx="77724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275320" y="25420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052560" y="2542032"/>
            <a:ext cx="6858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052560" y="2542032"/>
            <a:ext cx="6858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738360" y="2542032"/>
            <a:ext cx="6858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738360" y="2542032"/>
            <a:ext cx="6858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394960" y="2770632"/>
            <a:ext cx="192024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394960" y="2770632"/>
            <a:ext cx="1920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부정맥  I49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315200" y="2770632"/>
            <a:ext cx="96012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315200" y="2770632"/>
            <a:ext cx="96012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275320" y="2770632"/>
            <a:ext cx="77724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275320" y="27706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052560" y="2770632"/>
            <a:ext cx="68580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052560" y="2770632"/>
            <a:ext cx="6858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738360" y="2770632"/>
            <a:ext cx="68580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738360" y="2770632"/>
            <a:ext cx="6858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394960" y="2999232"/>
            <a:ext cx="192024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394960" y="2999232"/>
            <a:ext cx="1920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심부전  I50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315200" y="2999232"/>
            <a:ext cx="96012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315200" y="2999232"/>
            <a:ext cx="96012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275320" y="2999232"/>
            <a:ext cx="77724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275320" y="29992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052560" y="2999232"/>
            <a:ext cx="6858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052560" y="2999232"/>
            <a:ext cx="6858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738360" y="2999232"/>
            <a:ext cx="6858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738360" y="2999232"/>
            <a:ext cx="6858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394960" y="3227832"/>
            <a:ext cx="192024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394960" y="3227832"/>
            <a:ext cx="1920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심근병증  I42~45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315200" y="3227832"/>
            <a:ext cx="96012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315200" y="3227832"/>
            <a:ext cx="96012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275320" y="3227832"/>
            <a:ext cx="77724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275320" y="3227832"/>
            <a:ext cx="77724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052560" y="3227832"/>
            <a:ext cx="68580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052560" y="3227832"/>
            <a:ext cx="6858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738360" y="3227832"/>
            <a:ext cx="685800" cy="22860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738360" y="3227832"/>
            <a:ext cx="685800" cy="228600"/>
          </a:xfrm>
          <a:prstGeom prst="rect">
            <a:avLst/>
          </a:prstGeom>
          <a:noFill/>
        </p:spPr>
        <p:txBody>
          <a:bodyPr wrap="none" anchor="ctr" lIns="45720" rIns="45720" tIns="18288" bIns="18288">
            <a:spAutoFit/>
          </a:bodyPr>
          <a:lstStyle/>
          <a:p>
            <a:pPr algn="ctr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394960" y="3401568"/>
            <a:ext cx="48463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· 빈맥(I47·48) ≠ 부정맥(I49) — 전용 행 구분</a:t>
            </a:r>
          </a:p>
          <a:p>
            <a:pPr algn="l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· 순환계 = 2대 + 동맥류·정맥류 등 순환기 전반 [확인]</a:t>
            </a:r>
          </a:p>
          <a:p>
            <a:pPr algn="l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● 보장   ○ 미보장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0" y="7212528"/>
            <a:ext cx="10692000" cy="34747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84048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668640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· 5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0692000" cy="27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54864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68580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28960" y="128016"/>
            <a:ext cx="1097280" cy="4023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65920" y="566928"/>
            <a:ext cx="2560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주요치료비 변천사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78992"/>
            <a:ext cx="9144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3대 주요치료비 담보의 변천사   ①비례형(구간) → ②정액형 → ③비급여 → 생활비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26464"/>
            <a:ext cx="4846320" cy="8686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463040"/>
            <a:ext cx="466344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1  비례형(구간형)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700784"/>
            <a:ext cx="46634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치료비 지출액이 구간 하한 도달 시 그 구간 정액 지급.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2024.11 단종 — 보유자 해지 금지.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22976" y="1426464"/>
            <a:ext cx="4846320" cy="8686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4416" y="1463040"/>
            <a:ext cx="466344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2  정액형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4416" y="1700784"/>
            <a:ext cx="46634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치료 사실만으로 약정금 정액 지급.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면책 90일 · 가입금액 100만원부터.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432304"/>
            <a:ext cx="4846320" cy="8686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468880"/>
            <a:ext cx="466344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3  비급여(하이클래스)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706624"/>
            <a:ext cx="46634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급여 전액본인부담금 + 비급여 치료비 정액.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2천만×10년=2억 · 25.08~ 생활비형 추가.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22976" y="2432304"/>
            <a:ext cx="4846320" cy="868680"/>
          </a:xfrm>
          <a:prstGeom prst="rect">
            <a:avLst/>
          </a:prstGeom>
          <a:solidFill>
            <a:srgbClr val="F2F3F5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468880"/>
            <a:ext cx="466344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4  왜 필요한가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4416" y="2706624"/>
            <a:ext cx="46634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5세대 실손: 비중증 비급여 자기부담 50%·한도 1,000만.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표적·면역 고가 약값엔 부족 → 주요치료비가 메움.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566160"/>
            <a:ext cx="914400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수술 건당 총진료비(평균) · 심평원·건보공단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858768"/>
            <a:ext cx="181051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913632"/>
            <a:ext cx="1810512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심장수술(개흉)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151376"/>
            <a:ext cx="181051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2,832만원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40864" y="3858768"/>
            <a:ext cx="181051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40864" y="3913632"/>
            <a:ext cx="1810512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관상동맥우회술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0864" y="4151376"/>
            <a:ext cx="181051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2,690만원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858768"/>
            <a:ext cx="181051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3913632"/>
            <a:ext cx="1810512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뇌동맥류 코일색전술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151376"/>
            <a:ext cx="181051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1,100~1,600만원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4496" y="3858768"/>
            <a:ext cx="181051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3913632"/>
            <a:ext cx="1810512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심장 스텐트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4151376"/>
            <a:ext cx="181051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1,000~1,400만원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11312" y="3858768"/>
            <a:ext cx="1810512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3913632"/>
            <a:ext cx="1810512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뇌기저부수술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4151376"/>
            <a:ext cx="181051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1,475만원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46634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재발률 — 뇌경색 1년 10%·5년 20~30% / 급성심근경색 1년 30%·3년 50% / 스텐트 5년 재협착 15%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7212528"/>
            <a:ext cx="10692000" cy="34747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8640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· 6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0692000" cy="27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54864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68580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28960" y="128016"/>
            <a:ext cx="1097280" cy="4023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65920" y="566928"/>
            <a:ext cx="2560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상담 워크시트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97280"/>
            <a:ext cx="457200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암 주요치료비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097280"/>
            <a:ext cx="457200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뇌·심장 주요치료비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426464"/>
            <a:ext cx="48463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481328"/>
            <a:ext cx="283464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암 진단비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73736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걸렸을 때 일시금 (기본) + CI 선지급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426464"/>
            <a:ext cx="17830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5,000만 + ci암 3,200만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414016"/>
            <a:ext cx="48463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2468880"/>
            <a:ext cx="283464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암 주요치료비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724912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수술·방사선·약물 정액 (100만~)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414016"/>
            <a:ext cx="17830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401568"/>
            <a:ext cx="48463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3456432"/>
            <a:ext cx="283464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하이클래스 (비급여)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3712464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표적·면역·중입자 전액본인 커버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3401568"/>
            <a:ext cx="17830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1426464"/>
            <a:ext cx="48463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4688" y="1481328"/>
            <a:ext cx="283464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뇌·심 진단비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4688" y="1737360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뇌혈관·허혈성 일시금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1426464"/>
            <a:ext cx="17830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8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뇌혈관 1,000만 + ci 3,200만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414016"/>
            <a:ext cx="48463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4688" y="2468880"/>
            <a:ext cx="283464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2대 주요치료비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04688" y="2724912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수술·혈전용해·중환자실 (100만~)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414016"/>
            <a:ext cx="17830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3401568"/>
            <a:ext cx="48463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04688" y="3456432"/>
            <a:ext cx="283464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산정특례 (뇌 · 심장)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04688" y="3712464"/>
            <a:ext cx="2834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6B6B6B"/>
                </a:solidFill>
                <a:latin typeface="맑은 고딕"/>
                <a:ea typeface="맑은 고딕"/>
                <a:cs typeface="맑은 고딕"/>
              </a:rPr>
              <a:t>진단만으로 지급 · 개별 담보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401568"/>
            <a:ext cx="178308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미가입 / 미가입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4480560"/>
            <a:ext cx="9923904" cy="640080"/>
          </a:xfrm>
          <a:prstGeom prst="rect">
            <a:avLst/>
          </a:prstGeom>
          <a:solidFill>
            <a:srgbClr val="F2F3F5"/>
          </a:solidFill>
          <a:ln w="952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572000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1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부족한 담보 → 보완 추천 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7212528"/>
            <a:ext cx="10692000" cy="34747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8640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· 7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0692000" cy="27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54864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68580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28960" y="128016"/>
            <a:ext cx="1097280" cy="4023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65920" y="566928"/>
            <a:ext cx="2560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심혈관 담보 분류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51560"/>
            <a:ext cx="992390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★ "특정Ⅰ·Ⅱ"는 회사마다 뜻이 다르다 — 라벨 말고 질병코드로 확인. 빈맥(I47·48)과 부정맥(I49)은 별개.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4846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481328"/>
            <a:ext cx="484632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481328"/>
            <a:ext cx="48463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한화손해보험 4가지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810512"/>
            <a:ext cx="4663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심혈관Ⅰ = 협심증 I20 · 기타급성허혈 I24 · 만성허혈 I25 · 빈맥 I47 · 심방세동 I48 · 기타부정맥 I49 · 심부전 I50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심혈관Ⅱ = 급성심근경색 I21~23 · 인공소생 심장정지 I46.0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심근병증 = I42 (확장성·비후성·제한성 포함)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심혈관특정질환 = Ⅰ에서 기타부정맥(I49)만 제외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22976" y="1481328"/>
            <a:ext cx="4846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2976" y="1481328"/>
            <a:ext cx="484632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22976" y="1481328"/>
            <a:ext cx="48463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DB손해보험 4가지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4416" y="1810512"/>
            <a:ext cx="4663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특정Ⅰ = 협심증·허혈 I20·24·25 + 주요심장염증 I30~41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특정Ⅱ = 급성심근경색 I21~23 · I46.0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특정Ⅲ = 판막질환 · 빈맥 I47 · 심방세동 I48 · 심부전 I50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순환계 3대 = I46.0 · 부정맥 I47~49 · 심부전 I50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355848"/>
            <a:ext cx="4846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3355848"/>
            <a:ext cx="484632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355848"/>
            <a:ext cx="48463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KB손해보험 5가지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685032"/>
            <a:ext cx="4663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특정Ⅰ = 협심증·허혈 I20·24·25 · 빈맥 I47·48 · 심부전 I50 (염증X·부정맥X)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특정Ⅱ = 급성심근경색 I21~23 · I46.0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심근병증 = I42 / 심장판막질환 = 판막·I33·I38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기타심장부정맥 = I49 (I47·48은 대상 아님)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3355848"/>
            <a:ext cx="4846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3355848"/>
            <a:ext cx="484632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22976" y="3355848"/>
            <a:ext cx="48463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현대해상 6가지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4416" y="3685032"/>
            <a:ext cx="4663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허혈성 심장질환 = 협심증 I20 · I24 · I25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특정허혈 심장질환 = 급성심근경색 I21~23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특정Ⅰ = 빈맥 I47 · 심방세동 I48 · 심부전 I50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특정Ⅱ = 급성심근경색 I21~23 · I46.0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주요 심장염증 = I30~41 / 특정2대 = 전도장애 I44·45 + I49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※ 현대 심근병증 담보 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7212528"/>
            <a:ext cx="10692000" cy="34747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8640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· 8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0692000" cy="2743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91440"/>
            <a:ext cx="54864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· 보장분석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68580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보장 진단서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28960" y="128016"/>
            <a:ext cx="1097280" cy="40233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65920" y="566928"/>
            <a:ext cx="256032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800" b="0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심혈관 담보 분류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51560"/>
            <a:ext cx="9923904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5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★ "특정Ⅰ·Ⅱ"는 회사마다 뜻이 다르다 — 라벨 말고 질병코드로 확인. 빈맥(I47·48)과 부정맥(I49)은 별개.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81328"/>
            <a:ext cx="4846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481328"/>
            <a:ext cx="484632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481328"/>
            <a:ext cx="48463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NH농협손해보험 5가지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810512"/>
            <a:ext cx="4663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심혈관특정Ⅰ = 협심증·허혈 · 빈맥 · 기타부정맥 I49 · 심부전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특정Ⅰ(기타부정맥 제외) = Ⅰ에서 I49만 뺀 묶음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심근병증 = I42·I43 / 주요 심장염증질환 = I30~41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기타 심장부정맥 = I49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22976" y="1481328"/>
            <a:ext cx="4846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2976" y="1481328"/>
            <a:ext cx="484632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22976" y="1481328"/>
            <a:ext cx="48463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흥국화재 실제 약관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4416" y="1810512"/>
            <a:ext cx="4663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특정심혈관질환(기타부정맥제외) = 협심증·허혈·빈맥·심부전 (급성심근 아님)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특정심혈관질환(기타부정맥) = I49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심근병증(허혈성제외) = I42·I43 / 주요심장염증질환 = I30~41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허혈성심질환진단비 = I20·24·25 단독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355848"/>
            <a:ext cx="4846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3355848"/>
            <a:ext cx="484632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355848"/>
            <a:ext cx="48463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롯데손해보험 5가지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685032"/>
            <a:ext cx="4663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특정심장질환Ⅰ = 급성심근경색 I21~23 · I46.0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특정심장질환Ⅱ = 협심증·허혈 + 주요심장염증 I30~41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특정 15대 = 판막 · 심근병증 · 빈맥 · 심부전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기타 심장부정맥 = I49 / 방실차단·전도장애 = I44·I45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22976" y="3355848"/>
            <a:ext cx="48463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522976" y="3355848"/>
            <a:ext cx="4846320" cy="29260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22976" y="3355848"/>
            <a:ext cx="484632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삼성화재 · 메리츠화재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4416" y="3685032"/>
            <a:ext cx="466344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허혈성심장질환 6가지 = 급성기 I21 · 후속 I22 · 합병증 I23 · 협심증 I20 · 기타급성 I24 · 만성 I25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· [메리츠] 심장질환진단Ⅰ → 허혈성 / Ⅱ → 급성심근경색 (별도 상품 병존)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7212528"/>
            <a:ext cx="10692000" cy="34747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750" b="1">
                <a:solidFill>
                  <a:srgbClr val="C9A227"/>
                </a:solidFill>
                <a:latin typeface="맑은 고딕"/>
                <a:ea typeface="맑은 고딕"/>
                <a:cs typeface="맑은 고딕"/>
              </a:rPr>
              <a:t>MAKEONE 보장분석 자동화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8640" y="7249104"/>
            <a:ext cx="3657600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7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김진구 고객님 · 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