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000" b="1">
                <a:solidFill>
                  <a:srgbClr val="9A7A12"/>
                </a:solidFill>
                <a:latin typeface="맑은 고딕"/>
              </a:rPr>
              <a:t>MAKEONE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김진구 고객님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800" b="1">
                <a:solidFill>
                  <a:srgbClr val="C8D0DC"/>
                </a:solidFill>
                <a:latin typeface="맑은 고딕"/>
              </a:rPr>
              <a:t>보장 진단서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14800"/>
            <a:ext cx="3840480" cy="45720"/>
          </a:xfrm>
          <a:prstGeom prst="roundRect">
            <a:avLst/>
          </a:prstGeom>
          <a:solidFill>
            <a:srgbClr val="9A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보유 6건 · 월 324,470원 · 갱신 1 / 비갱신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9AA4B4"/>
                </a:solidFill>
                <a:latin typeface="맑은 고딕"/>
              </a:rPr>
              <a:t>온빛센터 바름지점  ·  최은혜 지점장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9A7A12"/>
                </a:solidFill>
                <a:latin typeface="맑은 고딕"/>
              </a:rPr>
              <a:t>MAKEONE · 보장분석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김진구 고객님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566928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1000" b="0">
                <a:solidFill>
                  <a:srgbClr val="C8D0DC"/>
                </a:solidFill>
                <a:latin typeface="맑은 고딕"/>
              </a:rPr>
              <a:t>보장 현황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C8D0DC"/>
                </a:solidFill>
                <a:latin typeface="맑은 고딕"/>
              </a:rPr>
              <a:t>MAKEONE 보장분석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303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900" b="0">
                <a:solidFill>
                  <a:srgbClr val="C8D0DC"/>
                </a:solidFill>
                <a:latin typeface="맑은 고딕"/>
              </a:rPr>
              <a:t>김진구 고객님 ·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9A7A12"/>
                </a:solidFill>
                <a:latin typeface="맑은 고딕"/>
              </a:rPr>
              <a:t>MAKEONE · 보장분석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김진구 고객님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566928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1000" b="0">
                <a:solidFill>
                  <a:srgbClr val="C8D0DC"/>
                </a:solidFill>
                <a:latin typeface="맑은 고딕"/>
              </a:rPr>
              <a:t>AI 진단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C8D0DC"/>
                </a:solidFill>
                <a:latin typeface="맑은 고딕"/>
              </a:rPr>
              <a:t>MAKEONE 보장분석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303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900" b="0">
                <a:solidFill>
                  <a:srgbClr val="C8D0DC"/>
                </a:solidFill>
                <a:latin typeface="맑은 고딕"/>
              </a:rPr>
              <a:t>김진구 고객님 · 3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1E7A45"/>
                </a:solidFill>
                <a:latin typeface="맑은 고딕"/>
              </a:rPr>
              <a:t>✓ 보유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1430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맑은 고딕"/>
              </a:rPr>
              <a:t>! 보장 공백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주요 공백 없음 — 핵심담보 균형 양호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월 보험료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9A7A12"/>
                </a:solidFill>
                <a:latin typeface="맑은 고딕"/>
              </a:rPr>
              <a:t>MAKEONE · 보장분석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김진구 고객님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566928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1000" b="0">
                <a:solidFill>
                  <a:srgbClr val="C8D0DC"/>
                </a:solidFill>
                <a:latin typeface="맑은 고딕"/>
              </a:rPr>
              <a:t>핵심 보장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C8D0DC"/>
                </a:solidFill>
                <a:latin typeface="맑은 고딕"/>
              </a:rPr>
              <a:t>MAKEONE 보장분석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303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900" b="0">
                <a:solidFill>
                  <a:srgbClr val="C8D0DC"/>
                </a:solidFill>
                <a:latin typeface="맑은 고딕"/>
              </a:rPr>
              <a:t>김진구 고객님 · 4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914400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맑은 고딕"/>
              </a:rPr>
              <a:t>진단비 정액 지급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1143000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300" b="0">
                <a:solidFill>
                  <a:srgbClr val="222833"/>
                </a:solidFill>
                <a:latin typeface="맑은 고딕"/>
              </a:rPr>
              <a:t>이 고객은 CI(중대질병 선지급형)가 아닌 일반 진단비 구조다. 암·뇌·심장 진단 시 가입금액이 정액으로 즉시 지급된다(선지급·차감·잔여 없음).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1247120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6A707A"/>
                </a:solidFill>
                <a:latin typeface="맑은 고딕"/>
              </a:rPr>
              <a:t>진단비는 실제 치료비와 무관하게 약정된 가입금액이 정액 지급된다. 치료가 장기화되면 주요치료비(정액형)로 보완이 필요하다.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9A7A12"/>
                </a:solidFill>
                <a:latin typeface="맑은 고딕"/>
              </a:rPr>
              <a:t>MAKEONE · 보장분석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김진구 고객님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566928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1000" b="0">
                <a:solidFill>
                  <a:srgbClr val="C8D0DC"/>
                </a:solidFill>
                <a:latin typeface="맑은 고딕"/>
              </a:rPr>
              <a:t>부위별 충족률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C8D0DC"/>
                </a:solidFill>
                <a:latin typeface="맑은 고딕"/>
              </a:rPr>
              <a:t>MAKEONE 보장분석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303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900" b="0">
                <a:solidFill>
                  <a:srgbClr val="C8D0DC"/>
                </a:solidFill>
                <a:latin typeface="맑은 고딕"/>
              </a:rPr>
              <a:t>김진구 고객님 · 5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920240" cy="1005840"/>
          </a:xfrm>
          <a:prstGeom prst="roundRect">
            <a:avLst/>
          </a:prstGeom>
          <a:solidFill>
            <a:srgbClr val="EEF0F3"/>
          </a:solidFill>
          <a:ln w="254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92024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200" b="1">
                <a:solidFill>
                  <a:srgbClr val="1E7A45"/>
                </a:solidFill>
                <a:latin typeface="맑은 고딕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192024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</a:rPr>
              <a:t>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280160"/>
            <a:ext cx="1920240" cy="1005840"/>
          </a:xfrm>
          <a:prstGeom prst="roundRect">
            <a:avLst/>
          </a:prstGeom>
          <a:solidFill>
            <a:srgbClr val="EEF0F3"/>
          </a:solidFill>
          <a:ln w="254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389888"/>
            <a:ext cx="192024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200" b="1">
                <a:solidFill>
                  <a:srgbClr val="1E7A45"/>
                </a:solidFill>
                <a:latin typeface="맑은 고딕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901952"/>
            <a:ext cx="192024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</a:rPr>
              <a:t>심장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280160"/>
            <a:ext cx="1920240" cy="1005840"/>
          </a:xfrm>
          <a:prstGeom prst="roundRect">
            <a:avLst/>
          </a:prstGeom>
          <a:solidFill>
            <a:srgbClr val="EEF0F3"/>
          </a:solidFill>
          <a:ln w="25400">
            <a:solidFill>
              <a:srgbClr val="9A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389888"/>
            <a:ext cx="192024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2200" b="1">
                <a:solidFill>
                  <a:srgbClr val="9A7A12"/>
                </a:solidFill>
                <a:latin typeface="맑은 고딕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901952"/>
            <a:ext cx="192024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</a:rPr>
              <a:t>응급실·독감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>
                <a:solidFill>
                  <a:srgbClr val="6A707A"/>
                </a:solidFill>
                <a:latin typeface="맑은 고딕"/>
              </a:rPr>
              <a:t>충족률 = 보유 ÷ 연령밴드 권장액 × 100 (상한 100%). 40대 표준밴드 적용. 녹색 충실(70%↑) / 골드 보강(40~69%) / 빨강 취약(40%↓).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9A7A12"/>
                </a:solidFill>
                <a:latin typeface="맑은 고딕"/>
              </a:rPr>
              <a:t>MAKEONE · 보장분석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김진구 고객님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566928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1000" b="0">
                <a:solidFill>
                  <a:srgbClr val="C8D0DC"/>
                </a:solidFill>
                <a:latin typeface="맑은 고딕"/>
              </a:rPr>
              <a:t>담보별 보장범위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C8D0DC"/>
                </a:solidFill>
                <a:latin typeface="맑은 고딕"/>
              </a:rPr>
              <a:t>MAKEONE 보장분석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303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900" b="0">
                <a:solidFill>
                  <a:srgbClr val="C8D0DC"/>
                </a:solidFill>
                <a:latin typeface="맑은 고딕"/>
              </a:rPr>
              <a:t>김진구 고객님 · 6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</a:rPr>
              <a:t>뇌·심 담보축 = 각각 개별 담보·각각 보상 · 산정특례·순환계·외상성뇌출혈 = 단독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</a:rPr>
              <a:t>뇌 — 뇌혈관진단비 · 순환계 · 산정특례 (각 개별)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5669280" cy="2286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출혈성(I60~62)·허혈성(I63~66)·기타(I64·67~69)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산정특례 = 뇌혈관질환 I60~69 + Q28 + S06 전체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외상성뇌출혈(S06) = 뇌혈관진단비 미보장, 산정특례 축only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각 축 각각 개별 담보로 각각 보상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</a:rPr>
              <a:t>심장 — 허혈성 · 심장특정 · 순환계 · 산정특례 (각 개별)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486400" cy="2286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허혈성(I20~25)·판막·염증·부정맥·심부전·심근병증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산정특례 = 심혈관질환 I20~50 + 판막 전체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빈맥(I47·48) = 마스터 무행·전 묶음 제외(고정)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· 각 축 각각 개별 담보로 각각 보상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572000"/>
            <a:ext cx="11430000" cy="1554480"/>
          </a:xfrm>
          <a:prstGeom prst="roundRect">
            <a:avLst/>
          </a:prstGeom>
          <a:solidFill>
            <a:srgbClr val="FDF9EF"/>
          </a:solidFill>
          <a:ln w="12700">
            <a:solidFill>
              <a:srgbClr val="9A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8A5D00"/>
                </a:solidFill>
                <a:latin typeface="맑은 고딕"/>
              </a:rPr>
              <a:t>산정특례 기준 (진단 기반 · 별개 담보축)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>
                <a:solidFill>
                  <a:srgbClr val="6A5A20"/>
                </a:solidFill>
                <a:latin typeface="맑은 고딕"/>
              </a:rPr>
              <a:t>산정특례 = 위 범위와 축이 다른 별개 담보 — 마스터 산정특례심장·산정특례뇌혈관 전용행에서 진단코드 기반 지급. 대상 코드범위 [뇌] I60~69·Q28·S06 / [심] I20~50·판막. 각각 개별 담보로 각각 보상. 지급조건·기간(30일·5% 등)은 회사·약관별 [확인].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9A7A12"/>
                </a:solidFill>
                <a:latin typeface="맑은 고딕"/>
              </a:rPr>
              <a:t>MAKEONE · 보장분석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김진구 고객님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566928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1000" b="0">
                <a:solidFill>
                  <a:srgbClr val="C8D0DC"/>
                </a:solidFill>
                <a:latin typeface="맑은 고딕"/>
              </a:rPr>
              <a:t>주요치료비 변천사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C8D0DC"/>
                </a:solidFill>
                <a:latin typeface="맑은 고딕"/>
              </a:rPr>
              <a:t>MAKEONE 보장분석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303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900" b="0">
                <a:solidFill>
                  <a:srgbClr val="C8D0DC"/>
                </a:solidFill>
                <a:latin typeface="맑은 고딕"/>
              </a:rPr>
              <a:t>김진구 고객님 · 7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3대 주요치료비 담보의 변천사  ·  병원비형 → 정액형 → 확대형 → 생활비 · 정액형 가입금액 100만원부터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00200"/>
            <a:ext cx="5715000" cy="384048"/>
          </a:xfrm>
          <a:prstGeom prst="roundRect">
            <a:avLst/>
          </a:prstGeom>
          <a:solidFill>
            <a:srgbClr val="B95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36776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■ 암 주요치료비  ·  4세대 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57784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>
                <a:solidFill>
                  <a:srgbClr val="222833"/>
                </a:solidFill>
                <a:latin typeface="맑은 고딕"/>
              </a:rPr>
              <a:t>①구간형(~24.11 단종) → ②정액형(24.11~, 100만~) → ③하이클래스(25.03~ 비급여 전액본인) → ④생활비(25.08~)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5532120" cy="1051560"/>
          </a:xfrm>
          <a:prstGeom prst="roundRect">
            <a:avLst/>
          </a:prstGeom>
          <a:solidFill>
            <a:srgbClr val="EEF0F3"/>
          </a:solidFill>
          <a:ln w="9525">
            <a:solidFill>
              <a:srgbClr val="6A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16352"/>
            <a:ext cx="5394960" cy="9601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50" b="0">
                <a:solidFill>
                  <a:srgbClr val="222833"/>
                </a:solidFill>
                <a:latin typeface="맑은 고딕"/>
              </a:rPr>
              <a:t>· 구간형 12단계: 치료비 300만~1억 구간 하한 도달 시 그 구간 정액. 실손 중복 가능 · 2024.11 단종</a:t>
            </a:r>
          </a:p>
          <a:p>
            <a:pPr algn="l"/>
            <a:r>
              <a:rPr sz="950" b="0">
                <a:solidFill>
                  <a:srgbClr val="222833"/>
                </a:solidFill>
                <a:latin typeface="맑은 고딕"/>
              </a:rPr>
              <a:t>· 정액형: 치료 사실만으로 정액(면책 90일) · 하이클래스: 양성자·중입자·표적·면역 커버(2천만×10년)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532120" cy="685800"/>
          </a:xfrm>
          <a:prstGeom prst="roundRect">
            <a:avLst/>
          </a:prstGeom>
          <a:solidFill>
            <a:srgbClr val="FBECEC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05072"/>
            <a:ext cx="5394960" cy="5943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50" b="0">
                <a:solidFill>
                  <a:srgbClr val="C0392B"/>
                </a:solidFill>
                <a:latin typeface="맑은 고딕"/>
              </a:rPr>
              <a:t>▲ 5세대 실손 비급여 = 자기부담 50%·한도 1,000만(축소). 표적·면역 고가엔 부족 → 주요치료비·하이클래스가 메움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5532120" cy="1234440"/>
          </a:xfrm>
          <a:prstGeom prst="roundRect">
            <a:avLst/>
          </a:prstGeom>
          <a:solidFill>
            <a:srgbClr val="EAF2FB"/>
          </a:solidFill>
          <a:ln w="9525">
            <a:solidFill>
              <a:srgbClr val="145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828032"/>
            <a:ext cx="5394960" cy="1143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50" b="0">
                <a:solidFill>
                  <a:srgbClr val="1B2A4A"/>
                </a:solidFill>
                <a:latin typeface="맑은 고딕"/>
              </a:rPr>
              <a:t>● 상담: "표적항암 한 달 수백만 원이 전액 본인부담이에요. 5세대 실손은 비급여가 1천만으로 줄었습니다. 구간형은 이제 못 드는 담보라 유지가 답이고, 없으면 정액형·하이클래스로 채워야 합니다."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00200"/>
            <a:ext cx="5532120" cy="384048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636776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■ 뇌·심장 주요치료비  ·  암과 동일 진화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539496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>
                <a:solidFill>
                  <a:srgbClr val="222833"/>
                </a:solidFill>
                <a:latin typeface="맑은 고딕"/>
              </a:rPr>
              <a:t>①병원비형(~24.11 단종) → ②정액형 2대(24.11~ 메리츠 최초) → ③순환계(25.01~ 부정맥·심부전·동맥류) → ④순환계 생활비(25.06~)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743200"/>
            <a:ext cx="5394960" cy="1051560"/>
          </a:xfrm>
          <a:prstGeom prst="roundRect">
            <a:avLst/>
          </a:prstGeom>
          <a:solidFill>
            <a:srgbClr val="EEF0F3"/>
          </a:solidFill>
          <a:ln w="9525">
            <a:solidFill>
              <a:srgbClr val="6A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816352"/>
            <a:ext cx="5257800" cy="9601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50" b="0">
                <a:solidFill>
                  <a:srgbClr val="222833"/>
                </a:solidFill>
                <a:latin typeface="맑은 고딕"/>
              </a:rPr>
              <a:t>· 회사별 범위: 포괄형(삼성·현대·메리츠·한화·롯데·동양) / 순환계 넓음(DB·KB·흥국) / 특정순환계(NH농협)</a:t>
            </a:r>
          </a:p>
          <a:p>
            <a:pPr algn="l"/>
            <a:r>
              <a:rPr sz="950" b="0">
                <a:solidFill>
                  <a:srgbClr val="222833"/>
                </a:solidFill>
                <a:latin typeface="맑은 고딕"/>
              </a:rPr>
              <a:t>· 뇌·심 구간형 = 급여 본인부담 기준(100만 미만 면책 / 3,000만 한도) · 2024.11 단종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5394960" cy="685800"/>
          </a:xfrm>
          <a:prstGeom prst="roundRect">
            <a:avLst/>
          </a:prstGeom>
          <a:solidFill>
            <a:srgbClr val="FDECEC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005072"/>
            <a:ext cx="5257800" cy="5943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50" b="0">
                <a:solidFill>
                  <a:srgbClr val="C0392B"/>
                </a:solidFill>
                <a:latin typeface="맑은 고딕"/>
              </a:rPr>
              <a:t>▲ 재발률: 뇌경색(허혈성) 5년 내 20~30% 재발 · 심장 스텐트 5년 재협착 15% → 주요치료비는 재발·장기치료 반복 보장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54880"/>
            <a:ext cx="5394960" cy="1234440"/>
          </a:xfrm>
          <a:prstGeom prst="roundRect">
            <a:avLst/>
          </a:prstGeom>
          <a:solidFill>
            <a:srgbClr val="EAF2FB"/>
          </a:solidFill>
          <a:ln w="9525">
            <a:solidFill>
              <a:srgbClr val="145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828032"/>
            <a:ext cx="5257800" cy="1143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50" b="0">
                <a:solidFill>
                  <a:srgbClr val="1B2A4A"/>
                </a:solidFill>
                <a:latin typeface="맑은 고딕"/>
              </a:rPr>
              <a:t>● 상담: "뇌·심장은 30일은 국가가 돕지만, 스텐트 후 1년 약물, 뇌졸중 재활은 몇 년씩 갑니다. 게다가 5년 내 2~3명은 재발해요. 그 긴 치료비를 주요치료비가 반복해 채웁니다."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850" b="0">
                <a:solidFill>
                  <a:srgbClr val="6A707A"/>
                </a:solidFill>
                <a:latin typeface="맑은 고딕"/>
              </a:rPr>
              <a:t>※ 세대 판별 = 계약일 기준 · 구간형(~24.11) 보유자 = 단종 담보, 해지 금지 · 근거 교육자료 2607 + 보험저널·금융위(2026.07) · 진단비 축과 별개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9A7A12"/>
                </a:solidFill>
                <a:latin typeface="맑은 고딕"/>
              </a:rPr>
              <a:t>MAKEONE · 보장분석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김진구 고객님 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566928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1000" b="0">
                <a:solidFill>
                  <a:srgbClr val="C8D0DC"/>
                </a:solidFill>
                <a:latin typeface="맑은 고딕"/>
              </a:rPr>
              <a:t>상담 워크시트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C8D0DC"/>
                </a:solidFill>
                <a:latin typeface="맑은 고딕"/>
              </a:rPr>
              <a:t>MAKEONE 보장분석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65392"/>
            <a:ext cx="530352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/>
            <a:r>
              <a:rPr sz="900" b="0">
                <a:solidFill>
                  <a:srgbClr val="C8D0DC"/>
                </a:solidFill>
                <a:latin typeface="맑은 고딕"/>
              </a:rPr>
              <a:t>김진구 고객님 · 8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7315200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맑은 고딕"/>
              </a:rPr>
              <a:t>지금 고객의 3대 주요치료비는?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9A7A12"/>
                </a:solidFill>
                <a:latin typeface="맑은 고딕"/>
              </a:rPr>
              <a:t>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5486400" cy="1371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✔ 암 진단비 — 걸렸을 때 일시금 (기본)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✘ 암 주요치료비 — 수술·방사선·약물 정액 (100만~)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□ 하이클래스(비급여) — 표적·면역·중입자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□ 암 생활비 — 치료 중 소득보상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9A7A12"/>
                </a:solidFill>
                <a:latin typeface="맑은 고딕"/>
              </a:rPr>
              <a:t>뇌 · 심장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486400" cy="1371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✔ 뇌·심 진단비 — 뇌혈관·허혈성 일시금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✘ 2대 주요치료비 — 수술·혈전용해·중환자실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□ 순환계 주요치료비 — 부정맥·심부전 확대</a:t>
            </a:r>
          </a:p>
          <a:p>
            <a:pPr algn="l"/>
            <a:r>
              <a:rPr sz="1100" b="0">
                <a:solidFill>
                  <a:srgbClr val="222833"/>
                </a:solidFill>
                <a:latin typeface="맑은 고딕"/>
              </a:rPr>
              <a:t>□ 순환계 생활비 — 치료 중 소득보상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57600"/>
            <a:ext cx="11430000" cy="1371600"/>
          </a:xfrm>
          <a:prstGeom prst="roundRect">
            <a:avLst/>
          </a:prstGeom>
          <a:solidFill>
            <a:srgbClr val="FDF9EF"/>
          </a:solidFill>
          <a:ln w="19050">
            <a:solidFill>
              <a:srgbClr val="9A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8A5D00"/>
                </a:solidFill>
                <a:latin typeface="맑은 고딕"/>
              </a:rPr>
              <a:t>산정특례 — 뇌·심 각각 개별 담보 · 진단만으로 지급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5486400" cy="7315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6A5A20"/>
                </a:solidFill>
                <a:latin typeface="맑은 고딕"/>
              </a:rPr>
              <a:t>산정특례(뇌) — 뇌혈관질환 I60~69 · Q28 · S06</a:t>
            </a:r>
          </a:p>
          <a:p>
            <a:pPr algn="l"/>
            <a:r>
              <a:rPr sz="1100" b="0">
                <a:solidFill>
                  <a:srgbClr val="6A5A20"/>
                </a:solidFill>
                <a:latin typeface="맑은 고딕"/>
              </a:rPr>
              <a:t>상태: ____________  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06240"/>
            <a:ext cx="5486400" cy="7315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6A5A20"/>
                </a:solidFill>
                <a:latin typeface="맑은 고딕"/>
              </a:rPr>
              <a:t>산정특례(심장) — 심혈관질환 I20~50 · 판막 전체</a:t>
            </a:r>
          </a:p>
          <a:p>
            <a:pPr algn="l"/>
            <a:r>
              <a:rPr sz="1100" b="0">
                <a:solidFill>
                  <a:srgbClr val="6A5A20"/>
                </a:solidFill>
                <a:latin typeface="맑은 고딕"/>
              </a:rPr>
              <a:t>상태: ____________  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>
                <a:solidFill>
                  <a:srgbClr val="6A707A"/>
                </a:solidFill>
                <a:latin typeface="맑은 고딕"/>
              </a:rPr>
              <a:t>진단비(일시금)와 주요치료비(치료 실비·정액)는 별개 축이라 둘 다 필요하다. 산정특례는 진단만으로 지급되는 개별 담보다.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