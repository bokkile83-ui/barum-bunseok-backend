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</p:sldIdLst>
  <p:sldSz cx="6858000" cy="9906000" type="A4"/>
  <p:notesSz cx="10018713" cy="144478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3" d="100"/>
          <a:sy n="73" d="100"/>
        </p:scale>
        <p:origin x="319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7861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89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3776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3066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3386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482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5138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4901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7620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2103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775822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5F825C-5304-4128-8698-8A30172550A0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1199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E68ED-AA76-5652-3096-FD0CB259C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8E5E448E-59AF-D54D-BBAC-9DFEC18A59F2}"/>
              </a:ext>
            </a:extLst>
          </p:cNvPr>
          <p:cNvSpPr/>
          <p:nvPr/>
        </p:nvSpPr>
        <p:spPr>
          <a:xfrm>
            <a:off x="107575" y="804134"/>
            <a:ext cx="6582785" cy="222765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2249A99A-5C17-A4DE-6D10-2FA68BF2C1AE}"/>
              </a:ext>
            </a:extLst>
          </p:cNvPr>
          <p:cNvSpPr/>
          <p:nvPr/>
        </p:nvSpPr>
        <p:spPr>
          <a:xfrm>
            <a:off x="104508" y="3086207"/>
            <a:ext cx="6665928" cy="206052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FA1DE04-0C07-604D-7C99-1933A00A03D4}"/>
              </a:ext>
            </a:extLst>
          </p:cNvPr>
          <p:cNvSpPr txBox="1"/>
          <p:nvPr/>
        </p:nvSpPr>
        <p:spPr>
          <a:xfrm>
            <a:off x="1739961" y="272790"/>
            <a:ext cx="19424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HY엽서M" panose="02030600000101010101" pitchFamily="18" charset="-127"/>
                <a:ea typeface="HY엽서M" panose="02030600000101010101" pitchFamily="18" charset="-127"/>
              </a:rPr>
              <a:t>님의 보장</a:t>
            </a:r>
            <a:r>
              <a:rPr lang="en-US" altLang="ko-KR" sz="2000" dirty="0">
                <a:latin typeface="HY엽서M" panose="02030600000101010101" pitchFamily="18" charset="-127"/>
                <a:ea typeface="HY엽서M" panose="02030600000101010101" pitchFamily="18" charset="-127"/>
              </a:rPr>
              <a:t>(    )</a:t>
            </a:r>
            <a:endParaRPr lang="ko-KR" altLang="en-US" sz="20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A469967B-E955-0FD6-50AB-CFB9254D9074}"/>
              </a:ext>
            </a:extLst>
          </p:cNvPr>
          <p:cNvCxnSpPr>
            <a:cxnSpLocks/>
          </p:cNvCxnSpPr>
          <p:nvPr/>
        </p:nvCxnSpPr>
        <p:spPr>
          <a:xfrm>
            <a:off x="234901" y="677039"/>
            <a:ext cx="3194098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2440C46E-1AEC-B539-D8D5-E86EF8810442}"/>
              </a:ext>
            </a:extLst>
          </p:cNvPr>
          <p:cNvCxnSpPr>
            <a:cxnSpLocks/>
          </p:cNvCxnSpPr>
          <p:nvPr/>
        </p:nvCxnSpPr>
        <p:spPr>
          <a:xfrm>
            <a:off x="4524956" y="635963"/>
            <a:ext cx="390466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1862993D-523B-D269-A063-4DA2FADBE3C0}"/>
              </a:ext>
            </a:extLst>
          </p:cNvPr>
          <p:cNvCxnSpPr>
            <a:cxnSpLocks/>
          </p:cNvCxnSpPr>
          <p:nvPr/>
        </p:nvCxnSpPr>
        <p:spPr>
          <a:xfrm>
            <a:off x="5231847" y="630456"/>
            <a:ext cx="376995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027733E6-88EE-CB72-09CB-9C6B5290549E}"/>
              </a:ext>
            </a:extLst>
          </p:cNvPr>
          <p:cNvSpPr txBox="1"/>
          <p:nvPr/>
        </p:nvSpPr>
        <p:spPr>
          <a:xfrm>
            <a:off x="5590015" y="258278"/>
            <a:ext cx="16644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HY엽서M" panose="02030600000101010101" pitchFamily="18" charset="-127"/>
                <a:ea typeface="HY엽서M" panose="02030600000101010101" pitchFamily="18" charset="-127"/>
              </a:rPr>
              <a:t>일 기준</a:t>
            </a: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4870B763-8892-BBA2-2076-F14732C917F7}"/>
              </a:ext>
            </a:extLst>
          </p:cNvPr>
          <p:cNvCxnSpPr>
            <a:cxnSpLocks/>
          </p:cNvCxnSpPr>
          <p:nvPr/>
        </p:nvCxnSpPr>
        <p:spPr>
          <a:xfrm>
            <a:off x="3841883" y="630456"/>
            <a:ext cx="410599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A77CA922-790E-7554-0DAA-5905F48B325F}"/>
              </a:ext>
            </a:extLst>
          </p:cNvPr>
          <p:cNvSpPr txBox="1"/>
          <p:nvPr/>
        </p:nvSpPr>
        <p:spPr>
          <a:xfrm>
            <a:off x="4811991" y="270329"/>
            <a:ext cx="4613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HY엽서M" panose="02030600000101010101" pitchFamily="18" charset="-127"/>
                <a:ea typeface="HY엽서M" panose="02030600000101010101" pitchFamily="18" charset="-127"/>
              </a:rPr>
              <a:t>월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0B78471-3318-08A3-4FEF-9A63FFF48C9B}"/>
              </a:ext>
            </a:extLst>
          </p:cNvPr>
          <p:cNvSpPr txBox="1"/>
          <p:nvPr/>
        </p:nvSpPr>
        <p:spPr>
          <a:xfrm>
            <a:off x="4103592" y="251326"/>
            <a:ext cx="6563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HY엽서M" panose="02030600000101010101" pitchFamily="18" charset="-127"/>
                <a:ea typeface="HY엽서M" panose="02030600000101010101" pitchFamily="18" charset="-127"/>
              </a:rPr>
              <a:t>년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20BA93F-2F8C-88AB-AC41-A6BEB6FE3012}"/>
              </a:ext>
            </a:extLst>
          </p:cNvPr>
          <p:cNvSpPr txBox="1"/>
          <p:nvPr/>
        </p:nvSpPr>
        <p:spPr>
          <a:xfrm>
            <a:off x="216544" y="9644390"/>
            <a:ext cx="3036163" cy="2616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ko-KR" altLang="en-US" sz="1050" b="1" dirty="0">
                <a:latin typeface="HY엽서L" panose="02030600000101010101" pitchFamily="18" charset="-127"/>
                <a:ea typeface="HY엽서L" panose="02030600000101010101" pitchFamily="18" charset="-127"/>
              </a:rPr>
              <a:t>참고용 입니다</a:t>
            </a:r>
            <a:r>
              <a:rPr lang="en-US" altLang="ko-KR" sz="1050" b="1" dirty="0">
                <a:latin typeface="HY엽서L" panose="02030600000101010101" pitchFamily="18" charset="-127"/>
                <a:ea typeface="HY엽서L" panose="02030600000101010101" pitchFamily="18" charset="-127"/>
              </a:rPr>
              <a:t> </a:t>
            </a:r>
            <a:r>
              <a:rPr lang="ko-KR" altLang="en-US" sz="1050" b="1" dirty="0" err="1">
                <a:latin typeface="HY엽서L" panose="02030600000101010101" pitchFamily="18" charset="-127"/>
                <a:ea typeface="HY엽서L" panose="02030600000101010101" pitchFamily="18" charset="-127"/>
              </a:rPr>
              <a:t>자세한건</a:t>
            </a:r>
            <a:r>
              <a:rPr lang="ko-KR" altLang="en-US" sz="1050" b="1" dirty="0">
                <a:latin typeface="HY엽서L" panose="02030600000101010101" pitchFamily="18" charset="-127"/>
                <a:ea typeface="HY엽서L" panose="02030600000101010101" pitchFamily="18" charset="-127"/>
              </a:rPr>
              <a:t> 증권을 확</a:t>
            </a:r>
            <a:r>
              <a:rPr lang="ko-KR" altLang="en-US" sz="1100" b="1" dirty="0">
                <a:latin typeface="HY엽서L" panose="02030600000101010101" pitchFamily="18" charset="-127"/>
                <a:ea typeface="HY엽서L" panose="02030600000101010101" pitchFamily="18" charset="-127"/>
              </a:rPr>
              <a:t>인해주세</a:t>
            </a:r>
            <a:r>
              <a:rPr lang="ko-KR" altLang="en-US" sz="1050" b="1" dirty="0">
                <a:latin typeface="HY엽서L" panose="02030600000101010101" pitchFamily="18" charset="-127"/>
                <a:ea typeface="HY엽서L" panose="02030600000101010101" pitchFamily="18" charset="-127"/>
              </a:rPr>
              <a:t>요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83CAAB8-582D-C8D7-CADE-1509F177B43E}"/>
              </a:ext>
            </a:extLst>
          </p:cNvPr>
          <p:cNvSpPr txBox="1"/>
          <p:nvPr/>
        </p:nvSpPr>
        <p:spPr>
          <a:xfrm>
            <a:off x="269536" y="829475"/>
            <a:ext cx="8506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sz="1300" b="1" dirty="0">
                <a:solidFill>
                  <a:srgbClr val="FF0000"/>
                </a:solidFill>
                <a:latin typeface="Malgun Gothic"/>
              </a:rPr>
              <a:t>뇌혈관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D4C8C29-F933-C354-A126-9D0496E53CAF}"/>
              </a:ext>
            </a:extLst>
          </p:cNvPr>
          <p:cNvSpPr txBox="1"/>
          <p:nvPr/>
        </p:nvSpPr>
        <p:spPr>
          <a:xfrm>
            <a:off x="356018" y="3086207"/>
            <a:ext cx="5427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sz="1300" b="1" dirty="0">
                <a:solidFill>
                  <a:srgbClr val="FF0000"/>
                </a:solidFill>
                <a:latin typeface="Malgun Gothic"/>
              </a:rPr>
              <a:t>심장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45B6720B-C98B-CCD5-7D2E-9B1D6123E608}"/>
              </a:ext>
            </a:extLst>
          </p:cNvPr>
          <p:cNvSpPr/>
          <p:nvPr/>
        </p:nvSpPr>
        <p:spPr>
          <a:xfrm>
            <a:off x="96035" y="5249165"/>
            <a:ext cx="6665928" cy="210413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A0E269-F678-CDAA-05AE-08CFC2B0E46C}"/>
              </a:ext>
            </a:extLst>
          </p:cNvPr>
          <p:cNvSpPr txBox="1"/>
          <p:nvPr/>
        </p:nvSpPr>
        <p:spPr>
          <a:xfrm>
            <a:off x="356018" y="5303581"/>
            <a:ext cx="20000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sz="1300" b="1" dirty="0">
                <a:solidFill>
                  <a:srgbClr val="FF0000"/>
                </a:solidFill>
                <a:latin typeface="Malgun Gothic"/>
              </a:rPr>
              <a:t>3대 외 정보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1BD1E869-391D-F2A1-E604-E02BBBE2DF8B}"/>
              </a:ext>
            </a:extLst>
          </p:cNvPr>
          <p:cNvSpPr/>
          <p:nvPr/>
        </p:nvSpPr>
        <p:spPr>
          <a:xfrm>
            <a:off x="104508" y="7427016"/>
            <a:ext cx="6665928" cy="222765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78F85C7-2DE8-0D25-B208-6F423E750103}"/>
              </a:ext>
            </a:extLst>
          </p:cNvPr>
          <p:cNvSpPr txBox="1"/>
          <p:nvPr/>
        </p:nvSpPr>
        <p:spPr>
          <a:xfrm>
            <a:off x="356018" y="7427016"/>
            <a:ext cx="5427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sz="1300" b="1" dirty="0">
                <a:solidFill>
                  <a:srgbClr val="FF0000"/>
                </a:solidFill>
                <a:latin typeface="Malgun Gothic"/>
              </a:rPr>
              <a:t>암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9F0DA10-C61C-8688-4D1D-EBA1B0F525B3}"/>
              </a:ext>
            </a:extLst>
          </p:cNvPr>
          <p:cNvSpPr txBox="1"/>
          <p:nvPr/>
        </p:nvSpPr>
        <p:spPr>
          <a:xfrm>
            <a:off x="269536" y="1154023"/>
            <a:ext cx="6582785" cy="1600438"/>
          </a:xfrm>
          <a:prstGeom prst="rect">
            <a:avLst/>
          </a:prstGeom>
          <a:noFill/>
        </p:spPr>
        <p:txBody>
          <a:bodyPr wrap="square" rtlCol="0">
            <a:normAutofit fontScale="100000" lnSpcReduction="0"/>
          </a:bodyPr>
          <a:lstStyle/>
          <a:p>
            <a:pPr algn="l"/>
            <a:r>
              <a:rPr lang="ko-KR" sz="1000" b="1" dirty="0">
                <a:solidFill>
                  <a:srgbClr val="CC0000"/>
                </a:solidFill>
                <a:latin typeface="Malgun Gothic"/>
              </a:rPr>
              <a:t>⚠ AI가 못 채운 항목 (별첨에서 직접 확인)</a:t>
            </a:r>
          </a:p>
          <a:p>
            <a:pPr algn="l"/>
            <a:r>
              <a:rPr lang="ko-KR" sz="900" b="0" dirty="0">
                <a:solidFill>
                  <a:srgbClr val="000000"/>
                </a:solidFill>
                <a:latin typeface="Malgun Gothic"/>
              </a:rPr>
              <a:t>수술비: 뇌혈관수술비, 뇌혈관질환수술(복합형)</a:t>
            </a:r>
          </a:p>
          <a:p>
            <a:pPr algn="l"/>
            <a:r>
              <a:rPr lang="ko-KR" sz="900" b="0" dirty="0">
                <a:solidFill>
                  <a:srgbClr val="000000"/>
                </a:solidFill>
                <a:latin typeface="Malgun Gothic"/>
              </a:rPr>
              <a:t>혈전용해: 뇌졸중 혈전용해치료비, 뇌+심장 복합담보(분리불가)</a:t>
            </a:r>
          </a:p>
          <a:p>
            <a:pPr algn="l"/>
            <a:r>
              <a:rPr lang="ko-KR" sz="900" b="0" dirty="0">
                <a:solidFill>
                  <a:srgbClr val="000000"/>
                </a:solidFill>
                <a:latin typeface="Malgun Gothic"/>
              </a:rPr>
              <a:t>중환자실: 질병/상해 중환자실일당 → 엑셀 일당 섹션 확인</a:t>
            </a:r>
          </a:p>
          <a:p>
            <a:pPr algn="l"/>
            <a:r>
              <a:rPr lang="ko-KR" sz="800" b="0" dirty="0">
                <a:solidFill>
                  <a:srgbClr val="666666"/>
                </a:solidFill>
                <a:latin typeface="Malgun Gothic"/>
              </a:rPr>
              <a:t>없으면 → 없음 기재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8818120-E04B-37F3-5ACD-3D4A661138F4}"/>
              </a:ext>
            </a:extLst>
          </p:cNvPr>
          <p:cNvSpPr txBox="1"/>
          <p:nvPr/>
        </p:nvSpPr>
        <p:spPr>
          <a:xfrm>
            <a:off x="2612006" y="1196798"/>
            <a:ext cx="2983171" cy="1600438"/>
          </a:xfrm>
          <a:prstGeom prst="rect">
            <a:avLst/>
          </a:prstGeom>
          <a:noFill/>
        </p:spPr>
        <p:txBody>
          <a:bodyPr wrap="square" rtlCol="0">
            <a:normAutofit fontScale="100000" lnSpcReduction="0"/>
          </a:bodyPr>
          <a:lstStyle/>
          <a:p>
            <a:pPr algn="l"/>
            <a:endParaRPr lang="ko-KR" sz="900" dirty="0">
              <a:latin typeface="Malgun Gothic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0595440-5C6E-5D2A-691E-83A0D8F254AD}"/>
              </a:ext>
            </a:extLst>
          </p:cNvPr>
          <p:cNvSpPr txBox="1"/>
          <p:nvPr/>
        </p:nvSpPr>
        <p:spPr>
          <a:xfrm>
            <a:off x="4797423" y="1196798"/>
            <a:ext cx="2983171" cy="954107"/>
          </a:xfrm>
          <a:prstGeom prst="rect">
            <a:avLst/>
          </a:prstGeom>
          <a:noFill/>
        </p:spPr>
        <p:txBody>
          <a:bodyPr wrap="square" rtlCol="0">
            <a:normAutofit fontScale="100000" lnSpcReduction="0"/>
          </a:bodyPr>
          <a:lstStyle/>
          <a:p>
            <a:pPr algn="l"/>
            <a:endParaRPr lang="ko-KR" sz="900" dirty="0">
              <a:latin typeface="Malgun Gothic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1651C0C-052A-7F76-8DCA-DB32B50D4009}"/>
              </a:ext>
            </a:extLst>
          </p:cNvPr>
          <p:cNvSpPr txBox="1"/>
          <p:nvPr/>
        </p:nvSpPr>
        <p:spPr>
          <a:xfrm>
            <a:off x="356018" y="3405248"/>
            <a:ext cx="6496303" cy="1600438"/>
          </a:xfrm>
          <a:prstGeom prst="rect">
            <a:avLst/>
          </a:prstGeom>
          <a:noFill/>
        </p:spPr>
        <p:txBody>
          <a:bodyPr wrap="square" rtlCol="0">
            <a:normAutofit fontScale="100000" lnSpcReduction="0"/>
          </a:bodyPr>
          <a:lstStyle/>
          <a:p>
            <a:pPr algn="l"/>
            <a:r>
              <a:rPr lang="ko-KR" sz="1000" b="1" dirty="0">
                <a:solidFill>
                  <a:srgbClr val="CC0000"/>
                </a:solidFill>
                <a:latin typeface="Malgun Gothic"/>
              </a:rPr>
              <a:t>⚠ AI가 못 채운 항목 (별첨에서 직접 확인)</a:t>
            </a:r>
          </a:p>
          <a:p>
            <a:pPr algn="l"/>
            <a:r>
              <a:rPr lang="ko-KR" sz="900" b="0" dirty="0">
                <a:solidFill>
                  <a:srgbClr val="000000"/>
                </a:solidFill>
                <a:latin typeface="Malgun Gothic"/>
              </a:rPr>
              <a:t>수술비: 심장수술비, 허혈성수술비, 심부전/부정맥/판막 수술</a:t>
            </a:r>
          </a:p>
          <a:p>
            <a:pPr algn="l"/>
            <a:r>
              <a:rPr lang="ko-KR" sz="900" b="0" dirty="0">
                <a:solidFill>
                  <a:srgbClr val="000000"/>
                </a:solidFill>
                <a:latin typeface="Malgun Gothic"/>
              </a:rPr>
              <a:t>혈전용해: 급성심근경색 혈전용해치료비, 뇌+심장 복합담보(분리불가)</a:t>
            </a:r>
          </a:p>
          <a:p>
            <a:pPr algn="l"/>
            <a:r>
              <a:rPr lang="ko-KR" sz="900" b="0" dirty="0">
                <a:solidFill>
                  <a:srgbClr val="000000"/>
                </a:solidFill>
                <a:latin typeface="Malgun Gothic"/>
              </a:rPr>
              <a:t>중환자실: 심장질환 중환자실일당 → 엑셀 일당 섹션 확인</a:t>
            </a:r>
          </a:p>
          <a:p>
            <a:pPr algn="l"/>
            <a:r>
              <a:rPr lang="ko-KR" sz="800" b="0" dirty="0">
                <a:solidFill>
                  <a:srgbClr val="666666"/>
                </a:solidFill>
                <a:latin typeface="Malgun Gothic"/>
              </a:rPr>
              <a:t>없으면 → 없음 기재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0C93D49-20EA-BD8E-A687-79C9510BC2CB}"/>
              </a:ext>
            </a:extLst>
          </p:cNvPr>
          <p:cNvSpPr txBox="1"/>
          <p:nvPr/>
        </p:nvSpPr>
        <p:spPr>
          <a:xfrm>
            <a:off x="2698488" y="3448023"/>
            <a:ext cx="2983171" cy="1600438"/>
          </a:xfrm>
          <a:prstGeom prst="rect">
            <a:avLst/>
          </a:prstGeom>
          <a:noFill/>
        </p:spPr>
        <p:txBody>
          <a:bodyPr wrap="square" rtlCol="0">
            <a:normAutofit fontScale="100000" lnSpcReduction="0"/>
          </a:bodyPr>
          <a:lstStyle/>
          <a:p>
            <a:pPr algn="l"/>
            <a:endParaRPr lang="ko-KR" sz="900" dirty="0">
              <a:latin typeface="Malgun Gothic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F4ABB1F-C585-C03E-E223-C73ADBD2875C}"/>
              </a:ext>
            </a:extLst>
          </p:cNvPr>
          <p:cNvSpPr txBox="1"/>
          <p:nvPr/>
        </p:nvSpPr>
        <p:spPr>
          <a:xfrm>
            <a:off x="4883905" y="3448023"/>
            <a:ext cx="2983171" cy="954107"/>
          </a:xfrm>
          <a:prstGeom prst="rect">
            <a:avLst/>
          </a:prstGeom>
          <a:noFill/>
        </p:spPr>
        <p:txBody>
          <a:bodyPr wrap="square" rtlCol="0">
            <a:normAutofit fontScale="100000" lnSpcReduction="0"/>
          </a:bodyPr>
          <a:lstStyle/>
          <a:p>
            <a:pPr algn="l"/>
            <a:endParaRPr lang="ko-KR" sz="900" dirty="0">
              <a:latin typeface="Malgun Gothic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A4CDFAD-D02C-C9A9-7567-7F691659B7F1}"/>
              </a:ext>
            </a:extLst>
          </p:cNvPr>
          <p:cNvSpPr txBox="1"/>
          <p:nvPr/>
        </p:nvSpPr>
        <p:spPr>
          <a:xfrm>
            <a:off x="387535" y="5579752"/>
            <a:ext cx="6465286" cy="1600438"/>
          </a:xfrm>
          <a:prstGeom prst="rect">
            <a:avLst/>
          </a:prstGeom>
          <a:noFill/>
        </p:spPr>
        <p:txBody>
          <a:bodyPr wrap="square" rtlCol="0">
            <a:normAutofit fontScale="100000" lnSpcReduction="0"/>
          </a:bodyPr>
          <a:lstStyle/>
          <a:p>
            <a:pPr algn="l"/>
            <a:r>
              <a:rPr lang="ko-KR" sz="1000" b="1" dirty="0">
                <a:solidFill>
                  <a:srgbClr val="CC0000"/>
                </a:solidFill>
                <a:latin typeface="Malgun Gothic"/>
              </a:rPr>
              <a:t>⚠ AI가 못 채운 항목 (별첨에서 직접 확인)</a:t>
            </a:r>
          </a:p>
          <a:p>
            <a:pPr algn="l"/>
            <a:r>
              <a:rPr lang="ko-KR" sz="900" b="0" dirty="0">
                <a:solidFill>
                  <a:srgbClr val="000000"/>
                </a:solidFill>
                <a:latin typeface="Malgun Gothic"/>
              </a:rPr>
              <a:t>치매/재가/시설/노치원 진단비 → 별첨 재가치매 섹션 직접 입력</a:t>
            </a:r>
          </a:p>
          <a:p>
            <a:pPr algn="l"/>
            <a:r>
              <a:rPr lang="ko-KR" sz="900" b="0" dirty="0">
                <a:solidFill>
                  <a:srgbClr val="000000"/>
                </a:solidFill>
                <a:latin typeface="Malgun Gothic"/>
              </a:rPr>
              <a:t>연금/저축 계약 → 보장분석 제외, 별도 관리 필요</a:t>
            </a:r>
          </a:p>
          <a:p>
            <a:pPr algn="l"/>
            <a:r>
              <a:rPr lang="ko-KR" sz="900" b="0" dirty="0">
                <a:solidFill>
                  <a:srgbClr val="000000"/>
                </a:solidFill>
                <a:latin typeface="Malgun Gothic"/>
              </a:rPr>
              <a:t>비급여MRI/주사 → 엑셀 실손 섹션 확인</a:t>
            </a:r>
          </a:p>
          <a:p>
            <a:pPr algn="l"/>
            <a:r>
              <a:rPr lang="ko-KR" sz="900" b="0" dirty="0">
                <a:solidFill>
                  <a:srgbClr val="000000"/>
                </a:solidFill>
                <a:latin typeface="Malgun Gothic"/>
              </a:rPr>
              <a:t>기타 미매핑 담보 → 엑셀 📋확인사항 시트 참고</a:t>
            </a:r>
          </a:p>
          <a:p>
            <a:pPr algn="l"/>
            <a:r>
              <a:rPr lang="ko-KR" sz="800" b="0" dirty="0">
                <a:solidFill>
                  <a:srgbClr val="666666"/>
                </a:solidFill>
                <a:latin typeface="Malgun Gothic"/>
              </a:rPr>
              <a:t>없으면 → 없음 기재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16CBCD3-9817-5907-73C3-A29DB5B807BE}"/>
              </a:ext>
            </a:extLst>
          </p:cNvPr>
          <p:cNvSpPr txBox="1"/>
          <p:nvPr/>
        </p:nvSpPr>
        <p:spPr>
          <a:xfrm>
            <a:off x="2730005" y="5622527"/>
            <a:ext cx="2983171" cy="1600438"/>
          </a:xfrm>
          <a:prstGeom prst="rect">
            <a:avLst/>
          </a:prstGeom>
          <a:noFill/>
        </p:spPr>
        <p:txBody>
          <a:bodyPr wrap="square" rtlCol="0">
            <a:normAutofit fontScale="100000" lnSpcReduction="0"/>
          </a:bodyPr>
          <a:lstStyle/>
          <a:p>
            <a:pPr algn="l"/>
            <a:endParaRPr lang="ko-KR" sz="900" dirty="0">
              <a:latin typeface="Malgun Gothic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0FEBF36-C2D9-E340-C7AC-C056238C8133}"/>
              </a:ext>
            </a:extLst>
          </p:cNvPr>
          <p:cNvSpPr txBox="1"/>
          <p:nvPr/>
        </p:nvSpPr>
        <p:spPr>
          <a:xfrm>
            <a:off x="4915422" y="5622527"/>
            <a:ext cx="2983171" cy="954107"/>
          </a:xfrm>
          <a:prstGeom prst="rect">
            <a:avLst/>
          </a:prstGeom>
          <a:noFill/>
        </p:spPr>
        <p:txBody>
          <a:bodyPr wrap="square" rtlCol="0">
            <a:normAutofit fontScale="100000" lnSpcReduction="0"/>
          </a:bodyPr>
          <a:lstStyle/>
          <a:p>
            <a:pPr algn="l"/>
            <a:endParaRPr lang="ko-KR" sz="900" dirty="0">
              <a:latin typeface="Malgun Gothic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1F5B7EF-3D19-4D4B-15E4-44C140FDDE73}"/>
              </a:ext>
            </a:extLst>
          </p:cNvPr>
          <p:cNvSpPr txBox="1"/>
          <p:nvPr/>
        </p:nvSpPr>
        <p:spPr>
          <a:xfrm>
            <a:off x="387535" y="7763632"/>
            <a:ext cx="6465286" cy="1815882"/>
          </a:xfrm>
          <a:prstGeom prst="rect">
            <a:avLst/>
          </a:prstGeom>
          <a:noFill/>
        </p:spPr>
        <p:txBody>
          <a:bodyPr wrap="square" rtlCol="0">
            <a:normAutofit fontScale="100000" lnSpcReduction="0"/>
          </a:bodyPr>
          <a:lstStyle/>
          <a:p>
            <a:pPr algn="l"/>
            <a:r>
              <a:rPr lang="ko-KR" sz="1000" b="1" dirty="0">
                <a:solidFill>
                  <a:srgbClr val="CC0000"/>
                </a:solidFill>
                <a:latin typeface="Malgun Gothic"/>
              </a:rPr>
              <a:t>⚠ AI가 못 채운 항목 (별첨에서 직접 확인)</a:t>
            </a:r>
          </a:p>
          <a:p>
            <a:pPr algn="l"/>
            <a:r>
              <a:rPr lang="ko-KR" sz="900" b="0" dirty="0">
                <a:solidFill>
                  <a:srgbClr val="000000"/>
                </a:solidFill>
                <a:latin typeface="Malgun Gothic"/>
              </a:rPr>
              <a:t>수술비: 암수술비, 비급여수술(다빈치로봇 등) → 별첨 확인</a:t>
            </a:r>
          </a:p>
          <a:p>
            <a:pPr algn="l"/>
            <a:r>
              <a:rPr lang="ko-KR" sz="900" b="0" dirty="0">
                <a:solidFill>
                  <a:srgbClr val="000000"/>
                </a:solidFill>
                <a:latin typeface="Malgun Gothic"/>
              </a:rPr>
              <a:t>항암치료비: 항암방사선/약물, 비급여항암(면역/호르몬) → 별첨 확인</a:t>
            </a:r>
          </a:p>
          <a:p>
            <a:pPr algn="l"/>
            <a:r>
              <a:rPr lang="ko-KR" sz="900" b="0" dirty="0">
                <a:solidFill>
                  <a:srgbClr val="000000"/>
                </a:solidFill>
                <a:latin typeface="Malgun Gothic"/>
              </a:rPr>
              <a:t>중입자/양성자/세기조절치료비, CAR-T 세포치료비 → 약관 확인</a:t>
            </a:r>
          </a:p>
          <a:p>
            <a:pPr algn="l"/>
            <a:r>
              <a:rPr lang="ko-KR" sz="900" b="0" dirty="0">
                <a:solidFill>
                  <a:srgbClr val="000000"/>
                </a:solidFill>
                <a:latin typeface="Malgun Gothic"/>
              </a:rPr>
              <a:t>표적항암약물 허가치료비, 세기조절/양성자 병행 → 약관 확인</a:t>
            </a:r>
          </a:p>
          <a:p>
            <a:pPr algn="l"/>
            <a:r>
              <a:rPr lang="ko-KR" sz="800" b="0" dirty="0">
                <a:solidFill>
                  <a:srgbClr val="666666"/>
                </a:solidFill>
                <a:latin typeface="Malgun Gothic"/>
              </a:rPr>
              <a:t>없으면 → 없음 기재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B6B6163-736B-5EFF-5897-945425D0FD8C}"/>
              </a:ext>
            </a:extLst>
          </p:cNvPr>
          <p:cNvSpPr txBox="1"/>
          <p:nvPr/>
        </p:nvSpPr>
        <p:spPr>
          <a:xfrm>
            <a:off x="3770321" y="7747802"/>
            <a:ext cx="2983171" cy="2031325"/>
          </a:xfrm>
          <a:prstGeom prst="rect">
            <a:avLst/>
          </a:prstGeom>
          <a:noFill/>
        </p:spPr>
        <p:txBody>
          <a:bodyPr wrap="square" rtlCol="0">
            <a:normAutofit fontScale="100000" lnSpcReduction="0"/>
          </a:bodyPr>
          <a:lstStyle/>
          <a:p>
            <a:pPr algn="l"/>
            <a:endParaRPr lang="ko-KR" sz="900" dirty="0">
              <a:latin typeface="Malgun Gothic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DEE5471-172E-60A6-865A-79D268C443B5}"/>
              </a:ext>
            </a:extLst>
          </p:cNvPr>
          <p:cNvSpPr txBox="1"/>
          <p:nvPr/>
        </p:nvSpPr>
        <p:spPr>
          <a:xfrm>
            <a:off x="5278850" y="7743870"/>
            <a:ext cx="2983171" cy="2031325"/>
          </a:xfrm>
          <a:prstGeom prst="rect">
            <a:avLst/>
          </a:prstGeom>
          <a:noFill/>
        </p:spPr>
        <p:txBody>
          <a:bodyPr wrap="square" rtlCol="0">
            <a:normAutofit fontScale="100000" lnSpcReduction="0"/>
          </a:bodyPr>
          <a:lstStyle/>
          <a:p>
            <a:pPr algn="l"/>
            <a:endParaRPr lang="ko-KR" sz="900" dirty="0">
              <a:latin typeface="Malgun Gothic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DFDB45B-943E-61F0-FFA2-0AFFEE8CCC70}"/>
              </a:ext>
            </a:extLst>
          </p:cNvPr>
          <p:cNvSpPr txBox="1"/>
          <p:nvPr/>
        </p:nvSpPr>
        <p:spPr>
          <a:xfrm>
            <a:off x="1907381" y="7762500"/>
            <a:ext cx="2983171" cy="2031325"/>
          </a:xfrm>
          <a:prstGeom prst="rect">
            <a:avLst/>
          </a:prstGeom>
          <a:noFill/>
        </p:spPr>
        <p:txBody>
          <a:bodyPr wrap="square" rtlCol="0">
            <a:normAutofit fontScale="100000" lnSpcReduction="0"/>
          </a:bodyPr>
          <a:lstStyle/>
          <a:p>
            <a:pPr algn="l"/>
            <a:endParaRPr lang="ko-KR" sz="900" dirty="0">
              <a:latin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3870795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203</TotalTime>
  <Words>173</Words>
  <Application>Microsoft Office PowerPoint</Application>
  <PresentationFormat>A4 용지(210x297mm)</PresentationFormat>
  <Paragraphs>96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HY엽서L</vt:lpstr>
      <vt:lpstr>HY엽서M</vt:lpstr>
      <vt:lpstr>Aptos</vt:lpstr>
      <vt:lpstr>Aptos Display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은혜 최</dc:creator>
  <cp:lastModifiedBy>Windows</cp:lastModifiedBy>
  <cp:revision>20</cp:revision>
  <cp:lastPrinted>2026-04-18T10:03:58Z</cp:lastPrinted>
  <dcterms:created xsi:type="dcterms:W3CDTF">2025-05-17T14:02:33Z</dcterms:created>
  <dcterms:modified xsi:type="dcterms:W3CDTF">2026-04-18T10:07:14Z</dcterms:modified>
</cp:coreProperties>
</file>