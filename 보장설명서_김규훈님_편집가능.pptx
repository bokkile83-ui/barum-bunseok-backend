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 A K E O N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822960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보장 진단서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480560"/>
            <a:ext cx="31089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보유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월 납입보험료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114,551 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갱신 / 비갱신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 /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MAKEONE · 보장분석 자동화 리포트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보장 현황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20" y="1325880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20240" y="1325880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상해사망 4,100만   상해후유3% 1,000만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325880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1325880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26680" y="1325880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고액암 4,000만   일반암 2,100만   유사암 410만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95144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2295144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20" y="2295144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920240" y="2295144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295144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2295144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2295144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26680" y="2295144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264408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" y="3264408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20" y="3264408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20240" y="3264408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상해수술비 100만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264408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3640" y="3264408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3264408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26680" y="3264408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합의금 2억   변호사 5,000만   대인 3,000만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대물 500만   6주미만 1,000만   자부상 30만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33672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7200" y="4233672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20" y="4233672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920240" y="4233672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간병인 15만   간호통합병동 7만   상해중환자실 5만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4233672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63640" y="4233672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실손·일배책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80960" y="4233672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26680" y="4233672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일상배상책임 1억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02936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7200" y="5202936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5202936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920240" y="5202936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 40만   화상진단비 25만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5202936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263640" y="5202936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60" y="5202936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26680" y="5202936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 5만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AI 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갱신형 — 보험료 인상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비갱신형 — 만기까지 고정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91640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728216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AIA생명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（무） A I G 원스톱암 I I 2 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1691640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31,240원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1728216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한화손보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한화 운전자상해보험 무배당2504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691640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25,608원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350008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2386584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납삼성화재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무배당 삼성80평생보험 III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350008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350008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2386584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 3.3.5 슬기로운 간편건강보험Plus（무배당）（23.0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350008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57,703원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핵심 보장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47120" cy="137160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CI보험 아님 · 비CI 계약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 고객은 CI(중대질병 선지급형) 계약이 아니다. 암·뇌·심 진단비는 진단 즉시 정액 100% 지급되는 일반형이며, 사망보험금 차감·선지급·잔여 개념이 없다. 진단금 전액이 치료비로 쓰이고 사망보장은 별도로 유지된다.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주요 치료비 정리  TREATMENT BENEFITS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암주요치료비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743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비급여주요치료비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순환계주요치료비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산정특례(뇌혈관)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산정특례(심장)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보장 진단 코멘트 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029200"/>
            <a:ext cx="11247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1078992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김규훈님 고객님은 보유 4건 · 월 114,551원의 보장을 운용하고 있다.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갱신 2건 · 비갱신 2건. 값은 완성 엑셀 끝열에서 직접 읽었다(등식2).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부위별 충족률</a:t>
            </a:r>
          </a:p>
        </p:txBody>
      </p:sp>
      <p:pic>
        <p:nvPicPr>
          <p:cNvPr id="8" name="Picture 7" descr="g65_74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440180"/>
            <a:ext cx="1051560" cy="1051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866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pic>
        <p:nvPicPr>
          <p:cNvPr id="11" name="Picture 10" descr="g100_82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380" y="14401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038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pic>
        <p:nvPicPr>
          <p:cNvPr id="14" name="Picture 13" descr="g33_5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099" y="1440180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72099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19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실손·배상</a:t>
            </a:r>
          </a:p>
        </p:txBody>
      </p:sp>
      <p:pic>
        <p:nvPicPr>
          <p:cNvPr id="17" name="Picture 16" descr="g25_51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820" y="1440180"/>
            <a:ext cx="1051560" cy="1051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0382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pic>
        <p:nvPicPr>
          <p:cNvPr id="20" name="Picture 19" descr="g0_73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5539" y="1440180"/>
            <a:ext cx="1051560" cy="1051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035539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59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pic>
        <p:nvPicPr>
          <p:cNvPr id="23" name="Picture 22" descr="g34_46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" y="3131820"/>
            <a:ext cx="1051560" cy="10515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866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pic>
        <p:nvPicPr>
          <p:cNvPr id="26" name="Picture 25" descr="g100_82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380" y="3131820"/>
            <a:ext cx="1051560" cy="1051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04038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pic>
        <p:nvPicPr>
          <p:cNvPr id="29" name="Picture 28" descr="g0_73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099" y="3131820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72099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19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pic>
        <p:nvPicPr>
          <p:cNvPr id="32" name="Picture 31" descr="g100_82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820" y="3131820"/>
            <a:ext cx="1051560" cy="10515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70382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pic>
        <p:nvPicPr>
          <p:cNvPr id="35" name="Picture 34" descr="g50_79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35539" y="3131820"/>
            <a:ext cx="1051560" cy="10515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35539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59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749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충족률 산정 근거   보유 ÷ 40대 권장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40680"/>
            <a:ext cx="18288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57200" y="5440680"/>
            <a:ext cx="18288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28600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74904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권장(40대)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2080" y="5440680"/>
            <a:ext cx="10058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212080" y="5440680"/>
            <a:ext cx="10058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충족률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73328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57200" y="573328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28600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6,510만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4904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74904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10,000만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12080" y="573328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12080" y="573328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65%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91616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57200" y="591616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28600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4904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74904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12080" y="591616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212080" y="591616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609904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57200" y="609904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실손·배상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228600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4904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374904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2080" y="609904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212080" y="609904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33%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628192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57200" y="628192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28600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28600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4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74904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12080" y="628192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212080" y="628192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646480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57200" y="646480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228600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4904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5,000만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12080" y="646480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212080" y="646480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5440680"/>
            <a:ext cx="18288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309360" y="5440680"/>
            <a:ext cx="18288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3816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13816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60120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60120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권장(40대)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064240" y="5440680"/>
            <a:ext cx="10058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1064240" y="5440680"/>
            <a:ext cx="10058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충족률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573328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09360" y="573328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13816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813816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5,100만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0120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60120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15,000만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064240" y="573328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064240" y="573328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34%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591616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309360" y="591616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13816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813816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60120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960120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064240" y="591616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1064240" y="591616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609904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309360" y="609904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13816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813816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0만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60120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60120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3,000만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1064240" y="609904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1064240" y="609904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628192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309360" y="628192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13816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813816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0120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60120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064240" y="628192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1064240" y="628192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646480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309360" y="646480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13816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13816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60120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60120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2개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064240" y="646480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1064240" y="646480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50%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담보별 보장범위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 — 질병코드별 커버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27432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27432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질병 (코드)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27632"/>
            <a:ext cx="128016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00400" y="1627632"/>
            <a:ext cx="128016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뇌혈관진단비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8056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순환계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9496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산정특례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20240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1920240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뇌출혈  I60~62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1920240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200400" y="1920240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8056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9496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176272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2176272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뇌졸증·뇌경색  I63·65·66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176272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00400" y="2176272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056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39496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기타 뇌혈관질환  I64·67~69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2432304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200400" y="2432304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8056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8056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39496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688336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7200" y="2688336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뇌동맥류·정맥류  I71·72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2688336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200400" y="2688336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8056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48056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6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9496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944368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57200" y="2944368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선천 뇌혈관기형  Q28.0~28.3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0" y="2944368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200400" y="2944368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48056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9496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39496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3200400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57200" y="3200400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외상성 뇌출혈  S06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0" y="3200400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200400" y="3200400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8056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48056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9496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39496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365760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외상성 뇌출혈(S06) = 뇌혈관진단비 미보장 → 산정특례 축only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산정특례 = 진단 기반 별개 담보축 · 지급조건은 회사·약관별 [확인]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심장 — 질병코드별 커버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1627632"/>
            <a:ext cx="22860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00800" y="1627632"/>
            <a:ext cx="22860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질병 (코드)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1627632"/>
            <a:ext cx="109728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686800" y="1627632"/>
            <a:ext cx="109728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허혈성진단비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8408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78408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심장(특정)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98480" y="1627632"/>
            <a:ext cx="7772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0698480" y="1627632"/>
            <a:ext cx="7772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순환계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475720" y="1627632"/>
            <a:ext cx="7772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1475720" y="1627632"/>
            <a:ext cx="7772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산정특례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00800" y="1920240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400800" y="1920240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급성심근경색  I21~23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1920240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686800" y="1920240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8408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978408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98480" y="1920240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698480" y="192024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475720" y="1920240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11475720" y="192024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0" y="2176272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400800" y="2176272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협심증  I20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86800" y="2176272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686800" y="2176272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408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78408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698480" y="2176272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698480" y="217627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475720" y="2176272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1475720" y="217627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00800" y="2432304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400800" y="2432304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기타·만성 허혈  I24·25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686800" y="2432304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8686800" y="2432304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78408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78408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698480" y="2432304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0698480" y="243230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75720" y="2432304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1475720" y="243230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00800" y="2688336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400800" y="2688336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심장판막  I05·I34~37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86800" y="2688336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686800" y="2688336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78408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978408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698480" y="2688336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10698480" y="2688336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475720" y="2688336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1475720" y="2688336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00800" y="2944368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400800" y="2944368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심근·심내막 염증  I30~33·I40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686800" y="2944368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8686800" y="2944368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78408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978408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698480" y="2944368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0698480" y="2944368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475720" y="2944368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1475720" y="2944368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00800" y="3200400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200400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부정맥  I49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86800" y="3200400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686800" y="3200400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78408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78408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698480" y="3200400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0698480" y="320040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1475720" y="3200400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1475720" y="320040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400800" y="3456432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400800" y="3456432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심부전  I50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86800" y="3456432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8686800" y="3456432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784080" y="3456432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9784080" y="345643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698480" y="3456432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698480" y="345643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1475720" y="3456432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1475720" y="345643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400800" y="3712464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6400800" y="3712464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심근병증  I42~45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86800" y="3712464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8686800" y="3712464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784080" y="3712464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9784080" y="371246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698480" y="3712464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10698480" y="371246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1475720" y="3712464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11475720" y="371246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400800" y="4041648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빈맥(I47·48) ≠ 부정맥(I49) — 전용 행 구분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순환계 = 2대 + 동맥류·정맥류 등 순환기 전반. 세부 대상코드 [확인]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● 보장   ○ 미보장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주요치료비 변천사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3대 주요치료비 담보의 변천사   ①비례형(구간) → ②정액형 → ③비급여 → 생활비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1746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1  비례형(구간형)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3911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치료비 지출액이 구간 하한 도달 시 그 구간 정액 지급.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2024.11 단종 — 보유자 해지 금지.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19088" y="1746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2  정액형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03911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치료 사실만으로 약정금 정액 지급.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면책 90일 · 가입금액 100만원부터.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66928" y="298094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3  비급여(하이클래스)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7355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급여 전액본인부담금 + 비급여 치료비 정액.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2천만×10년=2억 · 25.08~ 생활비형 추가.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92608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19088" y="298094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4  왜 필요한가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27355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5세대 실손: 비중증 비급여 자기부담 50%·한도 1,000만.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표적·면역 고가 약값엔 부족 → 주요치료비가 메움.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109728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수술 건당 총진료비(평균) · 심평원·건보공단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심장수술(개흉)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2,832만원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743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관상동맥우회술(CABG)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2,690만원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뇌동맥류 코일색전술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1,100~1,600만원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15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심장 스텐트(다발혈관)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1,000~1,400만원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601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뇌기저부수술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1,475만원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6235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재발률 — 뇌경색 1년 10%·5년 20~30% / 급성심근경색 1년 30%·3년 50% / 스텐트 5년 재협착 15%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상담 워크시트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암 주요치료비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뇌·심장 주요치료비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6420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3200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암 진단비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48256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걸렸을 때 일시금 (기본)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64208"/>
            <a:ext cx="205740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2,100만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5292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200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암 주요치료비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36976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수술·방사선·약물 정액 (100만~)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852928"/>
            <a:ext cx="205740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4164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114800"/>
            <a:ext cx="3200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하이클래스 (비급여)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425696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표적·면역·중입자 전액본인 커버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4041648"/>
            <a:ext cx="205740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66420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37960" y="1737360"/>
            <a:ext cx="3200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뇌·심 진단비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048256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뇌혈관·허혈성 일시금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1664208"/>
            <a:ext cx="205740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85292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37960" y="2926080"/>
            <a:ext cx="3200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2대 주요치료비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236976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수술·혈전용해·중환자실 (100만~)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852928"/>
            <a:ext cx="205740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4164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37960" y="4114800"/>
            <a:ext cx="3200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산정특례 (뇌 · 심장)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425696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진단만으로 지급 · 개별 담보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4041648"/>
            <a:ext cx="205740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 / 미가입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11247120" cy="777240"/>
          </a:xfrm>
          <a:prstGeom prst="rect">
            <a:avLst/>
          </a:prstGeom>
          <a:solidFill>
            <a:srgbClr val="F2F3F5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0080" y="5468112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부족한 담보 → 보완 추천 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심혈관 담보 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★ "특정Ⅰ·Ⅱ"는 회사마다 뜻이 다르다 — 라벨 말고 질병코드로 확인. 빈맥(I47·48)과 부정맥(I49)은 별개.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한화손해보험 4가지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심혈관Ⅰ = 협심증 I20 · 기타급성허혈 I24 · 만성허혈 I25 · 빈맥 I47 · 심방세동 I48 · 기타부정맥 I49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심혈관Ⅱ = 급성심근경색 I21~23 · 인공소생 심장정지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 (확장성·비후성·제한성 포함)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심혈관특정질환 = Ⅰ에서 기타부정맥(I49)만 제외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DB손해보험 4가지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협심증·허혈 I20·24·25 + 주요심장염증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특정Ⅲ = 판막질환 · 빈맥 I47 · 심방세동 I48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순환계 3대 = I46.0 · 부정맥 I47~49 · 심부전 I50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KB손해보험 5가지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협심증·허혈 I20·24·25 · 빈맥 I47·48 · 심부전 I50 (염증X·부정맥X)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 / 심장판막질환 = 판막·I33·I38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기타심장부정맥 = I49 (I47·48은 대상 아님)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현대해상 6가지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 심장질환 = 협심증 I20 · I24 · I25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특정허혈 심장질환 = 급성심근경색 I21~23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빈맥 I47 · 심방세동 I48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주요 심장염증 = I30~41 / 특정2대 = 전도장애 I44·45 + I49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※ 현대 심근병증 담보 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심혈관 담보 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★ "특정Ⅰ·Ⅱ"는 회사마다 뜻이 다르다 — 라벨 말고 질병코드로 확인. 빈맥(I47·48)과 부정맥(I49)은 별개.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NH농협손해보험 5가지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심혈관특정Ⅰ = 협심증·허혈 · 빈맥 · 기타부정맥 I49 · 심부전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특정Ⅰ(기타부정맥 제외) = Ⅰ에서 I49만 뺀 묶음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I42·I43 / 주요 심장염증질환 =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 심장부정맥 = I49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흥국화재 실제 약관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특정심혈관질환(기타부정맥제외) = 협심증·허혈·빈맥·심부전 (급성심근 아님)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특정심혈관질환(기타부정맥) = I49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심근병증(허혈성제외) = I42·I43 / 주요심장염증질환 =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허혈성심질환진단비 = I20·24·25 단독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롯데손해보험 5가지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특정심장질환Ⅰ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특정심장질환Ⅱ = 협심증·허혈 + 주요심장염증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 15대 = 판막 · 심근병증 · 빈맥 · 심부전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 심장부정맥 = I49 / 방실차단·전도장애 = I44·I45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삼성화재 · 메리츠화재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허혈성심장질환 6가지 = 급성기 I21 · 후속 I22 · 합병증 I23 · 협심증 I20 · 기타급성 I24 · 만성 I25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[메리츠] 심장질환진단Ⅰ → 허혈성 / Ⅱ → 급성심근경색 (별도 상품 병존)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