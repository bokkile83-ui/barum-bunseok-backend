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6858000" cy="9906000" type="A4"/>
  <p:notesSz cx="10018713" cy="144478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616" y="-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6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77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0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38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3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90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620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10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582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F825C-5304-4128-8698-8A30172550A0}" type="datetimeFigureOut">
              <a:rPr lang="ko-KR" altLang="en-US" smtClean="0"/>
              <a:t>2026-01-24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F6EE7-BEA1-4257-BFB4-5677DD1A08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19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타원 77">
            <a:extLst>
              <a:ext uri="{FF2B5EF4-FFF2-40B4-BE49-F238E27FC236}">
                <a16:creationId xmlns:a16="http://schemas.microsoft.com/office/drawing/2014/main" id="{97EB8577-3FDF-325E-404A-B936E91C47F7}"/>
              </a:ext>
            </a:extLst>
          </p:cNvPr>
          <p:cNvSpPr/>
          <p:nvPr/>
        </p:nvSpPr>
        <p:spPr>
          <a:xfrm>
            <a:off x="3609187" y="1309754"/>
            <a:ext cx="3059982" cy="1662799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1A238A0D-C40D-4B8B-EE5F-6F118F7A9340}"/>
              </a:ext>
            </a:extLst>
          </p:cNvPr>
          <p:cNvSpPr/>
          <p:nvPr/>
        </p:nvSpPr>
        <p:spPr>
          <a:xfrm>
            <a:off x="3902120" y="1926040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0795390-8274-BE45-DB46-63D994E22307}"/>
              </a:ext>
            </a:extLst>
          </p:cNvPr>
          <p:cNvSpPr/>
          <p:nvPr/>
        </p:nvSpPr>
        <p:spPr>
          <a:xfrm>
            <a:off x="4344258" y="2416853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AA35EE-EB93-DBEB-3BEB-1AC2B828184D}"/>
              </a:ext>
            </a:extLst>
          </p:cNvPr>
          <p:cNvSpPr/>
          <p:nvPr/>
        </p:nvSpPr>
        <p:spPr>
          <a:xfrm>
            <a:off x="107575" y="804134"/>
            <a:ext cx="3275703" cy="22276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D03562-7CE0-79D3-A126-D8A70874129D}"/>
              </a:ext>
            </a:extLst>
          </p:cNvPr>
          <p:cNvSpPr/>
          <p:nvPr/>
        </p:nvSpPr>
        <p:spPr>
          <a:xfrm>
            <a:off x="104508" y="3086207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D0628B-8409-F8D4-550B-391131497830}"/>
              </a:ext>
            </a:extLst>
          </p:cNvPr>
          <p:cNvSpPr/>
          <p:nvPr/>
        </p:nvSpPr>
        <p:spPr>
          <a:xfrm>
            <a:off x="3510849" y="3055383"/>
            <a:ext cx="1614696" cy="2077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51F5802-1717-ED86-3EB6-9F0BF9CC9B22}"/>
              </a:ext>
            </a:extLst>
          </p:cNvPr>
          <p:cNvSpPr/>
          <p:nvPr/>
        </p:nvSpPr>
        <p:spPr>
          <a:xfrm>
            <a:off x="3498450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5B5CD4-4959-E7A4-F8D6-483677A0ABDD}"/>
              </a:ext>
            </a:extLst>
          </p:cNvPr>
          <p:cNvSpPr txBox="1"/>
          <p:nvPr/>
        </p:nvSpPr>
        <p:spPr>
          <a:xfrm>
            <a:off x="1739961" y="272790"/>
            <a:ext cx="1942469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조성래 님의 보장</a:t>
            </a:r>
            <a:r>
              <a:rPr lang="en-US" altLang="ko-KR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(전)</a:t>
            </a:r>
            <a:endParaRPr lang="ko-KR" altLang="en-US" sz="2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E9EF70A-B85F-DE9A-956C-C85405EA7456}"/>
              </a:ext>
            </a:extLst>
          </p:cNvPr>
          <p:cNvCxnSpPr>
            <a:cxnSpLocks/>
          </p:cNvCxnSpPr>
          <p:nvPr/>
        </p:nvCxnSpPr>
        <p:spPr>
          <a:xfrm>
            <a:off x="234901" y="677039"/>
            <a:ext cx="319409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82D532ED-E95F-94E8-8C85-6D4111CEDF8A}"/>
              </a:ext>
            </a:extLst>
          </p:cNvPr>
          <p:cNvCxnSpPr>
            <a:cxnSpLocks/>
          </p:cNvCxnSpPr>
          <p:nvPr/>
        </p:nvCxnSpPr>
        <p:spPr>
          <a:xfrm>
            <a:off x="4524956" y="635963"/>
            <a:ext cx="39046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F9A57C97-149A-972A-B505-B2CE118081A4}"/>
              </a:ext>
            </a:extLst>
          </p:cNvPr>
          <p:cNvCxnSpPr>
            <a:cxnSpLocks/>
          </p:cNvCxnSpPr>
          <p:nvPr/>
        </p:nvCxnSpPr>
        <p:spPr>
          <a:xfrm>
            <a:off x="5231847" y="630456"/>
            <a:ext cx="37699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FC17765-EDB5-C72C-043B-8F2BA5EB0209}"/>
              </a:ext>
            </a:extLst>
          </p:cNvPr>
          <p:cNvSpPr txBox="1"/>
          <p:nvPr/>
        </p:nvSpPr>
        <p:spPr>
          <a:xfrm>
            <a:off x="5590015" y="258278"/>
            <a:ext cx="166446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C59FDC4-C311-2A38-3362-6B5F4C84FE23}"/>
              </a:ext>
            </a:extLst>
          </p:cNvPr>
          <p:cNvCxnSpPr>
            <a:cxnSpLocks/>
          </p:cNvCxnSpPr>
          <p:nvPr/>
        </p:nvCxnSpPr>
        <p:spPr>
          <a:xfrm>
            <a:off x="3841883" y="630456"/>
            <a:ext cx="410599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4675DA-3C1A-EF73-3EBB-3ABC57CA965C}"/>
              </a:ext>
            </a:extLst>
          </p:cNvPr>
          <p:cNvSpPr txBox="1"/>
          <p:nvPr/>
        </p:nvSpPr>
        <p:spPr>
          <a:xfrm>
            <a:off x="4811991" y="270329"/>
            <a:ext cx="461370" cy="4616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CADE31-D5C5-A73C-D85A-2AF8577B164C}"/>
              </a:ext>
            </a:extLst>
          </p:cNvPr>
          <p:cNvSpPr txBox="1"/>
          <p:nvPr/>
        </p:nvSpPr>
        <p:spPr>
          <a:xfrm>
            <a:off x="4103592" y="251326"/>
            <a:ext cx="3150883" cy="4001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ko-KR" altLang="en-US" sz="1800" dirty="0">
                <a:latin typeface="HY엽서M" panose="02030600000101010101" pitchFamily="18" charset="-127"/>
                <a:ea typeface="HY엽서M" panose="02030600000101010101" pitchFamily="18" charset="-127"/>
              </a:rPr>
              <a:t>2026년 07월 02일 기준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ECE1B1-E815-303F-7BFF-E7FB6DD8D984}"/>
              </a:ext>
            </a:extLst>
          </p:cNvPr>
          <p:cNvSpPr txBox="1"/>
          <p:nvPr/>
        </p:nvSpPr>
        <p:spPr>
          <a:xfrm>
            <a:off x="216544" y="9644390"/>
            <a:ext cx="3036163" cy="2616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참고용 입니다</a:t>
            </a:r>
            <a:r>
              <a:rPr lang="en-US" altLang="ko-KR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</a:t>
            </a:r>
            <a:r>
              <a:rPr lang="ko-KR" altLang="en-US" sz="1050" b="1" dirty="0" err="1">
                <a:latin typeface="HY엽서L" panose="02030600000101010101" pitchFamily="18" charset="-127"/>
                <a:ea typeface="HY엽서L" panose="02030600000101010101" pitchFamily="18" charset="-127"/>
              </a:rPr>
              <a:t>자세한건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 증권을 확</a:t>
            </a:r>
            <a:r>
              <a:rPr lang="ko-KR" altLang="en-US" sz="110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인해주세</a:t>
            </a:r>
            <a:r>
              <a:rPr lang="ko-KR" altLang="en-US" sz="1050" b="1" dirty="0">
                <a:latin typeface="HY엽서L" panose="02030600000101010101" pitchFamily="18" charset="-127"/>
                <a:ea typeface="HY엽서L" panose="02030600000101010101" pitchFamily="18" charset="-127"/>
              </a:rPr>
              <a:t>요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36F99E-2D3B-9EEA-657A-3EFFF13297BE}"/>
              </a:ext>
            </a:extLst>
          </p:cNvPr>
          <p:cNvSpPr txBox="1"/>
          <p:nvPr/>
        </p:nvSpPr>
        <p:spPr>
          <a:xfrm>
            <a:off x="269537" y="829475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6EF19E-FD84-4513-62D6-D263BE307501}"/>
              </a:ext>
            </a:extLst>
          </p:cNvPr>
          <p:cNvSpPr txBox="1"/>
          <p:nvPr/>
        </p:nvSpPr>
        <p:spPr>
          <a:xfrm>
            <a:off x="3698082" y="751984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147FEC-E82B-39CF-4B3B-32F68CA44C4D}"/>
              </a:ext>
            </a:extLst>
          </p:cNvPr>
          <p:cNvSpPr txBox="1"/>
          <p:nvPr/>
        </p:nvSpPr>
        <p:spPr>
          <a:xfrm>
            <a:off x="356018" y="3086207"/>
            <a:ext cx="542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암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152CF0E-D308-D8C7-198E-4A7CC9669603}"/>
              </a:ext>
            </a:extLst>
          </p:cNvPr>
          <p:cNvSpPr/>
          <p:nvPr/>
        </p:nvSpPr>
        <p:spPr>
          <a:xfrm>
            <a:off x="195113" y="1381143"/>
            <a:ext cx="3059982" cy="167424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6708E82-E7B3-AE2B-1771-35680CCF16F9}"/>
              </a:ext>
            </a:extLst>
          </p:cNvPr>
          <p:cNvSpPr/>
          <p:nvPr/>
        </p:nvSpPr>
        <p:spPr>
          <a:xfrm>
            <a:off x="488046" y="1997428"/>
            <a:ext cx="2493161" cy="10139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89E8CAD9-50B0-A98F-B752-A3F9742B9531}"/>
              </a:ext>
            </a:extLst>
          </p:cNvPr>
          <p:cNvSpPr/>
          <p:nvPr/>
        </p:nvSpPr>
        <p:spPr>
          <a:xfrm>
            <a:off x="930184" y="2488241"/>
            <a:ext cx="1620085" cy="53308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7C78D3-A299-8960-812F-8BEC87A9D1A3}"/>
              </a:ext>
            </a:extLst>
          </p:cNvPr>
          <p:cNvSpPr txBox="1"/>
          <p:nvPr/>
        </p:nvSpPr>
        <p:spPr>
          <a:xfrm>
            <a:off x="1391879" y="1388396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6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뇌혈관
1,600</a:t>
            </a:r>
            <a:r>
              <a:rPr lang="ko-KR" altLang="en-US" sz="6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+700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D51D5C-F5C2-428D-F0F5-05E87FAF4432}"/>
              </a:ext>
            </a:extLst>
          </p:cNvPr>
          <p:cNvSpPr txBox="1"/>
          <p:nvPr/>
        </p:nvSpPr>
        <p:spPr>
          <a:xfrm>
            <a:off x="1437599" y="1986061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뇌졸증</a:t>
            </a:r>
            <a:endParaRPr lang="ko-KR" altLang="en-US" sz="11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EEEBAE-BB17-326A-1658-CF3B2F54C2A5}"/>
              </a:ext>
            </a:extLst>
          </p:cNvPr>
          <p:cNvSpPr txBox="1"/>
          <p:nvPr/>
        </p:nvSpPr>
        <p:spPr>
          <a:xfrm>
            <a:off x="1437599" y="2464614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뇌출혈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2FAEA2-453E-9F70-0670-679126F7C195}"/>
              </a:ext>
            </a:extLst>
          </p:cNvPr>
          <p:cNvSpPr txBox="1"/>
          <p:nvPr/>
        </p:nvSpPr>
        <p:spPr>
          <a:xfrm>
            <a:off x="667850" y="838506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</a:t>
            </a:r>
            <a:r>
              <a: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1,100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  <a:r>
              <a:rPr lang="en-US" altLang="ko-KR" sz="10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+300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55FB8A-F4A9-2703-FD09-5403D849C77B}"/>
              </a:ext>
            </a:extLst>
          </p:cNvPr>
          <p:cNvSpPr txBox="1"/>
          <p:nvPr/>
        </p:nvSpPr>
        <p:spPr>
          <a:xfrm>
            <a:off x="4802137" y="1267865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F0721-A174-01D6-FD9A-E5E2EF7170D3}"/>
              </a:ext>
            </a:extLst>
          </p:cNvPr>
          <p:cNvSpPr txBox="1"/>
          <p:nvPr/>
        </p:nvSpPr>
        <p:spPr>
          <a:xfrm>
            <a:off x="4811991" y="1915239"/>
            <a:ext cx="615654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latin typeface="HY엽서M" panose="02030600000101010101" pitchFamily="18" charset="-127"/>
                <a:ea typeface="HY엽서M" panose="02030600000101010101" pitchFamily="18" charset="-127"/>
              </a:rPr>
              <a:t>허혈성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0E32D7-5D5D-DED0-6768-33391F0FE2AE}"/>
              </a:ext>
            </a:extLst>
          </p:cNvPr>
          <p:cNvSpPr txBox="1"/>
          <p:nvPr/>
        </p:nvSpPr>
        <p:spPr>
          <a:xfrm>
            <a:off x="4747952" y="2406052"/>
            <a:ext cx="788636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62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급성심근
2,000</a:t>
            </a:r>
            <a:r>
              <a:rPr lang="ko-KR" altLang="en-US" sz="62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+1,000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DA15D4-2A8F-C1CF-144E-4C81FE4588E5}"/>
              </a:ext>
            </a:extLst>
          </p:cNvPr>
          <p:cNvSpPr txBox="1"/>
          <p:nvPr/>
        </p:nvSpPr>
        <p:spPr>
          <a:xfrm>
            <a:off x="3969449" y="777630"/>
            <a:ext cx="2520000" cy="5539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산정특례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</a:t>
            </a:r>
            <a:r>
              <a:rPr lang="en-US" altLang="ko-KR" sz="10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1,100</a:t>
            </a:r>
          </a:p>
          <a:p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혈전용해치료비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2</a:t>
            </a:r>
            <a:r>
              <a:rPr lang="ko-KR" altLang="en-US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대주요치료비 </a:t>
            </a:r>
            <a:r>
              <a:rPr lang="en-US" altLang="ko-KR" sz="10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601252F-AD01-A30F-7A43-58DA8BCD8BB1}"/>
              </a:ext>
            </a:extLst>
          </p:cNvPr>
          <p:cNvSpPr txBox="1"/>
          <p:nvPr/>
        </p:nvSpPr>
        <p:spPr>
          <a:xfrm>
            <a:off x="241345" y="4832054"/>
            <a:ext cx="3448234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상급병원암주요치료비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상급병원하이클래스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1BFA752-D77B-16FD-CAAE-8F136EF1C662}"/>
              </a:ext>
            </a:extLst>
          </p:cNvPr>
          <p:cNvSpPr txBox="1"/>
          <p:nvPr/>
        </p:nvSpPr>
        <p:spPr>
          <a:xfrm>
            <a:off x="-279278" y="5368281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수술비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3AC2A5-C0AB-5570-E68C-E7222D76E8CF}"/>
              </a:ext>
            </a:extLst>
          </p:cNvPr>
          <p:cNvSpPr txBox="1"/>
          <p:nvPr/>
        </p:nvSpPr>
        <p:spPr>
          <a:xfrm>
            <a:off x="3562513" y="5184252"/>
            <a:ext cx="1941269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실손 3세대</a:t>
            </a:r>
            <a:endParaRPr lang="en-US" altLang="ko-KR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가입일:</a:t>
            </a:r>
            <a:r>
              <a:rPr lang="en-US" altLang="ko-KR" sz="8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2022.09.17)</a:t>
            </a:r>
            <a:endParaRPr lang="ko-KR" altLang="en-US" sz="105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5F0C8E-7864-F716-5E86-DF3F158FCB23}"/>
              </a:ext>
            </a:extLst>
          </p:cNvPr>
          <p:cNvSpPr txBox="1"/>
          <p:nvPr/>
        </p:nvSpPr>
        <p:spPr>
          <a:xfrm>
            <a:off x="3331293" y="3070784"/>
            <a:ext cx="20654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기타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A0EA9-A9D6-33B6-C893-B2736CB11FC5}"/>
              </a:ext>
            </a:extLst>
          </p:cNvPr>
          <p:cNvSpPr txBox="1"/>
          <p:nvPr/>
        </p:nvSpPr>
        <p:spPr>
          <a:xfrm>
            <a:off x="-279278" y="7650355"/>
            <a:ext cx="2286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입원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간병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9F97174-41DD-803F-45E7-3E7B6D9DEA9D}"/>
              </a:ext>
            </a:extLst>
          </p:cNvPr>
          <p:cNvSpPr/>
          <p:nvPr/>
        </p:nvSpPr>
        <p:spPr>
          <a:xfrm>
            <a:off x="5172531" y="5176730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4DA663-8AB7-ACF0-D44E-CDEAC44BA985}"/>
              </a:ext>
            </a:extLst>
          </p:cNvPr>
          <p:cNvSpPr txBox="1"/>
          <p:nvPr/>
        </p:nvSpPr>
        <p:spPr>
          <a:xfrm>
            <a:off x="3698082" y="674014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사망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6923DA6F-48ED-B0B6-369A-9DA41881EE4A}"/>
              </a:ext>
            </a:extLst>
          </p:cNvPr>
          <p:cNvSpPr/>
          <p:nvPr/>
        </p:nvSpPr>
        <p:spPr>
          <a:xfrm>
            <a:off x="3494733" y="744896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F16743C7-1EC1-A00C-03A5-DC73946CB49E}"/>
              </a:ext>
            </a:extLst>
          </p:cNvPr>
          <p:cNvSpPr/>
          <p:nvPr/>
        </p:nvSpPr>
        <p:spPr>
          <a:xfrm>
            <a:off x="81466" y="5368281"/>
            <a:ext cx="3275703" cy="222765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C2B197F-6BF3-6DFA-2137-EBD5B912758E}"/>
              </a:ext>
            </a:extLst>
          </p:cNvPr>
          <p:cNvSpPr/>
          <p:nvPr/>
        </p:nvSpPr>
        <p:spPr>
          <a:xfrm>
            <a:off x="56201" y="7652515"/>
            <a:ext cx="3275703" cy="19913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1C0FEC8-1C5F-32F5-A6C8-C8D25973BACD}"/>
              </a:ext>
            </a:extLst>
          </p:cNvPr>
          <p:cNvSpPr/>
          <p:nvPr/>
        </p:nvSpPr>
        <p:spPr>
          <a:xfrm>
            <a:off x="3513906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203A95-F97B-BD0B-0621-21953075678F}"/>
              </a:ext>
            </a:extLst>
          </p:cNvPr>
          <p:cNvSpPr txBox="1"/>
          <p:nvPr/>
        </p:nvSpPr>
        <p:spPr>
          <a:xfrm>
            <a:off x="5335448" y="6729878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재가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치매</a:t>
            </a: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58544F06-6645-F7C5-BD78-C9E1307F05A6}"/>
              </a:ext>
            </a:extLst>
          </p:cNvPr>
          <p:cNvSpPr/>
          <p:nvPr/>
        </p:nvSpPr>
        <p:spPr>
          <a:xfrm>
            <a:off x="5187987" y="6729878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B1888E0-4963-5ED4-3594-1B9EDF328C77}"/>
              </a:ext>
            </a:extLst>
          </p:cNvPr>
          <p:cNvSpPr txBox="1"/>
          <p:nvPr/>
        </p:nvSpPr>
        <p:spPr>
          <a:xfrm>
            <a:off x="5316886" y="829476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화재</a:t>
            </a:r>
            <a:r>
              <a:rPr lang="en-US" altLang="ko-KR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/</a:t>
            </a:r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치아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8FC48546-FB3A-A8BC-BD43-F3765BF93737}"/>
              </a:ext>
            </a:extLst>
          </p:cNvPr>
          <p:cNvSpPr/>
          <p:nvPr/>
        </p:nvSpPr>
        <p:spPr>
          <a:xfrm>
            <a:off x="3510848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1645B29-08A3-63BA-CAD4-099824FB14DB}"/>
              </a:ext>
            </a:extLst>
          </p:cNvPr>
          <p:cNvSpPr txBox="1"/>
          <p:nvPr/>
        </p:nvSpPr>
        <p:spPr>
          <a:xfrm>
            <a:off x="3714523" y="8284010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MEMO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10DFC24B-8CFA-16F2-A393-AF31A248DEE7}"/>
              </a:ext>
            </a:extLst>
          </p:cNvPr>
          <p:cNvSpPr/>
          <p:nvPr/>
        </p:nvSpPr>
        <p:spPr>
          <a:xfrm>
            <a:off x="5184929" y="8294762"/>
            <a:ext cx="1627094" cy="150163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18CD76-271C-71ED-0E30-31EA87A89A90}"/>
              </a:ext>
            </a:extLst>
          </p:cNvPr>
          <p:cNvSpPr txBox="1"/>
          <p:nvPr/>
        </p:nvSpPr>
        <p:spPr>
          <a:xfrm>
            <a:off x="5326107" y="3084755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운전자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4D6F64EE-95B3-59A1-F447-F856B6E68BB2}"/>
              </a:ext>
            </a:extLst>
          </p:cNvPr>
          <p:cNvSpPr/>
          <p:nvPr/>
        </p:nvSpPr>
        <p:spPr>
          <a:xfrm>
            <a:off x="5172531" y="3064710"/>
            <a:ext cx="1627094" cy="20487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3206ACF-57CF-8D13-D7D9-FD949A82FEAA}"/>
              </a:ext>
            </a:extLst>
          </p:cNvPr>
          <p:cNvSpPr txBox="1"/>
          <p:nvPr/>
        </p:nvSpPr>
        <p:spPr>
          <a:xfrm>
            <a:off x="5326107" y="5166472"/>
            <a:ext cx="12764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FF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후유장해</a:t>
            </a:r>
            <a:endParaRPr lang="ko-KR" altLang="en-US" sz="1400" dirty="0">
              <a:solidFill>
                <a:srgbClr val="FF0000"/>
              </a:solidFill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3EFF90F-A2A2-9ACE-5FB1-36D4167DD011}"/>
              </a:ext>
            </a:extLst>
          </p:cNvPr>
          <p:cNvCxnSpPr>
            <a:cxnSpLocks/>
            <a:stCxn id="81" idx="0"/>
            <a:endCxn id="81" idx="2"/>
          </p:cNvCxnSpPr>
          <p:nvPr/>
        </p:nvCxnSpPr>
        <p:spPr>
          <a:xfrm>
            <a:off x="1719318" y="5368281"/>
            <a:ext cx="0" cy="2227658"/>
          </a:xfrm>
          <a:prstGeom prst="line">
            <a:avLst/>
          </a:prstGeom>
          <a:ln w="31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1FC954-196C-F9FA-2ABA-8692BC2F2492}"/>
              </a:ext>
            </a:extLst>
          </p:cNvPr>
          <p:cNvSpPr txBox="1"/>
          <p:nvPr/>
        </p:nvSpPr>
        <p:spPr>
          <a:xfrm>
            <a:off x="3535890" y="4748864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일상배상책임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10,000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D769C-3558-2E14-6294-3182CF6EC6EF}"/>
              </a:ext>
            </a:extLst>
          </p:cNvPr>
          <p:cNvSpPr txBox="1"/>
          <p:nvPr/>
        </p:nvSpPr>
        <p:spPr>
          <a:xfrm>
            <a:off x="3531857" y="5608253"/>
            <a:ext cx="2520000" cy="101566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입원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통원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25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약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</a:t>
            </a:r>
          </a:p>
          <a:p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MRI : 305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도수치료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350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비급여주사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250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04F4A-839F-39C6-6CDD-0BFFDF241529}"/>
              </a:ext>
            </a:extLst>
          </p:cNvPr>
          <p:cNvSpPr txBox="1"/>
          <p:nvPr/>
        </p:nvSpPr>
        <p:spPr>
          <a:xfrm>
            <a:off x="3551991" y="3392764"/>
            <a:ext cx="2520000" cy="138499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중대화상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반깁스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깁스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60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응급실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AB7AB2-FD02-C013-9E75-1A28B031A14C}"/>
              </a:ext>
            </a:extLst>
          </p:cNvPr>
          <p:cNvSpPr txBox="1"/>
          <p:nvPr/>
        </p:nvSpPr>
        <p:spPr>
          <a:xfrm>
            <a:off x="5184929" y="5466003"/>
            <a:ext cx="2520000" cy="115416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 500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+2,000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80% 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3% : 12,200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80% : 200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+200</a:t>
            </a:r>
          </a:p>
          <a:p>
            <a:r>
              <a:rPr lang="ko-KR" altLang="en-US" sz="105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교통후유장해</a:t>
            </a:r>
            <a:r>
              <a:rPr lang="en-US" altLang="ko-KR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(       %)</a:t>
            </a:r>
            <a:r>
              <a:rPr lang="ko-KR" altLang="en-US" sz="1050" dirty="0">
                <a:latin typeface="HY엽서M" panose="02030600000101010101" pitchFamily="18" charset="-127"/>
                <a:ea typeface="HY엽서M" panose="02030600000101010101" pitchFamily="18" charset="-127"/>
              </a:rPr>
              <a:t>  </a:t>
            </a:r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endParaRPr lang="en-US" altLang="ko-KR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7FCFB-3830-7577-1924-9883F5E33EFA}"/>
              </a:ext>
            </a:extLst>
          </p:cNvPr>
          <p:cNvSpPr txBox="1"/>
          <p:nvPr/>
        </p:nvSpPr>
        <p:spPr>
          <a:xfrm>
            <a:off x="5166687" y="3424651"/>
            <a:ext cx="2520000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대인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대물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합의금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20,000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6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주미만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1,000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변호사비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자부상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951FA-612E-AC40-18C3-9DF56A54815C}"/>
              </a:ext>
            </a:extLst>
          </p:cNvPr>
          <p:cNvSpPr txBox="1"/>
          <p:nvPr/>
        </p:nvSpPr>
        <p:spPr>
          <a:xfrm>
            <a:off x="3531857" y="7017107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질병사망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- 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80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세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3,000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종신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B4D3C-DB87-D1A6-A8BA-C2EF2B9BDC61}"/>
              </a:ext>
            </a:extLst>
          </p:cNvPr>
          <p:cNvSpPr txBox="1"/>
          <p:nvPr/>
        </p:nvSpPr>
        <p:spPr>
          <a:xfrm>
            <a:off x="3531857" y="7841460"/>
            <a:ext cx="25200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상해사망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26,000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+11,400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F3B10C-CD2F-8FD4-D6DC-943AD4DF7CD1}"/>
              </a:ext>
            </a:extLst>
          </p:cNvPr>
          <p:cNvSpPr txBox="1"/>
          <p:nvPr/>
        </p:nvSpPr>
        <p:spPr>
          <a:xfrm>
            <a:off x="5184929" y="7034542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치매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재가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노치원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시설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B62EC-F15F-BDAA-F829-A47DBCBE6DBB}"/>
              </a:ext>
            </a:extLst>
          </p:cNvPr>
          <p:cNvSpPr txBox="1"/>
          <p:nvPr/>
        </p:nvSpPr>
        <p:spPr>
          <a:xfrm>
            <a:off x="5201746" y="8687219"/>
            <a:ext cx="2520000" cy="83099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크라운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임플란트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기타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화재보험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A1288-AD57-F21D-4547-8B6A0162B32A}"/>
              </a:ext>
            </a:extLst>
          </p:cNvPr>
          <p:cNvSpPr txBox="1"/>
          <p:nvPr/>
        </p:nvSpPr>
        <p:spPr>
          <a:xfrm>
            <a:off x="162211" y="3342373"/>
            <a:ext cx="3155500" cy="156966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19" dirty="0">
                <a:latin typeface="HY엽서M" panose="02030600000101010101" pitchFamily="18" charset="-127"/>
                <a:ea typeface="HY엽서M" panose="02030600000101010101" pitchFamily="18" charset="-127"/>
              </a:rPr>
              <a:t>암진단비 </a:t>
            </a:r>
            <a:r>
              <a:rPr lang="en-US" altLang="ko-KR" sz="1019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10,100</a:t>
            </a:r>
            <a:r>
              <a:rPr lang="en-US" altLang="ko-KR" sz="1019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+500</a:t>
            </a:r>
          </a:p>
          <a:p>
            <a:r>
              <a:rPr lang="ko-KR" altLang="en-US" sz="1019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유사암</a:t>
            </a:r>
            <a:r>
              <a:rPr lang="ko-KR" altLang="en-US" sz="1019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19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320</a:t>
            </a:r>
            <a:r>
              <a:rPr lang="en-US" altLang="ko-KR" sz="1019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+300</a:t>
            </a:r>
          </a:p>
          <a:p>
            <a:r>
              <a:rPr lang="ko-KR" altLang="en-US" sz="1019" dirty="0">
                <a:latin typeface="HY엽서M" panose="02030600000101010101" pitchFamily="18" charset="-127"/>
                <a:ea typeface="HY엽서M" panose="02030600000101010101" pitchFamily="18" charset="-127"/>
              </a:rPr>
              <a:t>통합전이암 </a:t>
            </a:r>
            <a:r>
              <a:rPr lang="en-US" altLang="ko-KR" sz="1019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19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중입자</a:t>
            </a:r>
            <a:r>
              <a:rPr lang="ko-KR" altLang="en-US" sz="1019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19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5,000</a:t>
            </a:r>
          </a:p>
          <a:p>
            <a:r>
              <a:rPr lang="ko-KR" altLang="en-US" sz="1019" dirty="0">
                <a:latin typeface="HY엽서M" panose="02030600000101010101" pitchFamily="18" charset="-127"/>
                <a:ea typeface="HY엽서M" panose="02030600000101010101" pitchFamily="18" charset="-127"/>
              </a:rPr>
              <a:t>항암치료 </a:t>
            </a:r>
            <a:r>
              <a:rPr lang="en-US" altLang="ko-KR" sz="1019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2,850</a:t>
            </a:r>
            <a:r>
              <a:rPr lang="en-US" altLang="ko-KR" sz="1019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+100 / </a:t>
            </a:r>
            <a:r>
              <a:rPr lang="ko-KR" altLang="en-US" sz="1019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전이암항암치료</a:t>
            </a:r>
            <a:r>
              <a:rPr lang="ko-KR" altLang="en-US" sz="1019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19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019" dirty="0">
                <a:latin typeface="HY엽서M" panose="02030600000101010101" pitchFamily="18" charset="-127"/>
                <a:ea typeface="HY엽서M" panose="02030600000101010101" pitchFamily="18" charset="-127"/>
              </a:rPr>
              <a:t>표적치료</a:t>
            </a:r>
            <a:r>
              <a:rPr lang="en-US" altLang="ko-KR" sz="1019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18,000 / </a:t>
            </a:r>
            <a:r>
              <a:rPr lang="ko-KR" altLang="en-US" sz="1019" dirty="0">
                <a:latin typeface="HY엽서M" panose="02030600000101010101" pitchFamily="18" charset="-127"/>
                <a:ea typeface="HY엽서M" panose="02030600000101010101" pitchFamily="18" charset="-127"/>
              </a:rPr>
              <a:t>양성자</a:t>
            </a:r>
            <a:r>
              <a:rPr lang="en-US" altLang="ko-KR" sz="1019" dirty="0">
                <a:latin typeface="HY엽서M" panose="02030600000101010101" pitchFamily="18" charset="-127"/>
                <a:ea typeface="HY엽서M" panose="02030600000101010101" pitchFamily="18" charset="-127"/>
              </a:rPr>
              <a:t>.</a:t>
            </a:r>
            <a:r>
              <a:rPr lang="ko-KR" altLang="en-US" sz="1019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2,000</a:t>
            </a:r>
            <a:r>
              <a:rPr lang="en-US" altLang="ko-KR" sz="1019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2,000/2,000</a:t>
            </a:r>
          </a:p>
          <a:p>
            <a:r>
              <a:rPr lang="ko-KR" altLang="en-US" sz="1019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암통원비</a:t>
            </a:r>
            <a:r>
              <a:rPr lang="ko-KR" altLang="en-US" sz="1019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019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019" dirty="0">
                <a:latin typeface="HY엽서M" panose="02030600000101010101" pitchFamily="18" charset="-127"/>
                <a:ea typeface="HY엽서M" panose="02030600000101010101" pitchFamily="18" charset="-127"/>
              </a:rPr>
              <a:t>다빈치로봇수술비 </a:t>
            </a:r>
            <a:r>
              <a:rPr lang="en-US" altLang="ko-KR" sz="1019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39DC9C-C1BD-391E-12A3-2B33AEB595B2}"/>
              </a:ext>
            </a:extLst>
          </p:cNvPr>
          <p:cNvSpPr txBox="1"/>
          <p:nvPr/>
        </p:nvSpPr>
        <p:spPr>
          <a:xfrm>
            <a:off x="109959" y="5649932"/>
            <a:ext cx="162174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질병수술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40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+20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79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(10/50/100/500/1100)</a:t>
            </a:r>
            <a:r>
              <a:rPr lang="en-US" altLang="ko-KR" sz="79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뇌혈관수술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+500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허혈성수술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500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심장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대기관수술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대 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  <a:endParaRPr lang="ko-KR" altLang="en-US" sz="105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83F89-D698-0D8C-99DB-AF94347BA7AE}"/>
              </a:ext>
            </a:extLst>
          </p:cNvPr>
          <p:cNvSpPr txBox="1"/>
          <p:nvPr/>
        </p:nvSpPr>
        <p:spPr>
          <a:xfrm>
            <a:off x="1729621" y="5691134"/>
            <a:ext cx="1621742" cy="17927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상해수술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350</a:t>
            </a:r>
            <a:r>
              <a:rPr lang="en-US" altLang="ko-KR" sz="9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+100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종합병원수술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1~5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종 수술비</a:t>
            </a:r>
            <a:endParaRPr lang="en-US" altLang="ko-KR" sz="12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r>
              <a:rPr lang="en-US" altLang="ko-KR" sz="79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(20/60/150/600/1000)</a:t>
            </a:r>
            <a:r>
              <a:rPr lang="en-US" altLang="ko-KR" sz="790" dirty="0">
                <a:latin typeface="HY엽서M" panose="02030600000101010101" pitchFamily="18" charset="-127"/>
                <a:ea typeface="HY엽서M" panose="02030600000101010101" pitchFamily="18" charset="-127"/>
              </a:rPr>
              <a:t>     </a:t>
            </a:r>
            <a:r>
              <a:rPr lang="en-US" altLang="ko-KR" sz="890" dirty="0">
                <a:latin typeface="HY엽서M" panose="02030600000101010101" pitchFamily="18" charset="-127"/>
                <a:ea typeface="HY엽서M" panose="02030600000101010101" pitchFamily="18" charset="-127"/>
              </a:rPr>
              <a:t/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골절수술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90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5</a:t>
            </a:r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대골절수술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80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화상수술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</a:t>
            </a:r>
          </a:p>
          <a:p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중대상해수술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9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창상봉합수술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9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60</a:t>
            </a:r>
          </a:p>
          <a:p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________</a:t>
            </a:r>
            <a:r>
              <a:rPr lang="ko-KR" altLang="en-US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수술 </a:t>
            </a:r>
            <a:r>
              <a:rPr lang="en-US" altLang="ko-KR" sz="9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  <a:endParaRPr lang="ko-KR" altLang="en-US" sz="1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21F0BB-FC32-7BF8-7EBE-623AB00481BA}"/>
              </a:ext>
            </a:extLst>
          </p:cNvPr>
          <p:cNvSpPr txBox="1"/>
          <p:nvPr/>
        </p:nvSpPr>
        <p:spPr>
          <a:xfrm>
            <a:off x="122009" y="7875924"/>
            <a:ext cx="3197963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질병일당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+2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상해일당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+2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병원일당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질병중환자실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20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+20 / </a:t>
            </a:r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상해중환자실</a:t>
            </a:r>
            <a:r>
              <a:rPr lang="ko-KR" altLang="en-US" sz="1200" dirty="0">
                <a:solidFill>
                  <a:srgbClr val="0000FF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30</a:t>
            </a:r>
            <a:r>
              <a:rPr lang="ko-KR" altLang="en-US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+30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상급병원일당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100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1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인실 종합병원일당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400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암일당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_______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</a:t>
            </a:r>
          </a:p>
          <a:p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</a:p>
          <a:p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간병인일당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         / 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요양병원 </a:t>
            </a:r>
            <a:r>
              <a:rPr lang="en-US" altLang="ko-KR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: </a:t>
            </a:r>
          </a:p>
          <a:p>
            <a:r>
              <a:rPr lang="ko-KR" altLang="en-US" sz="1200" dirty="0" err="1">
                <a:latin typeface="HY엽서M" panose="02030600000101010101" pitchFamily="18" charset="-127"/>
                <a:ea typeface="HY엽서M" panose="02030600000101010101" pitchFamily="18" charset="-127"/>
              </a:rPr>
              <a:t>간호통합병동일당</a:t>
            </a:r>
            <a:r>
              <a:rPr lang="ko-KR" altLang="en-US" sz="1200" dirty="0"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en-US" altLang="ko-KR" sz="1200" dirty="0">
                <a:solidFill>
                  <a:srgbClr val="000000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: 22</a:t>
            </a:r>
          </a:p>
        </p:txBody>
      </p:sp>
      <p:sp>
        <p:nvSpPr>
          <p:cNvPr id="93" name="TextBox 심장4종"/>
          <p:cNvSpPr txBox="1"/>
          <p:nvPr/>
        </p:nvSpPr>
        <p:spPr>
          <a:xfrm>
            <a:off x="3977639" y="1435608"/>
            <a:ext cx="2523744" cy="521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/>
              <a:t>협심증/심부전/염증/빈맥 </a:t>
            </a:r>
            <a:r>
              <a:rPr sz="1100"/>
              <a:t>700</a:t>
            </a:r>
          </a:p>
          <a:p>
            <a:r>
              <a:rPr sz="1100"/>
              <a:t>부정맥 </a:t>
            </a:r>
            <a:r>
              <a:rPr sz="1100"/>
              <a:t>1,200</a:t>
            </a:r>
          </a:p>
        </p:txBody>
      </p:sp>
    </p:spTree>
    <p:extLst>
      <p:ext uri="{BB962C8B-B14F-4D97-AF65-F5344CB8AC3E}">
        <p14:creationId xmlns:p14="http://schemas.microsoft.com/office/powerpoint/2010/main" val="23955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282</Words>
  <Application>Microsoft Office PowerPoint</Application>
  <PresentationFormat>A4 용지(210x297mm)</PresentationFormat>
  <Paragraphs>108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HY엽서L</vt:lpstr>
      <vt:lpstr>HY엽서M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은혜 최</dc:creator>
  <cp:lastModifiedBy>Windows</cp:lastModifiedBy>
  <cp:revision>15</cp:revision>
  <cp:lastPrinted>2026-01-06T12:38:35Z</cp:lastPrinted>
  <dcterms:created xsi:type="dcterms:W3CDTF">2025-05-17T14:02:33Z</dcterms:created>
  <dcterms:modified xsi:type="dcterms:W3CDTF">2026-01-24T11:19:54Z</dcterms:modified>
</cp:coreProperties>
</file>