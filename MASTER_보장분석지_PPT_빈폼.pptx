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10"/>
  </p:sldIdLst>
  <p:sldSz cx="6858000" cy="9906000" type="A4"/>
  <p:notesSz cx="10018713" cy="144478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55" d="100"/>
          <a:sy n="55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9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7861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89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3776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3066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86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482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5138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901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7620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2103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F825C-5304-4128-8698-8A30172550A0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775822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5F825C-5304-4128-8698-8A30172550A0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DF6EE7-BEA1-4257-BFB4-5677DD1A08C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1199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타원 77">
            <a:extLst>
              <a:ext uri="{FF2B5EF4-FFF2-40B4-BE49-F238E27FC236}">
                <a16:creationId xmlns:a16="http://schemas.microsoft.com/office/drawing/2014/main" id="{97EB8577-3FDF-325E-404A-B936E91C47F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09187" y="1309754"/>
            <a:ext cx="3059982" cy="1662799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1A238A0D-C40D-4B8B-EE5F-6F118F7A934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902120" y="1926040"/>
            <a:ext cx="2493161" cy="10139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40795390-8274-BE45-DB46-63D994E2230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344258" y="2416853"/>
            <a:ext cx="1620085" cy="53308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FAAA35EE-EB93-DBEB-3BEB-1AC2B82818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7575" y="804134"/>
            <a:ext cx="3275703" cy="222765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8D03562-7CE0-79D3-A126-D8A7087412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4508" y="3086207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4D0628B-8409-F8D4-550B-39113149783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10849" y="3055383"/>
            <a:ext cx="1614696" cy="2077353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51F5802-1717-ED86-3EB6-9F0BF9CC9B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498450" y="5176730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5B5CD4-4959-E7A4-F8D6-483677A0ABD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739961" y="272790"/>
            <a:ext cx="19424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HY엽서M" panose="02030600000101010101" pitchFamily="18" charset="-127"/>
                <a:ea typeface="HY엽서M" panose="02030600000101010101" pitchFamily="18" charset="-127"/>
              </a:rPr>
              <a:t>님의 보장</a:t>
            </a:r>
            <a:r>
              <a:rPr lang="en-US" altLang="ko-KR" sz="2000" dirty="0">
                <a:latin typeface="HY엽서M" panose="02030600000101010101" pitchFamily="18" charset="-127"/>
                <a:ea typeface="HY엽서M" panose="02030600000101010101" pitchFamily="18" charset="-127"/>
              </a:rPr>
              <a:t>(    )</a:t>
            </a:r>
            <a:endParaRPr lang="ko-KR" altLang="en-US" sz="2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5E9EF70A-B85F-DE9A-956C-C85405EA7456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234901" y="677039"/>
            <a:ext cx="3194098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82D532ED-E95F-94E8-8C85-6D4111CEDF8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4524956" y="635963"/>
            <a:ext cx="390466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9A57C97-149A-972A-B505-B2CE118081A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5231847" y="630456"/>
            <a:ext cx="376995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FC17765-EDB5-C72C-043B-8F2BA5EB020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590015" y="258278"/>
            <a:ext cx="16644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HY엽서M" panose="02030600000101010101" pitchFamily="18" charset="-127"/>
                <a:ea typeface="HY엽서M" panose="02030600000101010101" pitchFamily="18" charset="-127"/>
              </a:rPr>
              <a:t>일 기준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BC59FDC4-C311-2A38-3362-6B5F4C84FE23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841883" y="630456"/>
            <a:ext cx="410599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0A4675DA-3C1A-EF73-3EBB-3ABC57CA965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811991" y="270329"/>
            <a:ext cx="46137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HY엽서M" panose="02030600000101010101" pitchFamily="18" charset="-127"/>
                <a:ea typeface="HY엽서M" panose="02030600000101010101" pitchFamily="18" charset="-127"/>
              </a:rPr>
              <a:t>월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CADE31-D5C5-A73C-D85A-2AF8577B164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103592" y="251326"/>
            <a:ext cx="6563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HY엽서M" panose="02030600000101010101" pitchFamily="18" charset="-127"/>
                <a:ea typeface="HY엽서M" panose="02030600000101010101" pitchFamily="18" charset="-127"/>
              </a:rPr>
              <a:t>년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AECE1B1-E815-303F-7BFF-E7FB6DD8D98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16544" y="9644390"/>
            <a:ext cx="3036163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참고용 입니다</a:t>
            </a:r>
            <a:r>
              <a:rPr lang="en-US" altLang="ko-KR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 </a:t>
            </a:r>
            <a:r>
              <a:rPr lang="ko-KR" altLang="en-US" sz="1050" b="1" dirty="0" err="1">
                <a:latin typeface="HY엽서L" panose="02030600000101010101" pitchFamily="18" charset="-127"/>
                <a:ea typeface="HY엽서L" panose="02030600000101010101" pitchFamily="18" charset="-127"/>
              </a:rPr>
              <a:t>자세한건</a:t>
            </a:r>
            <a:r>
              <a:rPr lang="ko-KR" altLang="en-US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 증권을 확</a:t>
            </a:r>
            <a:r>
              <a:rPr lang="ko-KR" altLang="en-US" sz="110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인해주세</a:t>
            </a:r>
            <a:r>
              <a:rPr lang="ko-KR" altLang="en-US" sz="1050" b="1" dirty="0">
                <a:latin typeface="HY엽서L" panose="02030600000101010101" pitchFamily="18" charset="-127"/>
                <a:ea typeface="HY엽서L" panose="02030600000101010101" pitchFamily="18" charset="-127"/>
              </a:rPr>
              <a:t>요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036F99E-2D3B-9EEA-657A-3EFFF13297B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9537" y="829475"/>
            <a:ext cx="5427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뇌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6EF19E-FD84-4513-62D6-D263BE30750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698082" y="751984"/>
            <a:ext cx="5427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심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147FEC-E82B-39CF-4B3B-32F68CA44C4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6018" y="3086207"/>
            <a:ext cx="5427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암</a:t>
            </a: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152CF0E-D308-D8C7-198E-4A7CC966960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95113" y="1381143"/>
            <a:ext cx="3059982" cy="167424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B6708E82-E7B3-AE2B-1771-35680CCF16F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88046" y="1997428"/>
            <a:ext cx="2493161" cy="1013923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89E8CAD9-50B0-A98F-B752-A3F9742B953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30184" y="2488241"/>
            <a:ext cx="1620085" cy="53308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7C78D3-A299-8960-812F-8BEC87A9D1A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391879" y="1388396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2D51D5C-F5C2-428D-F0F5-05E87FAF443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37599" y="1986061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뇌졸증</a:t>
            </a:r>
            <a:endParaRPr lang="ko-KR" altLang="en-US" sz="11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EEEBAE-BB17-326A-1658-CF3B2F54C2A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37599" y="2464614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뇌출혈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42FAEA2-453E-9F70-0670-679126F7C19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67850" y="838506"/>
            <a:ext cx="2520000" cy="55399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산정특례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 : </a:t>
            </a:r>
            <a:r>
              <a:rPr lang="en-US" altLang="ko-KR" sz="10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ko-KR" altLang="en-US" sz="10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000" dirty="0">
              <a:solidFill>
                <a:srgbClr val="0000FF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혈전용해치료비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2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대주요치료비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B55FB8A-F4A9-2703-FD09-5403D849C77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802137" y="1267865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1AF0721-A174-01D6-FD9A-E5E2EF7170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811991" y="1915239"/>
            <a:ext cx="615654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허혈성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20E32D7-5D5D-DED0-6768-33391F0FE2A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47952" y="2406052"/>
            <a:ext cx="788636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>급성심근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CDA15D4-2A8F-C1CF-144E-4C81FE4588E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969449" y="777630"/>
            <a:ext cx="2520000" cy="55399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산정특례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) : </a:t>
            </a:r>
            <a:r>
              <a:rPr lang="en-US" altLang="ko-KR" sz="10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ko-KR" altLang="en-US" sz="10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000" dirty="0">
              <a:solidFill>
                <a:srgbClr val="0000FF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혈전용해치료비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2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대주요치료비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601252F-AD01-A30F-7A43-58DA8BCD8BB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16544" y="4986714"/>
            <a:ext cx="3448234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암주요치료비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하이클래스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1BFA752-D77B-16FD-CAAE-8F136EF1C66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-279278" y="5368281"/>
            <a:ext cx="20654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수술비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C3AC2A5-C0AB-5570-E68C-E7222D76E8C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62513" y="5184252"/>
            <a:ext cx="1941269" cy="469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실손</a:t>
            </a:r>
            <a:endParaRPr lang="en-US" altLang="ko-KR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05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(</a:t>
            </a:r>
            <a:r>
              <a:rPr lang="ko-KR" altLang="en-US" sz="105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가입일 </a:t>
            </a:r>
            <a:r>
              <a:rPr lang="en-US" altLang="ko-KR" sz="105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05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E5F0C8E-7864-F716-5E86-DF3F158FCB2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331293" y="3070784"/>
            <a:ext cx="20654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상해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기타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DCA0EA9-A9D6-33B6-C893-B2736CB11FC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-279278" y="7650355"/>
            <a:ext cx="228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입원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간병</a:t>
            </a:r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A9F97174-41DD-803F-45E7-3E7B6D9DEA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172531" y="5176730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44DA663-8AB7-ACF0-D44E-CDEAC44BA98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698082" y="6740140"/>
            <a:ext cx="1276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사망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6923DA6F-48ED-B0B6-369A-9DA41881EE4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494733" y="744896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F16743C7-1EC1-A00C-03A5-DC73946CB49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1466" y="5368281"/>
            <a:ext cx="3275703" cy="222765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2C2B197F-6BF3-6DFA-2137-EBD5B912758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6201" y="7652515"/>
            <a:ext cx="3275703" cy="199135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81C0FEC8-1C5F-32F5-A6C8-C8D25973BAC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13906" y="6729878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B203A95-F97B-BD0B-0621-21953075678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35448" y="6729878"/>
            <a:ext cx="1276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재가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치매</a:t>
            </a:r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58544F06-6645-F7C5-BD78-C9E1307F05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187987" y="6729878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B1888E0-4963-5ED4-3594-1B9EDF328C7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6886" y="8294762"/>
            <a:ext cx="1276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화재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치아</a:t>
            </a:r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8FC48546-FB3A-A8BC-BD43-F3765BF9373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510848" y="8294762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645B29-08A3-63BA-CAD4-099824FB14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714523" y="8284010"/>
            <a:ext cx="1276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연금</a:t>
            </a:r>
            <a:r>
              <a:rPr lang="en-US" altLang="ko-KR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/</a:t>
            </a:r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저축</a:t>
            </a:r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10DFC24B-8CFA-16F2-A393-AF31A248DEE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184929" y="8294762"/>
            <a:ext cx="1627094" cy="15016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018CD76-271C-71ED-0E30-31EA87A89A9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26107" y="3084755"/>
            <a:ext cx="1276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운전자</a:t>
            </a:r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D6F64EE-95B3-59A1-F447-F856B6E68BB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172531" y="3064710"/>
            <a:ext cx="1627094" cy="204876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63206ACF-57CF-8D13-D7D9-FD949A82FEA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26107" y="5166472"/>
            <a:ext cx="12764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 err="1">
                <a:solidFill>
                  <a:srgbClr val="FF0000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후유장해</a:t>
            </a:r>
            <a:endParaRPr lang="ko-KR" altLang="en-US" sz="1400" dirty="0">
              <a:solidFill>
                <a:srgbClr val="FF0000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3EFF90F-A2A2-9ACE-5FB1-36D4167DD011}"/>
              </a:ext>
            </a:extLst>
          </p:cNvPr>
          <p:cNvCxnSpPr>
            <a:cxnSpLocks noGrp="1" noRot="1" noMove="1" noResize="1" noEditPoints="1" noAdjustHandles="1" noChangeArrowheads="1" noChangeShapeType="1"/>
            <a:stCxn id="81" idx="0"/>
            <a:endCxn id="81" idx="2"/>
          </p:cNvCxnSpPr>
          <p:nvPr/>
        </p:nvCxnSpPr>
        <p:spPr>
          <a:xfrm>
            <a:off x="1719318" y="5368281"/>
            <a:ext cx="0" cy="2227658"/>
          </a:xfrm>
          <a:prstGeom prst="line">
            <a:avLst/>
          </a:prstGeom>
          <a:ln w="3175"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51FC954-196C-F9FA-2ABA-8692BC2F24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35890" y="4748864"/>
            <a:ext cx="2520000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일상배상책임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ko-KR" altLang="en-US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5D769C-3558-2E14-6294-3182CF6EC6E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31857" y="5608253"/>
            <a:ext cx="2520000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입원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통원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약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MRI 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도수치료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비급여주사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404F4A-839F-39C6-6CDD-0BFFDF24152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51991" y="3392764"/>
            <a:ext cx="2520000" cy="138499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골절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대골절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화상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중대화상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반깁스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깁스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응급실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AB7AB2-FD02-C013-9E75-1A28B031A14C}"/>
              </a:ext>
            </a:extLst>
          </p:cNvPr>
          <p:cNvSpPr txBox="1"/>
          <p:nvPr/>
        </p:nvSpPr>
        <p:spPr>
          <a:xfrm>
            <a:off x="5184929" y="5466003"/>
            <a:ext cx="2520000" cy="115416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3% :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80% 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3% 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80% 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05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교통후유장해</a:t>
            </a:r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(       %)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  <a:endParaRPr lang="en-US" altLang="ko-KR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endParaRPr lang="en-US" altLang="ko-KR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C7FCFB-3830-7577-1924-9883F5E33EFA}"/>
              </a:ext>
            </a:extLst>
          </p:cNvPr>
          <p:cNvSpPr txBox="1"/>
          <p:nvPr/>
        </p:nvSpPr>
        <p:spPr>
          <a:xfrm>
            <a:off x="5166687" y="3424651"/>
            <a:ext cx="2520000" cy="138499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대인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대물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합의금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6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주미만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변호사비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자부상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독감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ko-KR" altLang="en-US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2951FA-612E-AC40-18C3-9DF56A54815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31857" y="7017107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질병사망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- ___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pPr marL="171450" indent="-171450">
              <a:buFontTx/>
              <a:buChar char="-"/>
            </a:pP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80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pPr marL="171450" indent="-171450">
              <a:buFontTx/>
              <a:buChar char="-"/>
            </a:pP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종신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EB4D3C-DB87-D1A6-A8BA-C2EF2B9BDC6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31857" y="7841460"/>
            <a:ext cx="2520000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상해사망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ko-KR" altLang="en-US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F3B10C-CD2F-8FD4-D6DC-943AD4DF7CD1}"/>
              </a:ext>
            </a:extLst>
          </p:cNvPr>
          <p:cNvSpPr txBox="1"/>
          <p:nvPr/>
        </p:nvSpPr>
        <p:spPr>
          <a:xfrm>
            <a:off x="5184929" y="7034542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치매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재가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노치원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시설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FB62EC-F15F-BDAA-F829-A47DBCBE6DBB}"/>
              </a:ext>
            </a:extLst>
          </p:cNvPr>
          <p:cNvSpPr txBox="1"/>
          <p:nvPr/>
        </p:nvSpPr>
        <p:spPr>
          <a:xfrm>
            <a:off x="5201746" y="8687219"/>
            <a:ext cx="2520000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크라운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임플란트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기타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화재보험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CA1288-AD57-F21D-4547-8B6A0162B32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62211" y="3342373"/>
            <a:ext cx="3155500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암진단비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ko-KR" altLang="en-US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200" dirty="0">
              <a:solidFill>
                <a:srgbClr val="0000FF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유사암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통합암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전이암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고액암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항암치료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표적치료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ko-KR" altLang="en-US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양성자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.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세기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ko-KR" altLang="en-US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ko-KR" altLang="en-US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200" dirty="0">
              <a:solidFill>
                <a:srgbClr val="0000FF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암통원비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다빈치로봇수술비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en-US" altLang="ko-KR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ko-KR" altLang="en-US" sz="1200" dirty="0">
                <a:solidFill>
                  <a:srgbClr val="0000FF"/>
                </a:solidFill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200" dirty="0">
              <a:solidFill>
                <a:srgbClr val="0000FF"/>
              </a:solidFill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39DC9C-C1BD-391E-12A3-2B33AEB595B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9959" y="5649932"/>
            <a:ext cx="1621742" cy="187743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질병수술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종합병원수술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: </a:t>
            </a:r>
            <a:r>
              <a:rPr lang="en-US" altLang="ko-KR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ko-KR" altLang="en-US" sz="11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1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1~5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(      /     /     /     /      )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 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뇌혈관수술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허혈성수술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심장 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대기관수술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대 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  <a:endParaRPr lang="ko-KR" altLang="en-US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A83F89-D698-0D8C-99DB-AF94347BA7A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729621" y="5691134"/>
            <a:ext cx="1621742" cy="187743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상해수술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상급종합병원수술 </a:t>
            </a:r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 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1~5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종 수술비</a:t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900" dirty="0">
                <a:latin typeface="HY엽서M" panose="02030600000101010101" pitchFamily="18" charset="-127"/>
                <a:ea typeface="HY엽서M" panose="02030600000101010101" pitchFamily="18" charset="-127"/>
              </a:rPr>
              <a:t>(      /     /     /     /      )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골절수술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5</a:t>
            </a:r>
            <a:r>
              <a:rPr lang="ko-KR" altLang="en-US" sz="10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대골절수술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화상수술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중대상해수술 </a:t>
            </a:r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05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05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창상봉합수술</a:t>
            </a:r>
            <a:r>
              <a:rPr lang="ko-KR" altLang="en-US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05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________</a:t>
            </a:r>
            <a:r>
              <a:rPr lang="ko-KR" altLang="en-US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수술 </a:t>
            </a:r>
            <a:r>
              <a:rPr lang="en-US" altLang="ko-KR" sz="10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endParaRPr lang="ko-KR" altLang="en-US" sz="10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21F0BB-FC32-7BF8-7EBE-623AB00481B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22009" y="7875924"/>
            <a:ext cx="3197963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질병일당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종합병원일당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 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상해일당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상급병원일당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endParaRPr lang="en-US" altLang="ko-KR" sz="1200" dirty="0">
              <a:latin typeface="HY엽서M" panose="02030600000101010101" pitchFamily="18" charset="-127"/>
              <a:ea typeface="HY엽서M" panose="02030600000101010101" pitchFamily="18" charset="-127"/>
            </a:endParaRP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질병중환자실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/ </a:t>
            </a:r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상해중환자실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1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인실 상급병원일당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1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인실 종합병원일당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암일당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/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  /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_______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</a:t>
            </a:r>
          </a:p>
          <a:p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</a:p>
          <a:p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간병인일당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      / 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요양병원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</a:t>
            </a:r>
          </a:p>
          <a:p>
            <a:r>
              <a:rPr lang="ko-KR" altLang="en-US" sz="1200" dirty="0" err="1">
                <a:latin typeface="HY엽서M" panose="02030600000101010101" pitchFamily="18" charset="-127"/>
                <a:ea typeface="HY엽서M" panose="02030600000101010101" pitchFamily="18" charset="-127"/>
              </a:rPr>
              <a:t>간호통합병동일당</a:t>
            </a:r>
            <a:r>
              <a:rPr lang="ko-KR" altLang="en-US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 </a:t>
            </a:r>
            <a:r>
              <a:rPr lang="en-US" altLang="ko-KR" sz="1200" dirty="0">
                <a:latin typeface="HY엽서M" panose="02030600000101010101" pitchFamily="18" charset="-127"/>
                <a:ea typeface="HY엽서M" panose="02030600000101010101" pitchFamily="18" charset="-127"/>
              </a:rPr>
              <a:t>:  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33FB17-06B0-1B04-0AB0-869230F3D310}"/>
              </a:ext>
            </a:extLst>
          </p:cNvPr>
          <p:cNvSpPr txBox="1"/>
          <p:nvPr/>
        </p:nvSpPr>
        <p:spPr>
          <a:xfrm>
            <a:off x="622396" y="246844"/>
            <a:ext cx="1253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b="1" dirty="0" err="1"/>
              <a:t/>
            </a:r>
            <a:endParaRPr lang="ko-KR" altLang="en-US" sz="2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51B681-15F9-9A68-3F91-D864B64303B7}"/>
              </a:ext>
            </a:extLst>
          </p:cNvPr>
          <p:cNvSpPr txBox="1"/>
          <p:nvPr/>
        </p:nvSpPr>
        <p:spPr>
          <a:xfrm>
            <a:off x="2976352" y="279601"/>
            <a:ext cx="4735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 dirty="0"/>
              <a:t>전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66D15A-0593-77E7-0BE1-9EBCC87E01E6}"/>
              </a:ext>
            </a:extLst>
          </p:cNvPr>
          <p:cNvSpPr txBox="1"/>
          <p:nvPr/>
        </p:nvSpPr>
        <p:spPr>
          <a:xfrm>
            <a:off x="3785550" y="279601"/>
            <a:ext cx="4735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rgbClr val="0000FF"/>
                </a:solidFill>
              </a:rPr>
              <a:t/>
            </a:r>
            <a:endParaRPr lang="ko-KR" altLang="en-US" sz="2000" b="1" dirty="0">
              <a:solidFill>
                <a:srgbClr val="0000FF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404DB6D-7E71-1D6D-A9BE-FB15052FD48D}"/>
              </a:ext>
            </a:extLst>
          </p:cNvPr>
          <p:cNvSpPr txBox="1"/>
          <p:nvPr/>
        </p:nvSpPr>
        <p:spPr>
          <a:xfrm>
            <a:off x="4464597" y="265529"/>
            <a:ext cx="4735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rgbClr val="0000FF"/>
                </a:solidFill>
              </a:rPr>
              <a:t/>
            </a:r>
            <a:endParaRPr lang="ko-KR" altLang="en-US" sz="2000" b="1" dirty="0">
              <a:solidFill>
                <a:srgbClr val="0000FF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7D2A4B-55BA-F21D-2EED-F33BD6676E3F}"/>
              </a:ext>
            </a:extLst>
          </p:cNvPr>
          <p:cNvSpPr txBox="1"/>
          <p:nvPr/>
        </p:nvSpPr>
        <p:spPr>
          <a:xfrm>
            <a:off x="5204025" y="265529"/>
            <a:ext cx="4735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rgbClr val="0000FF"/>
                </a:solidFill>
              </a:rPr>
              <a:t/>
            </a:r>
            <a:endParaRPr lang="ko-KR" altLang="en-US" sz="2000" b="1" dirty="0">
              <a:solidFill>
                <a:srgbClr val="0000FF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8FF67C-CE0E-1081-9F08-DB01D2C4DA76}"/>
              </a:ext>
            </a:extLst>
          </p:cNvPr>
          <p:cNvSpPr txBox="1"/>
          <p:nvPr/>
        </p:nvSpPr>
        <p:spPr>
          <a:xfrm>
            <a:off x="1429550" y="1642462"/>
            <a:ext cx="78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9CAAD8-F3B0-3786-28F1-647CBF531F7C}"/>
              </a:ext>
            </a:extLst>
          </p:cNvPr>
          <p:cNvSpPr txBox="1"/>
          <p:nvPr/>
        </p:nvSpPr>
        <p:spPr>
          <a:xfrm>
            <a:off x="4149432" y="1488753"/>
            <a:ext cx="1940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/>
            </a:r>
            <a:r>
              <a:rPr lang="en-US" altLang="ko-KR" sz="1200" dirty="0"/>
              <a:t/>
            </a:r>
            <a:r>
              <a:rPr lang="ko-KR" altLang="en-US" sz="1200" dirty="0"/>
              <a:t/>
            </a:r>
            <a:r>
              <a:rPr lang="en-US" altLang="ko-KR" sz="1200" dirty="0"/>
              <a:t/>
            </a:r>
            <a:r>
              <a:rPr lang="ko-KR" altLang="en-US" sz="1200" dirty="0" err="1"/>
              <a:t/>
            </a:r>
            <a:r>
              <a:rPr lang="ko-KR" altLang="en-US" sz="1200" dirty="0"/>
              <a:t/>
            </a:r>
            <a:r>
              <a:rPr lang="en-US" altLang="ko-KR" sz="1200" dirty="0"/>
              <a:t/>
            </a:r>
            <a:r>
              <a:rPr lang="ko-KR" altLang="en-US" sz="1200" dirty="0"/>
              <a:t/>
            </a:r>
            <a:endParaRPr lang="en-US" altLang="ko-KR" sz="1200" dirty="0"/>
          </a:p>
          <a:p>
            <a:pPr algn="ctr"/>
            <a:r>
              <a:rPr lang="ko-KR" altLang="en-US" sz="1200" dirty="0"/>
              <a:t/>
            </a:r>
            <a:r>
              <a:rPr lang="en-US" altLang="ko-KR" sz="1200" dirty="0"/>
              <a:t/>
            </a:r>
            <a:r>
              <a:rPr lang="en-US" altLang="ko-KR" sz="1200" b="1" dirty="0">
                <a:solidFill>
                  <a:srgbClr val="0000FF"/>
                </a:solidFill>
              </a:rPr>
              <a:t/>
            </a:r>
            <a:endParaRPr lang="ko-KR" altLang="en-US" sz="1200" b="1" dirty="0">
              <a:solidFill>
                <a:srgbClr val="0000FF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8BB11F-1B2E-F498-95D5-DB8C8A32D352}"/>
              </a:ext>
            </a:extLst>
          </p:cNvPr>
          <p:cNvSpPr txBox="1"/>
          <p:nvPr/>
        </p:nvSpPr>
        <p:spPr>
          <a:xfrm>
            <a:off x="4888209" y="2609112"/>
            <a:ext cx="789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95507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2206</TotalTime>
  <Words>4272</Words>
  <Application>Microsoft Office PowerPoint</Application>
  <PresentationFormat>A4 용지(210x297mm)</PresentationFormat>
  <Paragraphs>1273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HY엽서L</vt:lpstr>
      <vt:lpstr>HY엽서M</vt:lpstr>
      <vt:lpstr>Aptos</vt:lpstr>
      <vt:lpstr>Aptos Display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은혜 최</dc:creator>
  <cp:lastModifiedBy>Windows</cp:lastModifiedBy>
  <cp:revision>36</cp:revision>
  <cp:lastPrinted>2025-11-26T02:01:06Z</cp:lastPrinted>
  <dcterms:created xsi:type="dcterms:W3CDTF">2025-05-17T14:02:33Z</dcterms:created>
  <dcterms:modified xsi:type="dcterms:W3CDTF">2026-03-08T13:04:38Z</dcterms:modified>
</cp:coreProperties>
</file>