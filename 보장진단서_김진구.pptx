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656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5600"/>
            <a:ext cx="7560000" cy="576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60000"/>
            <a:ext cx="6408000" cy="11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6C878"/>
                </a:solidFill>
                <a:latin typeface="맑은 고딕"/>
              </a:rPr>
              <a:t>MAKEONE · 보장분석 리포트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김진구 </a:t>
            </a:r>
            <a:r>
              <a:rPr sz="3000" b="1" i="0">
                <a:solidFill>
                  <a:srgbClr val="E6C878"/>
                </a:solidFill>
                <a:latin typeface="맑은 고딕"/>
              </a:rPr>
              <a:t>고객님</a:t>
            </a:r>
            <a:r>
              <a:rPr sz="3000" b="1" i="0">
                <a:solidFill>
                  <a:srgbClr val="FFFFFF"/>
                </a:solidFill>
                <a:latin typeface="맑은 고딕"/>
              </a:rPr>
              <a:t> 보장 진단서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0"/>
            <a:ext cx="6408000" cy="1440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9180000"/>
            <a:ext cx="6408000" cy="1080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5A052"/>
                </a:solidFill>
                <a:latin typeface="맑은 고딕"/>
              </a:rPr>
              <a:t>MAKEONE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B0B0B0"/>
                </a:solidFill>
                <a:latin typeface="맑은 고딕"/>
              </a:rPr>
              <a:t>________________________   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( 이름 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B0B0B0"/>
                </a:solidFill>
                <a:latin typeface="맑은 고딕"/>
              </a:rPr>
              <a:t>________________________   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( 직책 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00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1200"/>
            <a:ext cx="7560000" cy="504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5400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C878"/>
                </a:solidFill>
                <a:latin typeface="맑은 고딕"/>
              </a:rPr>
              <a:t>MAKEONE · 보장분석 리포트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</a:rPr>
              <a:t>김진구 </a:t>
            </a:r>
            <a:r>
              <a:rPr sz="2100" b="1" i="0">
                <a:solidFill>
                  <a:srgbClr val="E6C878"/>
                </a:solidFill>
                <a:latin typeface="맑은 고딕"/>
              </a:rPr>
              <a:t>고객님</a:t>
            </a:r>
            <a:r>
              <a:rPr sz="2100" b="1" i="0">
                <a:solidFill>
                  <a:srgbClr val="FFFFFF"/>
                </a:solidFill>
                <a:latin typeface="맑은 고딕"/>
              </a:rPr>
              <a:t>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44000"/>
            <a:ext cx="1764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C6"/>
                </a:solidFill>
                <a:latin typeface="맑은 고딕"/>
              </a:rPr>
              <a:t>보장 현황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000" y="1044000"/>
            <a:ext cx="15840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54800"/>
            <a:ext cx="1584000" cy="590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686"/>
                </a:solidFill>
                <a:latin typeface="맑은 고딕"/>
              </a:rPr>
              <a:t>보유 계약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2340"/>
                </a:solidFill>
                <a:latin typeface="맑은 고딕"/>
              </a:rPr>
              <a:t>6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8800" y="1044000"/>
            <a:ext cx="15840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8800" y="1054800"/>
            <a:ext cx="1584000" cy="590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686"/>
                </a:solidFill>
                <a:latin typeface="맑은 고딕"/>
              </a:rPr>
              <a:t>월 납입보험료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2340"/>
                </a:solidFill>
                <a:latin typeface="맑은 고딕"/>
              </a:rPr>
              <a:t>324,470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1600" y="1044000"/>
            <a:ext cx="15840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1600" y="1054800"/>
            <a:ext cx="1584000" cy="590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686"/>
                </a:solidFill>
                <a:latin typeface="맑은 고딕"/>
              </a:rPr>
              <a:t>갱신 / 비갱신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2340"/>
                </a:solidFill>
                <a:latin typeface="맑은 고딕"/>
              </a:rPr>
              <a:t>1 /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399" y="1044000"/>
            <a:ext cx="15840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399" y="1054800"/>
            <a:ext cx="1584000" cy="590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686"/>
                </a:solidFill>
                <a:latin typeface="맑은 고딕"/>
              </a:rPr>
              <a:t>보장 공백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444C"/>
                </a:solidFill>
                <a:latin typeface="맑은 고딕"/>
              </a:rPr>
              <a:t>0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영역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1764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보장 현황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CATEGORY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00" y="2030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6000" y="21420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" y="21420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000" y="22140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사망·후유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0" y="22284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0" y="22212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" y="25560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상해사망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2억5,000만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일반사망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8,000만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중대한CI적용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800만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52000" y="21420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52000" y="21420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000" y="22140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000" y="22284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000" y="22212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000" y="25560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일반암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5,000만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중대한 암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3,200만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유사암(갑.기.경.제)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1,000만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6000" y="37584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000" y="37584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000" y="38304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뇌혈관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000" y="38448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000" y="38376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000" y="41724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중대한 뇌졸증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3,200만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뇌혈관진단비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1,000만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52000" y="37584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52000" y="37584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0000" y="38304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심장 (＋빈맥)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36000" y="38448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000" y="38376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000" y="41724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중대한 급성심근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3,200만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허혈성 진단비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1,000만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000" y="53748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6000" y="53748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000" y="54468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수술비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80000" y="54612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000" y="54540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000" y="57888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뇌혈관수술비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허혈성수술비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상해수술비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50만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2000" y="53748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52000" y="53748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0000" y="54468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운전자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000" y="54612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000" y="54540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000" y="57888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합의금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1억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대인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변호사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2,000만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6000" y="69912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000" y="6991200"/>
            <a:ext cx="115200" cy="1530000"/>
          </a:xfrm>
          <a:prstGeom prst="rect">
            <a:avLst/>
          </a:prstGeom>
          <a:solidFill>
            <a:srgbClr val="9C7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000" y="70632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입원·일당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80000" y="70776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000" y="7070399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일부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000" y="74052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상해중환자실  </a:t>
            </a:r>
            <a:r>
              <a:rPr sz="1250" b="1" i="0">
                <a:solidFill>
                  <a:srgbClr val="1456B0"/>
                </a:solidFill>
                <a:latin typeface="맑은 고딕"/>
              </a:rPr>
              <a:t>10만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상해일당  </a:t>
            </a:r>
            <a:r>
              <a:rPr sz="1250" b="1" i="0">
                <a:solidFill>
                  <a:srgbClr val="1456B0"/>
                </a:solidFill>
                <a:latin typeface="맑은 고딕"/>
              </a:rPr>
              <a:t>2만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52000" y="69912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52000" y="6991200"/>
            <a:ext cx="115200" cy="1530000"/>
          </a:xfrm>
          <a:prstGeom prst="rect">
            <a:avLst/>
          </a:prstGeom>
          <a:solidFill>
            <a:srgbClr val="9C7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0000" y="70632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실손·일배책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36000" y="70776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000" y="7070399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일부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50000" y="74052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입원  </a:t>
            </a:r>
            <a:r>
              <a:rPr sz="1250" b="1" i="0">
                <a:solidFill>
                  <a:srgbClr val="1456B0"/>
                </a:solidFill>
                <a:latin typeface="맑은 고딕"/>
              </a:rPr>
              <a:t>3,000만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통원  </a:t>
            </a:r>
            <a:r>
              <a:rPr sz="1250" b="1" i="0">
                <a:solidFill>
                  <a:srgbClr val="1456B0"/>
                </a:solidFill>
                <a:latin typeface="맑은 고딕"/>
              </a:rPr>
              <a:t>10만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약값  </a:t>
            </a:r>
            <a:r>
              <a:rPr sz="1250" b="1" i="0">
                <a:solidFill>
                  <a:srgbClr val="1456B0"/>
                </a:solidFill>
                <a:latin typeface="맑은 고딕"/>
              </a:rPr>
              <a:t>5만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96000" y="86076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6000" y="8607600"/>
            <a:ext cx="115200" cy="1530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000" y="86796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골절·화상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80000" y="86940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E4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80000" y="86868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충실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000" y="90216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5대골절진단비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100만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골절(치아파절포함)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30만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깁스진단비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30만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52000" y="8607600"/>
            <a:ext cx="3312000" cy="15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52000" y="8607600"/>
            <a:ext cx="115200" cy="1530000"/>
          </a:xfrm>
          <a:prstGeom prst="rect">
            <a:avLst/>
          </a:prstGeom>
          <a:solidFill>
            <a:srgbClr val="9C7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0000" y="8679600"/>
            <a:ext cx="2304000" cy="32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340"/>
                </a:solidFill>
                <a:latin typeface="맑은 고딕"/>
              </a:rPr>
              <a:t>응급실·독감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36000" y="8694000"/>
            <a:ext cx="720000" cy="259200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36000" y="8686800"/>
            <a:ext cx="720000" cy="2592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일부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50000" y="9021600"/>
            <a:ext cx="3024000" cy="109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250" b="0" i="0">
                <a:solidFill>
                  <a:srgbClr val="1C2430"/>
                </a:solidFill>
                <a:latin typeface="맑은 고딕"/>
              </a:rPr>
              <a:t>응급실(응급)  </a:t>
            </a:r>
            <a:r>
              <a:rPr sz="1250" b="1" i="0">
                <a:solidFill>
                  <a:srgbClr val="0B2340"/>
                </a:solidFill>
                <a:latin typeface="맑은 고딕"/>
              </a:rPr>
              <a:t>3만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0368000"/>
            <a:ext cx="7560000" cy="324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6000" y="10368000"/>
            <a:ext cx="4320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C5A052"/>
                </a:solidFill>
                <a:latin typeface="맑은 고딕"/>
              </a:rPr>
              <a:t>MAKEONE</a:t>
            </a:r>
            <a:r>
              <a:rPr sz="850" b="0" i="0">
                <a:solidFill>
                  <a:srgbClr val="9FB0C6"/>
                </a:solidFill>
                <a:latin typeface="맑은 고딕"/>
              </a:rPr>
              <a:t> 보장분석 자동화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20000" y="10368000"/>
            <a:ext cx="2844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9FB0C6"/>
                </a:solidFill>
                <a:latin typeface="맑은 고딕"/>
              </a:rPr>
              <a:t>김진구 고객님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00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1200"/>
            <a:ext cx="7560000" cy="504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5400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C878"/>
                </a:solidFill>
                <a:latin typeface="맑은 고딕"/>
              </a:rPr>
              <a:t>MAKEONE · 보장분석 리포트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</a:rPr>
              <a:t>김진구 </a:t>
            </a:r>
            <a:r>
              <a:rPr sz="2100" b="1" i="0">
                <a:solidFill>
                  <a:srgbClr val="E6C878"/>
                </a:solidFill>
                <a:latin typeface="맑은 고딕"/>
              </a:rPr>
              <a:t>고객님</a:t>
            </a:r>
            <a:r>
              <a:rPr sz="2100" b="1" i="0">
                <a:solidFill>
                  <a:srgbClr val="FFFFFF"/>
                </a:solidFill>
                <a:latin typeface="맑은 고딕"/>
              </a:rPr>
              <a:t>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44000"/>
            <a:ext cx="1764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C6"/>
                </a:solidFill>
                <a:latin typeface="맑은 고딕"/>
              </a:rPr>
              <a:t>AI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116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월 보험료 구성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PREMIUM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1382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458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교보생명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512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44000" y="1512000"/>
            <a:ext cx="4248000" cy="16560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4000" y="1458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340"/>
                </a:solidFill>
                <a:latin typeface="맑은 고딕"/>
              </a:rPr>
              <a:t>80,070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746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흥국화재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4000" y="1800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44000" y="1800000"/>
            <a:ext cx="3954136" cy="16560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4000" y="1746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340"/>
                </a:solidFill>
                <a:latin typeface="맑은 고딕"/>
              </a:rPr>
              <a:t>74,531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2034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동양생명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4000" y="2088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4000" y="2088000"/>
            <a:ext cx="3756193" cy="16560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4000" y="2034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340"/>
                </a:solidFill>
                <a:latin typeface="맑은 고딕"/>
              </a:rPr>
              <a:t>70,800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2322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동양생명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44000" y="2376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44000" y="2376000"/>
            <a:ext cx="2496913" cy="16560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4000" y="2322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340"/>
                </a:solidFill>
                <a:latin typeface="맑은 고딕"/>
              </a:rPr>
              <a:t>47,064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" y="2610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동양생명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44000" y="2664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44000" y="2664000"/>
            <a:ext cx="1677819" cy="16560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4000" y="2610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340"/>
                </a:solidFill>
                <a:latin typeface="맑은 고딕"/>
              </a:rPr>
              <a:t>31,625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" y="2898000"/>
            <a:ext cx="1512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DB손보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4000" y="2952000"/>
            <a:ext cx="4248000" cy="165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44000" y="2952000"/>
            <a:ext cx="1081231" cy="165600"/>
          </a:xfrm>
          <a:prstGeom prst="rect">
            <a:avLst/>
          </a:prstGeom>
          <a:solidFill>
            <a:srgbClr val="145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4000" y="2898000"/>
            <a:ext cx="900000" cy="252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56B0"/>
                </a:solidFill>
                <a:latin typeface="맑은 고딕"/>
              </a:rPr>
              <a:t>20,380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" y="3672000"/>
            <a:ext cx="6768000" cy="21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0444C"/>
                </a:solidFill>
                <a:latin typeface="맑은 고딕"/>
              </a:rPr>
              <a:t>※ 자동분류는 100%가 아닙니다. 증권 확인 후 아래 칸에서 계약을 옮기거나 글자색(파랑=갱신/검정=비갱신)을 직접 고치세요.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" y="4104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갱신 / 비갱신 구조  (※ 이 칸에서 직접 수정)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RENEWAL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6000" y="4370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6000" y="4464000"/>
            <a:ext cx="3312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96000" y="4464000"/>
            <a:ext cx="3312000" cy="324000"/>
          </a:xfrm>
          <a:prstGeom prst="roundRect">
            <a:avLst>
              <a:gd name="adj" fmla="val 6000"/>
            </a:avLst>
          </a:prstGeom>
          <a:solidFill>
            <a:srgbClr val="145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4456800"/>
            <a:ext cx="3096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갱신형 1건</a:t>
            </a:r>
            <a:r>
              <a:rPr sz="900" b="0" i="0">
                <a:solidFill>
                  <a:srgbClr val="D9DEE6"/>
                </a:solidFill>
                <a:latin typeface="맑은 고딕"/>
              </a:rPr>
              <a:t>   보험료 인상 가능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" y="4824000"/>
            <a:ext cx="3096000" cy="309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456B0"/>
                </a:solidFill>
                <a:latin typeface="맑은 고딕"/>
              </a:rPr>
              <a:t>DB손보 참좋은운전자+보험2101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20,380원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52000" y="4464000"/>
            <a:ext cx="3312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52000" y="4464000"/>
            <a:ext cx="3312000" cy="324000"/>
          </a:xfrm>
          <a:prstGeom prst="roundRect">
            <a:avLst>
              <a:gd name="adj" fmla="val 6000"/>
            </a:avLst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0000" y="4456800"/>
            <a:ext cx="3096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비갱신형 5건</a:t>
            </a:r>
            <a:r>
              <a:rPr sz="900" b="0" i="0">
                <a:solidFill>
                  <a:srgbClr val="D9DEE6"/>
                </a:solidFill>
                <a:latin typeface="맑은 고딕"/>
              </a:rPr>
              <a:t>   만기까지 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60000" y="4824000"/>
            <a:ext cx="3096000" cy="309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2340"/>
                </a:solidFill>
                <a:latin typeface="맑은 고딕"/>
              </a:rPr>
              <a:t>교보생명 무배당교보큰사랑CI보험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80,070원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2340"/>
                </a:solidFill>
                <a:latin typeface="맑은 고딕"/>
              </a:rPr>
              <a:t>동양생명 수호천사알뜰한통합종신보험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70,800원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2340"/>
                </a:solidFill>
                <a:latin typeface="맑은 고딕"/>
              </a:rPr>
              <a:t>동양생명 수호천사내가만드는보장보험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47,064원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2340"/>
                </a:solidFill>
                <a:latin typeface="맑은 고딕"/>
              </a:rPr>
              <a:t>동양생명 수호천사NEW내가만드는보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31,625원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2340"/>
                </a:solidFill>
                <a:latin typeface="맑은 고딕"/>
              </a:rPr>
              <a:t>흥국화재 무배당 행복을 多주는 가</a:t>
            </a:r>
            <a:r>
              <a:rPr sz="1000" b="0" i="0">
                <a:solidFill>
                  <a:srgbClr val="6B7686"/>
                </a:solidFill>
                <a:latin typeface="맑은 고딕"/>
              </a:rPr>
              <a:t>   74,531원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000" y="8172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AI 진단 요약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DIAGNOSIS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6000" y="8438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96000" y="8532000"/>
            <a:ext cx="3312000" cy="16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6000" y="8532000"/>
            <a:ext cx="3312000" cy="324000"/>
          </a:xfrm>
          <a:prstGeom prst="roundRect">
            <a:avLst>
              <a:gd name="adj" fmla="val 6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000" y="8524800"/>
            <a:ext cx="3096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✓ 보유 강점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000" y="8874000"/>
            <a:ext cx="3096000" cy="129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2340"/>
                </a:solidFill>
                <a:latin typeface="맑은 고딕"/>
              </a:rPr>
              <a:t>사망·후유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100% · 핵심담보 보유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2340"/>
                </a:solidFill>
                <a:latin typeface="맑은 고딕"/>
              </a:rPr>
              <a:t>심장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100% · 핵심담보 보유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2340"/>
                </a:solidFill>
                <a:latin typeface="맑은 고딕"/>
              </a:rPr>
              <a:t>수술비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100% · 핵심담보 보유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2340"/>
                </a:solidFill>
                <a:latin typeface="맑은 고딕"/>
              </a:rPr>
              <a:t>운전자  </a:t>
            </a:r>
            <a:r>
              <a:rPr sz="1100" b="0" i="0">
                <a:solidFill>
                  <a:srgbClr val="6B7686"/>
                </a:solidFill>
                <a:latin typeface="맑은 고딕"/>
              </a:rPr>
              <a:t>100% · 핵심담보 보유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52000" y="8532000"/>
            <a:ext cx="3312000" cy="1692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52000" y="8532000"/>
            <a:ext cx="3312000" cy="324000"/>
          </a:xfrm>
          <a:prstGeom prst="roundRect">
            <a:avLst>
              <a:gd name="adj" fmla="val 6000"/>
            </a:avLst>
          </a:prstGeom>
          <a:solidFill>
            <a:srgbClr val="C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60000" y="8524800"/>
            <a:ext cx="3096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! 보장 공백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60000" y="8874000"/>
            <a:ext cx="3096000" cy="129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4D"/>
                </a:solidFill>
                <a:latin typeface="맑은 고딕"/>
              </a:rPr>
              <a:t>주요 공백 없음 — 핵심담보 균형 양호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10368000"/>
            <a:ext cx="7560000" cy="324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6000" y="10368000"/>
            <a:ext cx="4320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C5A052"/>
                </a:solidFill>
                <a:latin typeface="맑은 고딕"/>
              </a:rPr>
              <a:t>MAKEONE</a:t>
            </a:r>
            <a:r>
              <a:rPr sz="850" b="0" i="0">
                <a:solidFill>
                  <a:srgbClr val="9FB0C6"/>
                </a:solidFill>
                <a:latin typeface="맑은 고딕"/>
              </a:rPr>
              <a:t> 보장분석 자동화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0000" y="10368000"/>
            <a:ext cx="2844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9FB0C6"/>
                </a:solidFill>
                <a:latin typeface="맑은 고딕"/>
              </a:rPr>
              <a:t>김진구 고객님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00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1200"/>
            <a:ext cx="7560000" cy="504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5400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C878"/>
                </a:solidFill>
                <a:latin typeface="맑은 고딕"/>
              </a:rPr>
              <a:t>MAKEONE · 보장분석 리포트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</a:rPr>
              <a:t>김진구 </a:t>
            </a:r>
            <a:r>
              <a:rPr sz="2100" b="1" i="0">
                <a:solidFill>
                  <a:srgbClr val="E6C878"/>
                </a:solidFill>
                <a:latin typeface="맑은 고딕"/>
              </a:rPr>
              <a:t>고객님</a:t>
            </a:r>
            <a:r>
              <a:rPr sz="2100" b="1" i="0">
                <a:solidFill>
                  <a:srgbClr val="FFFFFF"/>
                </a:solidFill>
                <a:latin typeface="맑은 고딕"/>
              </a:rPr>
              <a:t>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44000"/>
            <a:ext cx="1764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C6"/>
                </a:solidFill>
                <a:latin typeface="맑은 고딕"/>
              </a:rPr>
              <a:t>부위별 충족률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080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부위별 충족률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COVERAGE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1346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00" y="1476000"/>
            <a:ext cx="1044000" cy="104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6000" y="252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암</a:t>
            </a:r>
          </a:p>
        </p:txBody>
      </p:sp>
      <p:pic>
        <p:nvPicPr>
          <p:cNvPr id="10" name="Picture 9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00" y="1476000"/>
            <a:ext cx="1044000" cy="104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49600" y="252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운전자</a:t>
            </a:r>
          </a:p>
        </p:txBody>
      </p:sp>
      <p:pic>
        <p:nvPicPr>
          <p:cNvPr id="12" name="Picture 11" descr="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000" y="1476000"/>
            <a:ext cx="1044000" cy="104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3200" y="252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실손·배상</a:t>
            </a:r>
          </a:p>
        </p:txBody>
      </p:sp>
      <p:pic>
        <p:nvPicPr>
          <p:cNvPr id="14" name="Picture 13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00" y="1476000"/>
            <a:ext cx="1044000" cy="104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56800" y="252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수술비</a:t>
            </a:r>
          </a:p>
        </p:txBody>
      </p:sp>
      <p:pic>
        <p:nvPicPr>
          <p:cNvPr id="16" name="Picture 15" descr="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200" y="1476000"/>
            <a:ext cx="1044000" cy="104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400" y="252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뇌혈관</a:t>
            </a:r>
          </a:p>
        </p:txBody>
      </p:sp>
      <p:pic>
        <p:nvPicPr>
          <p:cNvPr id="18" name="Picture 17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0" y="2916000"/>
            <a:ext cx="1044000" cy="104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6000" y="396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사망·후유</a:t>
            </a:r>
          </a:p>
        </p:txBody>
      </p:sp>
      <p:pic>
        <p:nvPicPr>
          <p:cNvPr id="20" name="Picture 19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00" y="2916000"/>
            <a:ext cx="1044000" cy="104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49600" y="396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골절·화상</a:t>
            </a:r>
          </a:p>
        </p:txBody>
      </p:sp>
      <p:pic>
        <p:nvPicPr>
          <p:cNvPr id="22" name="Picture 21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000" y="2916000"/>
            <a:ext cx="1044000" cy="104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03200" y="396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심장</a:t>
            </a:r>
          </a:p>
        </p:txBody>
      </p:sp>
      <p:pic>
        <p:nvPicPr>
          <p:cNvPr id="24" name="Picture 23" descr="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600" y="2916000"/>
            <a:ext cx="1044000" cy="104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56800" y="396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입원·일당</a:t>
            </a:r>
          </a:p>
        </p:txBody>
      </p:sp>
      <p:pic>
        <p:nvPicPr>
          <p:cNvPr id="26" name="Picture 25" descr="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200" y="2916000"/>
            <a:ext cx="1044000" cy="1044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400" y="3960000"/>
            <a:ext cx="1353600" cy="252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2340"/>
                </a:solidFill>
                <a:latin typeface="맑은 고딕"/>
              </a:rPr>
              <a:t>응급실·독감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4000" y="4356000"/>
            <a:ext cx="144000" cy="144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4000" y="4298400"/>
            <a:ext cx="1512000" cy="216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2430"/>
                </a:solidFill>
                <a:latin typeface="맑은 고딕"/>
              </a:rPr>
              <a:t>충실 70%↑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8000" y="4356000"/>
            <a:ext cx="144000" cy="144000"/>
          </a:xfrm>
          <a:prstGeom prst="rect">
            <a:avLst/>
          </a:prstGeom>
          <a:solidFill>
            <a:srgbClr val="9C7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8000" y="4298400"/>
            <a:ext cx="1512000" cy="216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2430"/>
                </a:solidFill>
                <a:latin typeface="맑은 고딕"/>
              </a:rPr>
              <a:t>보강권장 40–69%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12000" y="4356000"/>
            <a:ext cx="144000" cy="144000"/>
          </a:xfrm>
          <a:prstGeom prst="rect">
            <a:avLst/>
          </a:prstGeom>
          <a:solidFill>
            <a:srgbClr val="C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2000" y="4298400"/>
            <a:ext cx="1512000" cy="216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2430"/>
                </a:solidFill>
                <a:latin typeface="맑은 고딕"/>
              </a:rPr>
              <a:t>취약 40%↓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000" y="4680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충족률 산정 근거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보유 ÷ 40대 권장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" y="4946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000" y="5022000"/>
            <a:ext cx="6768000" cy="28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000" y="5022000"/>
            <a:ext cx="1440000" cy="28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36000" y="5022000"/>
            <a:ext cx="2088000" cy="28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보유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000" y="5022000"/>
            <a:ext cx="2088000" cy="28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권장(40대)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2000" y="5022000"/>
            <a:ext cx="1152000" cy="28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충족률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6000" y="5310000"/>
            <a:ext cx="6768000" cy="26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000" y="53100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36000" y="53100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9,210만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24000" y="53100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1억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2000" y="53100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92%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6000" y="5576400"/>
            <a:ext cx="6768000" cy="2664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000" y="55764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운전자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6000" y="55764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5개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4000" y="55764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4개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12000" y="55764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100%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6000" y="5842800"/>
            <a:ext cx="6768000" cy="26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6000" y="58428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실손·배상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36000" y="58428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2개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24000" y="58428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3개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12000" y="58428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67%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6000" y="6109200"/>
            <a:ext cx="6768000" cy="2664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6000" y="61092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수술비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6000" y="61092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2,120만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4000" y="61092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2,000만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12000" y="61092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000" y="6375600"/>
            <a:ext cx="6768000" cy="26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000" y="63756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뇌혈관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36000" y="63756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4,200만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24000" y="63756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5,000만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2000" y="63756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84%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6000" y="6642000"/>
            <a:ext cx="6768000" cy="2664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6000" y="66420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사망·후유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36000" y="66420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3억4,700만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24000" y="66420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1억5,000만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12000" y="66420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100%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6000" y="6908400"/>
            <a:ext cx="6768000" cy="26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6000" y="69084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골절·화상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6000" y="69084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4개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24000" y="69084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3개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12000" y="69084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100%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6000" y="7174800"/>
            <a:ext cx="6768000" cy="2664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6000" y="71748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심장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36000" y="71748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4,200만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24000" y="71748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3,000만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12000" y="71748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7A4D"/>
                </a:solidFill>
                <a:latin typeface="맑은 고딕"/>
              </a:rPr>
              <a:t>100%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6000" y="7441200"/>
            <a:ext cx="6768000" cy="26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6000" y="74412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입원·일당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36000" y="74412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2개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24000" y="74412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3개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12000" y="74412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67%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6000" y="7707600"/>
            <a:ext cx="6768000" cy="2664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6000" y="7707600"/>
            <a:ext cx="1440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430"/>
                </a:solidFill>
                <a:latin typeface="맑은 고딕"/>
              </a:rPr>
              <a:t>응급실·독감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36000" y="77076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2430"/>
                </a:solidFill>
                <a:latin typeface="맑은 고딕"/>
              </a:rPr>
              <a:t>1개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24000" y="7707600"/>
            <a:ext cx="2088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686"/>
                </a:solidFill>
                <a:latin typeface="맑은 고딕"/>
              </a:rPr>
              <a:t>2개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12000" y="7707600"/>
            <a:ext cx="1152000" cy="2664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C7C32"/>
                </a:solidFill>
                <a:latin typeface="맑은 고딕"/>
              </a:rPr>
              <a:t>50%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96000" y="8064000"/>
            <a:ext cx="6768000" cy="648000"/>
          </a:xfrm>
          <a:prstGeom prst="roundRect">
            <a:avLst>
              <a:gd name="adj" fmla="val 6000"/>
            </a:avLst>
          </a:prstGeom>
          <a:solidFill>
            <a:srgbClr val="F2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96000" y="8064000"/>
            <a:ext cx="50400" cy="6480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0000" y="8118000"/>
            <a:ext cx="6516000" cy="576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C2430"/>
                </a:solidFill>
                <a:latin typeface="맑은 고딕"/>
              </a:rPr>
              <a:t>※ 충족률 = 보유 ÷ 연령밴드 권장액 × 100 </a:t>
            </a:r>
            <a:r>
              <a:rPr sz="950" b="0" i="0">
                <a:solidFill>
                  <a:srgbClr val="5C5340"/>
                </a:solidFill>
                <a:latin typeface="맑은 고딕"/>
              </a:rPr>
              <a:t>(상한 100%). 권장액은 업계 적정 가입금액 가이드 기준 40대 표준밴드 적용. 운전자·실손·일당·응급실은 핵심담보 보유개수 기준. 개인 소득·가족력에 따라 상담으로 조정됩니다.</a:t>
            </a:r>
            <a:r>
              <a:rPr sz="950" b="1" i="0">
                <a:solidFill>
                  <a:srgbClr val="C0444C"/>
                </a:solidFill>
                <a:latin typeface="맑은 고딕"/>
              </a:rPr>
              <a:t> [확인] 나이·성별 미추출 → 40대 표준밴드 산정.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10368000"/>
            <a:ext cx="7560000" cy="324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6000" y="10368000"/>
            <a:ext cx="4320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C5A052"/>
                </a:solidFill>
                <a:latin typeface="맑은 고딕"/>
              </a:rPr>
              <a:t>MAKEONE</a:t>
            </a:r>
            <a:r>
              <a:rPr sz="850" b="0" i="0">
                <a:solidFill>
                  <a:srgbClr val="9FB0C6"/>
                </a:solidFill>
                <a:latin typeface="맑은 고딕"/>
              </a:rPr>
              <a:t> 보장분석 자동화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20000" y="10368000"/>
            <a:ext cx="2844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9FB0C6"/>
                </a:solidFill>
                <a:latin typeface="맑은 고딕"/>
              </a:rPr>
              <a:t>김진구 고객님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00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1200"/>
            <a:ext cx="7560000" cy="50400"/>
          </a:xfrm>
          <a:prstGeom prst="rect">
            <a:avLst/>
          </a:prstGeom>
          <a:solidFill>
            <a:srgbClr val="C5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5400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C878"/>
                </a:solidFill>
                <a:latin typeface="맑은 고딕"/>
              </a:rPr>
              <a:t>MAKEONE · 보장분석 리포트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</a:rPr>
              <a:t>김진구 </a:t>
            </a:r>
            <a:r>
              <a:rPr sz="2100" b="1" i="0">
                <a:solidFill>
                  <a:srgbClr val="E6C878"/>
                </a:solidFill>
                <a:latin typeface="맑은 고딕"/>
              </a:rPr>
              <a:t>고객님</a:t>
            </a:r>
            <a:r>
              <a:rPr sz="2100" b="1" i="0">
                <a:solidFill>
                  <a:srgbClr val="FFFFFF"/>
                </a:solidFill>
                <a:latin typeface="맑은 고딕"/>
              </a:rPr>
              <a:t>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44000"/>
            <a:ext cx="1764000" cy="6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C6"/>
                </a:solidFill>
                <a:latin typeface="맑은 고딕"/>
              </a:rPr>
              <a:t>핵심 보장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080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CI · 생명보험 선지급 분석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CRITICAL ILLNESS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1346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6000" y="1440000"/>
            <a:ext cx="6768000" cy="1008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12000"/>
            <a:ext cx="6552000" cy="864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주계약 사망 4,000만</a:t>
            </a:r>
            <a:r>
              <a:rPr sz="1200" b="0" i="0">
                <a:solidFill>
                  <a:srgbClr val="1C2430"/>
                </a:solidFill>
                <a:latin typeface="맑은 고딕"/>
              </a:rPr>
              <a:t>   ·  선지급 80%   ·  잔여사망 800만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C2430"/>
                </a:solidFill>
                <a:latin typeface="맑은 고딕"/>
              </a:rPr>
              <a:t>중대한 암 </a:t>
            </a:r>
            <a:r>
              <a:rPr sz="1300" b="1" i="0">
                <a:solidFill>
                  <a:srgbClr val="1456B0"/>
                </a:solidFill>
                <a:latin typeface="맑은 고딕"/>
              </a:rPr>
              <a:t>3,200만    </a:t>
            </a:r>
            <a:r>
              <a:rPr sz="1300" b="1" i="0">
                <a:solidFill>
                  <a:srgbClr val="1C2430"/>
                </a:solidFill>
                <a:latin typeface="맑은 고딕"/>
              </a:rPr>
              <a:t>중대한 뇌졸증 </a:t>
            </a:r>
            <a:r>
              <a:rPr sz="1300" b="1" i="0">
                <a:solidFill>
                  <a:srgbClr val="1456B0"/>
                </a:solidFill>
                <a:latin typeface="맑은 고딕"/>
              </a:rPr>
              <a:t>3,200만    </a:t>
            </a:r>
            <a:r>
              <a:rPr sz="1300" b="1" i="0">
                <a:solidFill>
                  <a:srgbClr val="1C2430"/>
                </a:solidFill>
                <a:latin typeface="맑은 고딕"/>
              </a:rPr>
              <a:t>중대한 급성심근 </a:t>
            </a:r>
            <a:r>
              <a:rPr sz="1300" b="1" i="0">
                <a:solidFill>
                  <a:srgbClr val="1456B0"/>
                </a:solidFill>
                <a:latin typeface="맑은 고딕"/>
              </a:rPr>
              <a:t>3,200만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592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주요 치료비 정리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TREATMENT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2858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6000" y="2952000"/>
            <a:ext cx="3312000" cy="378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52000"/>
            <a:ext cx="3096000" cy="37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2430"/>
                </a:solidFill>
                <a:latin typeface="맑은 고딕"/>
              </a:rPr>
              <a:t>암주요치료비</a:t>
            </a:r>
            <a:r>
              <a:rPr sz="1250" b="1" i="0">
                <a:solidFill>
                  <a:srgbClr val="C0444C"/>
                </a:solidFill>
                <a:latin typeface="맑은 고딕"/>
              </a:rPr>
              <a:t>   미가입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2000" y="2952000"/>
            <a:ext cx="3312000" cy="378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0" y="2952000"/>
            <a:ext cx="3096000" cy="37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2430"/>
                </a:solidFill>
                <a:latin typeface="맑은 고딕"/>
              </a:rPr>
              <a:t>비급여주요치료비</a:t>
            </a:r>
            <a:r>
              <a:rPr sz="1250" b="1" i="0">
                <a:solidFill>
                  <a:srgbClr val="C0444C"/>
                </a:solidFill>
                <a:latin typeface="맑은 고딕"/>
              </a:rPr>
              <a:t>   미가입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000" y="3384000"/>
            <a:ext cx="3312000" cy="378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384000"/>
            <a:ext cx="3096000" cy="37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2430"/>
                </a:solidFill>
                <a:latin typeface="맑은 고딕"/>
              </a:rPr>
              <a:t>순환계주요치료비</a:t>
            </a:r>
            <a:r>
              <a:rPr sz="1250" b="1" i="0">
                <a:solidFill>
                  <a:srgbClr val="C0444C"/>
                </a:solidFill>
                <a:latin typeface="맑은 고딕"/>
              </a:rPr>
              <a:t>   미가입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2000" y="3384000"/>
            <a:ext cx="3312000" cy="378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0" y="3384000"/>
            <a:ext cx="3096000" cy="37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2430"/>
                </a:solidFill>
                <a:latin typeface="맑은 고딕"/>
              </a:rPr>
              <a:t>산정특례(뇌혈관)</a:t>
            </a:r>
            <a:r>
              <a:rPr sz="1250" b="1" i="0">
                <a:solidFill>
                  <a:srgbClr val="C0444C"/>
                </a:solidFill>
                <a:latin typeface="맑은 고딕"/>
              </a:rPr>
              <a:t>   미가입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" y="3816000"/>
            <a:ext cx="3312000" cy="378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3816000"/>
            <a:ext cx="3096000" cy="378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2430"/>
                </a:solidFill>
                <a:latin typeface="맑은 고딕"/>
              </a:rPr>
              <a:t>산정특례(심장)</a:t>
            </a:r>
            <a:r>
              <a:rPr sz="1250" b="1" i="0">
                <a:solidFill>
                  <a:srgbClr val="C0444C"/>
                </a:solidFill>
                <a:latin typeface="맑은 고딕"/>
              </a:rPr>
              <a:t>   미가입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4428000"/>
            <a:ext cx="6768000" cy="28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340"/>
                </a:solidFill>
                <a:latin typeface="맑은 고딕"/>
              </a:rPr>
              <a:t>보장 진단 코멘트</a:t>
            </a:r>
            <a:r>
              <a:rPr sz="900" b="1" i="0">
                <a:solidFill>
                  <a:srgbClr val="9C7C32"/>
                </a:solidFill>
                <a:latin typeface="맑은 고딕"/>
              </a:rPr>
              <a:t>  SUMMARY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" y="4694400"/>
            <a:ext cx="6768000" cy="216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6000" y="4788000"/>
            <a:ext cx="6768000" cy="1728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00" y="4788000"/>
            <a:ext cx="50400" cy="172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4896000"/>
            <a:ext cx="6516000" cy="1548000"/>
          </a:xfrm>
          <a:prstGeom prst="rect">
            <a:avLst/>
          </a:prstGeom>
          <a:noFill/>
        </p:spPr>
        <p:txBody>
          <a:bodyPr wrap="square" anchor="t" lIns="64800" rIns="64800" tIns="28800" bIns="2880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2430"/>
                </a:solidFill>
                <a:latin typeface="맑은 고딕"/>
              </a:rPr>
              <a:t>총 6건, 월 납입보험료 324,470원입니다. 특히 사망·후유 · 심장 · 수술비 · 운전자 영역은 핵심담보를 충실히 보유했습니다. 자세한 사항은 증권 및 상담을 통해 확인하시기 바랍니다.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10368000"/>
            <a:ext cx="7560000" cy="324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000" y="10368000"/>
            <a:ext cx="4320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C5A052"/>
                </a:solidFill>
                <a:latin typeface="맑은 고딕"/>
              </a:rPr>
              <a:t>MAKEONE</a:t>
            </a:r>
            <a:r>
              <a:rPr sz="850" b="0" i="0">
                <a:solidFill>
                  <a:srgbClr val="9FB0C6"/>
                </a:solidFill>
                <a:latin typeface="맑은 고딕"/>
              </a:rPr>
              <a:t> 보장분석 자동화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0" y="10368000"/>
            <a:ext cx="2844000" cy="324000"/>
          </a:xfrm>
          <a:prstGeom prst="rect">
            <a:avLst/>
          </a:prstGeom>
          <a:noFill/>
        </p:spPr>
        <p:txBody>
          <a:bodyPr wrap="square" anchor="ctr" lIns="64800" rIns="64800" tIns="28800" bIns="288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9FB0C6"/>
                </a:solidFill>
                <a:latin typeface="맑은 고딕"/>
              </a:rPr>
              <a:t>김진구 고객님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